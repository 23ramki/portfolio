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39"/>
    <p:sldId id="257" r:id="rId40"/>
    <p:sldId id="258" r:id="rId41"/>
    <p:sldId id="259" r:id="rId42"/>
    <p:sldId id="260" r:id="rId43"/>
    <p:sldId id="261" r:id="rId44"/>
    <p:sldId id="262" r:id="rId45"/>
    <p:sldId id="263" r:id="rId46"/>
    <p:sldId id="264" r:id="rId47"/>
    <p:sldId id="265" r:id="rId48"/>
    <p:sldId id="266" r:id="rId49"/>
    <p:sldId id="267" r:id="rId50"/>
    <p:sldId id="268" r:id="rId51"/>
    <p:sldId id="269" r:id="rId52"/>
    <p:sldId id="270" r:id="rId53"/>
    <p:sldId id="271" r:id="rId54"/>
    <p:sldId id="272" r:id="rId55"/>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Retropix" charset="1" panose="00000000000000000000"/>
      <p:regular r:id="rId10"/>
    </p:embeddedFont>
    <p:embeddedFont>
      <p:font typeface="Public Sans" charset="1" panose="00000000000000000000"/>
      <p:regular r:id="rId11"/>
    </p:embeddedFont>
    <p:embeddedFont>
      <p:font typeface="Public Sans Bold" charset="1" panose="00000000000000000000"/>
      <p:regular r:id="rId12"/>
    </p:embeddedFont>
    <p:embeddedFont>
      <p:font typeface="Public Sans Italics" charset="1" panose="00000000000000000000"/>
      <p:regular r:id="rId13"/>
    </p:embeddedFont>
    <p:embeddedFont>
      <p:font typeface="Public Sans Bold Italics" charset="1" panose="00000000000000000000"/>
      <p:regular r:id="rId14"/>
    </p:embeddedFont>
    <p:embeddedFont>
      <p:font typeface="Public Sans Thin" charset="1" panose="00000000000000000000"/>
      <p:regular r:id="rId15"/>
    </p:embeddedFont>
    <p:embeddedFont>
      <p:font typeface="Public Sans Thin Italics" charset="1" panose="00000000000000000000"/>
      <p:regular r:id="rId16"/>
    </p:embeddedFont>
    <p:embeddedFont>
      <p:font typeface="Public Sans Medium" charset="1" panose="00000000000000000000"/>
      <p:regular r:id="rId17"/>
    </p:embeddedFont>
    <p:embeddedFont>
      <p:font typeface="Public Sans Medium Italics" charset="1" panose="00000000000000000000"/>
      <p:regular r:id="rId18"/>
    </p:embeddedFont>
    <p:embeddedFont>
      <p:font typeface="Public Sans Heavy" charset="1" panose="00000000000000000000"/>
      <p:regular r:id="rId19"/>
    </p:embeddedFont>
    <p:embeddedFont>
      <p:font typeface="Public Sans Heavy Italics" charset="1" panose="00000000000000000000"/>
      <p:regular r:id="rId20"/>
    </p:embeddedFont>
    <p:embeddedFont>
      <p:font typeface="Canva Sans" charset="1" panose="020B0503030501040103"/>
      <p:regular r:id="rId21"/>
    </p:embeddedFont>
    <p:embeddedFont>
      <p:font typeface="Canva Sans Bold" charset="1" panose="020B0803030501040103"/>
      <p:regular r:id="rId22"/>
    </p:embeddedFont>
    <p:embeddedFont>
      <p:font typeface="Canva Sans Italics" charset="1" panose="020B0503030501040103"/>
      <p:regular r:id="rId23"/>
    </p:embeddedFont>
    <p:embeddedFont>
      <p:font typeface="Canva Sans Bold Italics" charset="1" panose="020B0803030501040103"/>
      <p:regular r:id="rId24"/>
    </p:embeddedFont>
    <p:embeddedFont>
      <p:font typeface="Canva Sans Medium" charset="1" panose="020B0603030501040103"/>
      <p:regular r:id="rId25"/>
    </p:embeddedFont>
    <p:embeddedFont>
      <p:font typeface="Canva Sans Medium Italics" charset="1" panose="020B0603030501040103"/>
      <p:regular r:id="rId26"/>
    </p:embeddedFont>
    <p:embeddedFont>
      <p:font typeface="Open Sauce" charset="1" panose="00000500000000000000"/>
      <p:regular r:id="rId27"/>
    </p:embeddedFont>
    <p:embeddedFont>
      <p:font typeface="Open Sauce Bold" charset="1" panose="00000800000000000000"/>
      <p:regular r:id="rId28"/>
    </p:embeddedFont>
    <p:embeddedFont>
      <p:font typeface="Open Sauce Italics" charset="1" panose="00000500000000000000"/>
      <p:regular r:id="rId29"/>
    </p:embeddedFont>
    <p:embeddedFont>
      <p:font typeface="Open Sauce Bold Italics" charset="1" panose="00000800000000000000"/>
      <p:regular r:id="rId30"/>
    </p:embeddedFont>
    <p:embeddedFont>
      <p:font typeface="Open Sauce Light" charset="1" panose="00000400000000000000"/>
      <p:regular r:id="rId31"/>
    </p:embeddedFont>
    <p:embeddedFont>
      <p:font typeface="Open Sauce Light Italics" charset="1" panose="00000400000000000000"/>
      <p:regular r:id="rId32"/>
    </p:embeddedFont>
    <p:embeddedFont>
      <p:font typeface="Open Sauce Medium" charset="1" panose="00000600000000000000"/>
      <p:regular r:id="rId33"/>
    </p:embeddedFont>
    <p:embeddedFont>
      <p:font typeface="Open Sauce Medium Italics" charset="1" panose="00000600000000000000"/>
      <p:regular r:id="rId34"/>
    </p:embeddedFont>
    <p:embeddedFont>
      <p:font typeface="Open Sauce Semi-Bold" charset="1" panose="00000700000000000000"/>
      <p:regular r:id="rId35"/>
    </p:embeddedFont>
    <p:embeddedFont>
      <p:font typeface="Open Sauce Semi-Bold Italics" charset="1" panose="00000700000000000000"/>
      <p:regular r:id="rId36"/>
    </p:embeddedFont>
    <p:embeddedFont>
      <p:font typeface="Open Sauce Heavy" charset="1" panose="00000A00000000000000"/>
      <p:regular r:id="rId37"/>
    </p:embeddedFont>
    <p:embeddedFont>
      <p:font typeface="Open Sauce Heavy Italics" charset="1" panose="00000A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slides/slide1.xml" Type="http://schemas.openxmlformats.org/officeDocument/2006/relationships/slide"/><Relationship Id="rId4" Target="theme/theme1.xml" Type="http://schemas.openxmlformats.org/officeDocument/2006/relationships/theme"/><Relationship Id="rId40" Target="slides/slide2.xml" Type="http://schemas.openxmlformats.org/officeDocument/2006/relationships/slide"/><Relationship Id="rId41" Target="slides/slide3.xml" Type="http://schemas.openxmlformats.org/officeDocument/2006/relationships/slide"/><Relationship Id="rId42" Target="slides/slide4.xml" Type="http://schemas.openxmlformats.org/officeDocument/2006/relationships/slide"/><Relationship Id="rId43" Target="slides/slide5.xml" Type="http://schemas.openxmlformats.org/officeDocument/2006/relationships/slide"/><Relationship Id="rId44" Target="slides/slide6.xml" Type="http://schemas.openxmlformats.org/officeDocument/2006/relationships/slide"/><Relationship Id="rId45" Target="slides/slide7.xml" Type="http://schemas.openxmlformats.org/officeDocument/2006/relationships/slide"/><Relationship Id="rId46" Target="slides/slide8.xml" Type="http://schemas.openxmlformats.org/officeDocument/2006/relationships/slide"/><Relationship Id="rId47" Target="slides/slide9.xml" Type="http://schemas.openxmlformats.org/officeDocument/2006/relationships/slide"/><Relationship Id="rId48" Target="slides/slide10.xml" Type="http://schemas.openxmlformats.org/officeDocument/2006/relationships/slide"/><Relationship Id="rId49" Target="slides/slide11.xml" Type="http://schemas.openxmlformats.org/officeDocument/2006/relationships/slide"/><Relationship Id="rId5" Target="tableStyles.xml" Type="http://schemas.openxmlformats.org/officeDocument/2006/relationships/tableStyles"/><Relationship Id="rId50" Target="slides/slide12.xml" Type="http://schemas.openxmlformats.org/officeDocument/2006/relationships/slide"/><Relationship Id="rId51" Target="slides/slide13.xml" Type="http://schemas.openxmlformats.org/officeDocument/2006/relationships/slide"/><Relationship Id="rId52" Target="slides/slide14.xml" Type="http://schemas.openxmlformats.org/officeDocument/2006/relationships/slide"/><Relationship Id="rId53" Target="slides/slide15.xml" Type="http://schemas.openxmlformats.org/officeDocument/2006/relationships/slide"/><Relationship Id="rId54" Target="slides/slide16.xml" Type="http://schemas.openxmlformats.org/officeDocument/2006/relationships/slide"/><Relationship Id="rId55" Target="slides/slide17.xml" Type="http://schemas.openxmlformats.org/officeDocument/2006/relationships/slide"/><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2.svg" Type="http://schemas.openxmlformats.org/officeDocument/2006/relationships/image"/><Relationship Id="rId30" Target="../media/image29.svg" Type="http://schemas.openxmlformats.org/officeDocument/2006/relationships/image"/><Relationship Id="rId31" Target="../media/image30.png" Type="http://schemas.openxmlformats.org/officeDocument/2006/relationships/image"/><Relationship Id="rId32" Target="../media/image31.svg" Type="http://schemas.openxmlformats.org/officeDocument/2006/relationships/image"/><Relationship Id="rId33" Target="../media/image32.png" Type="http://schemas.openxmlformats.org/officeDocument/2006/relationships/image"/><Relationship Id="rId34" Target="../media/image33.svg" Type="http://schemas.openxmlformats.org/officeDocument/2006/relationships/image"/><Relationship Id="rId35" Target="../media/image34.png" Type="http://schemas.openxmlformats.org/officeDocument/2006/relationships/image"/><Relationship Id="rId36" Target="../media/image35.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2.png" Type="http://schemas.openxmlformats.org/officeDocument/2006/relationships/image"/><Relationship Id="rId15" Target="../media/image43.svg" Type="http://schemas.openxmlformats.org/officeDocument/2006/relationships/image"/><Relationship Id="rId16" Target="../media/image5.png" Type="http://schemas.openxmlformats.org/officeDocument/2006/relationships/image"/><Relationship Id="rId17" Target="../media/image6.svg" Type="http://schemas.openxmlformats.org/officeDocument/2006/relationships/image"/><Relationship Id="rId18" Target="../media/image16.png" Type="http://schemas.openxmlformats.org/officeDocument/2006/relationships/image"/><Relationship Id="rId19" Target="../media/image17.svg" Type="http://schemas.openxmlformats.org/officeDocument/2006/relationships/image"/><Relationship Id="rId2" Target="../media/image36.png" Type="http://schemas.openxmlformats.org/officeDocument/2006/relationships/image"/><Relationship Id="rId20" Target="../media/image11.png" Type="http://schemas.openxmlformats.org/officeDocument/2006/relationships/image"/><Relationship Id="rId21" Target="../media/image12.svg" Type="http://schemas.openxmlformats.org/officeDocument/2006/relationships/image"/><Relationship Id="rId22" Target="../media/image18.png" Type="http://schemas.openxmlformats.org/officeDocument/2006/relationships/image"/><Relationship Id="rId23" Target="../media/image19.sv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media/image38.png" Type="http://schemas.openxmlformats.org/officeDocument/2006/relationships/image"/><Relationship Id="rId20" Target="slide2.xml" Type="http://schemas.openxmlformats.org/officeDocument/2006/relationships/slide"/><Relationship Id="rId21" Target="../media/image16.png" Type="http://schemas.openxmlformats.org/officeDocument/2006/relationships/image"/><Relationship Id="rId22" Target="../media/image17.svg" Type="http://schemas.openxmlformats.org/officeDocument/2006/relationships/image"/><Relationship Id="rId23" Target="../media/image18.png" Type="http://schemas.openxmlformats.org/officeDocument/2006/relationships/image"/><Relationship Id="rId24" Target="../media/image19.svg" Type="http://schemas.openxmlformats.org/officeDocument/2006/relationships/image"/><Relationship Id="rId25" Target="../media/image44.png" Type="http://schemas.openxmlformats.org/officeDocument/2006/relationships/image"/><Relationship Id="rId26" Target="../media/image45.svg" Type="http://schemas.openxmlformats.org/officeDocument/2006/relationships/image"/><Relationship Id="rId3" Target="../media/image39.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svg" Type="http://schemas.openxmlformats.org/officeDocument/2006/relationships/image"/><Relationship Id="rId11" Target="../media/image54.png" Type="http://schemas.openxmlformats.org/officeDocument/2006/relationships/image"/><Relationship Id="rId12" Target="../media/image55.sv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15" Target="../media/image58.png" Type="http://schemas.openxmlformats.org/officeDocument/2006/relationships/image"/><Relationship Id="rId16" Target="../media/image59.svg" Type="http://schemas.openxmlformats.org/officeDocument/2006/relationships/image"/><Relationship Id="rId17" Target="../media/image60.png" Type="http://schemas.openxmlformats.org/officeDocument/2006/relationships/image"/><Relationship Id="rId18" Target="../media/image61.svg" Type="http://schemas.openxmlformats.org/officeDocument/2006/relationships/image"/><Relationship Id="rId19" Target="../media/image62.png" Type="http://schemas.openxmlformats.org/officeDocument/2006/relationships/image"/><Relationship Id="rId2" Target="../media/image46.png" Type="http://schemas.openxmlformats.org/officeDocument/2006/relationships/image"/><Relationship Id="rId20" Target="../media/image63.svg" Type="http://schemas.openxmlformats.org/officeDocument/2006/relationships/image"/><Relationship Id="rId21" Target="../media/image64.png" Type="http://schemas.openxmlformats.org/officeDocument/2006/relationships/image"/><Relationship Id="rId22" Target="../media/image65.svg" Type="http://schemas.openxmlformats.org/officeDocument/2006/relationships/image"/><Relationship Id="rId23" Target="../media/image66.png" Type="http://schemas.openxmlformats.org/officeDocument/2006/relationships/image"/><Relationship Id="rId24" Target="../media/image67.svg" Type="http://schemas.openxmlformats.org/officeDocument/2006/relationships/image"/><Relationship Id="rId25" Target="../media/image18.png" Type="http://schemas.openxmlformats.org/officeDocument/2006/relationships/image"/><Relationship Id="rId26" Target="../media/image19.svg" Type="http://schemas.openxmlformats.org/officeDocument/2006/relationships/image"/><Relationship Id="rId27" Target="../media/image68.png" Type="http://schemas.openxmlformats.org/officeDocument/2006/relationships/image"/><Relationship Id="rId28" Target="../media/image69.svg" Type="http://schemas.openxmlformats.org/officeDocument/2006/relationships/image"/><Relationship Id="rId29" Target="../media/image70.png" Type="http://schemas.openxmlformats.org/officeDocument/2006/relationships/image"/><Relationship Id="rId3" Target="../media/image47.svg" Type="http://schemas.openxmlformats.org/officeDocument/2006/relationships/image"/><Relationship Id="rId30" Target="../media/image71.svg" Type="http://schemas.openxmlformats.org/officeDocument/2006/relationships/image"/><Relationship Id="rId31" Target="../media/image72.png" Type="http://schemas.openxmlformats.org/officeDocument/2006/relationships/image"/><Relationship Id="rId32" Target="../media/image73.svg" Type="http://schemas.openxmlformats.org/officeDocument/2006/relationships/image"/><Relationship Id="rId33" Target="../media/image74.png" Type="http://schemas.openxmlformats.org/officeDocument/2006/relationships/image"/><Relationship Id="rId34" Target="../media/image75.svg" Type="http://schemas.openxmlformats.org/officeDocument/2006/relationships/image"/><Relationship Id="rId4" Target="slide2.xml" Type="http://schemas.openxmlformats.org/officeDocument/2006/relationships/slide"/><Relationship Id="rId5" Target="../media/image48.png" Type="http://schemas.openxmlformats.org/officeDocument/2006/relationships/image"/><Relationship Id="rId6" Target="../media/image49.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5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14" Target="../media/image24.png" Type="http://schemas.openxmlformats.org/officeDocument/2006/relationships/image"/><Relationship Id="rId15" Target="../media/image25.sv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png" Type="http://schemas.openxmlformats.org/officeDocument/2006/relationships/image"/><Relationship Id="rId19" Target="../media/image29.svg" Type="http://schemas.openxmlformats.org/officeDocument/2006/relationships/image"/><Relationship Id="rId2" Target="../media/image76.png" Type="http://schemas.openxmlformats.org/officeDocument/2006/relationships/image"/><Relationship Id="rId20" Target="../media/image30.png" Type="http://schemas.openxmlformats.org/officeDocument/2006/relationships/image"/><Relationship Id="rId21" Target="../media/image31.svg" Type="http://schemas.openxmlformats.org/officeDocument/2006/relationships/image"/><Relationship Id="rId22" Target="../media/image32.png" Type="http://schemas.openxmlformats.org/officeDocument/2006/relationships/image"/><Relationship Id="rId23" Target="../media/image33.svg" Type="http://schemas.openxmlformats.org/officeDocument/2006/relationships/image"/><Relationship Id="rId24" Target="slide2.xml" Type="http://schemas.openxmlformats.org/officeDocument/2006/relationships/slide"/><Relationship Id="rId3" Target="../media/image7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slide2.xml" Type="http://schemas.openxmlformats.org/officeDocument/2006/relationships/slide"/><Relationship Id="rId11" Target="../media/image84.png" Type="http://schemas.openxmlformats.org/officeDocument/2006/relationships/image"/><Relationship Id="rId12" Target="../media/image85.svg" Type="http://schemas.openxmlformats.org/officeDocument/2006/relationships/image"/><Relationship Id="rId13" Target="../media/image86.png" Type="http://schemas.openxmlformats.org/officeDocument/2006/relationships/image"/><Relationship Id="rId14" Target="../media/image87.svg" Type="http://schemas.openxmlformats.org/officeDocument/2006/relationships/image"/><Relationship Id="rId15" Target="../media/image38.png" Type="http://schemas.openxmlformats.org/officeDocument/2006/relationships/image"/><Relationship Id="rId16" Target="../media/image39.svg" Type="http://schemas.openxmlformats.org/officeDocument/2006/relationships/image"/><Relationship Id="rId17" Target="../media/image34.png" Type="http://schemas.openxmlformats.org/officeDocument/2006/relationships/image"/><Relationship Id="rId18" Target="../media/image35.svg" Type="http://schemas.openxmlformats.org/officeDocument/2006/relationships/image"/><Relationship Id="rId2" Target="../media/image46.png" Type="http://schemas.openxmlformats.org/officeDocument/2006/relationships/image"/><Relationship Id="rId3" Target="../media/image47.svg" Type="http://schemas.openxmlformats.org/officeDocument/2006/relationships/image"/><Relationship Id="rId4" Target="../media/image78.png" Type="http://schemas.openxmlformats.org/officeDocument/2006/relationships/image"/><Relationship Id="rId5" Target="../media/image79.svg" Type="http://schemas.openxmlformats.org/officeDocument/2006/relationships/image"/><Relationship Id="rId6" Target="../media/image80.png" Type="http://schemas.openxmlformats.org/officeDocument/2006/relationships/image"/><Relationship Id="rId7" Target="../media/image81.svg" Type="http://schemas.openxmlformats.org/officeDocument/2006/relationships/image"/><Relationship Id="rId8" Target="../media/image82.png" Type="http://schemas.openxmlformats.org/officeDocument/2006/relationships/image"/><Relationship Id="rId9" Target="../media/image8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svg" Type="http://schemas.openxmlformats.org/officeDocument/2006/relationships/image"/><Relationship Id="rId11" Target="../media/image54.png" Type="http://schemas.openxmlformats.org/officeDocument/2006/relationships/image"/><Relationship Id="rId12" Target="../media/image55.sv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15" Target="../media/image58.png" Type="http://schemas.openxmlformats.org/officeDocument/2006/relationships/image"/><Relationship Id="rId16" Target="../media/image59.svg" Type="http://schemas.openxmlformats.org/officeDocument/2006/relationships/image"/><Relationship Id="rId17" Target="../media/image60.png" Type="http://schemas.openxmlformats.org/officeDocument/2006/relationships/image"/><Relationship Id="rId18" Target="../media/image61.svg" Type="http://schemas.openxmlformats.org/officeDocument/2006/relationships/image"/><Relationship Id="rId19" Target="../media/image62.png" Type="http://schemas.openxmlformats.org/officeDocument/2006/relationships/image"/><Relationship Id="rId2" Target="../media/image46.png" Type="http://schemas.openxmlformats.org/officeDocument/2006/relationships/image"/><Relationship Id="rId20" Target="../media/image63.svg" Type="http://schemas.openxmlformats.org/officeDocument/2006/relationships/image"/><Relationship Id="rId21" Target="../media/image64.png" Type="http://schemas.openxmlformats.org/officeDocument/2006/relationships/image"/><Relationship Id="rId22" Target="../media/image65.svg" Type="http://schemas.openxmlformats.org/officeDocument/2006/relationships/image"/><Relationship Id="rId23" Target="../media/image66.png" Type="http://schemas.openxmlformats.org/officeDocument/2006/relationships/image"/><Relationship Id="rId24" Target="../media/image67.svg" Type="http://schemas.openxmlformats.org/officeDocument/2006/relationships/image"/><Relationship Id="rId25" Target="../media/image18.png" Type="http://schemas.openxmlformats.org/officeDocument/2006/relationships/image"/><Relationship Id="rId26" Target="../media/image19.svg" Type="http://schemas.openxmlformats.org/officeDocument/2006/relationships/image"/><Relationship Id="rId27" Target="../media/image68.png" Type="http://schemas.openxmlformats.org/officeDocument/2006/relationships/image"/><Relationship Id="rId28" Target="../media/image69.svg" Type="http://schemas.openxmlformats.org/officeDocument/2006/relationships/image"/><Relationship Id="rId29" Target="../media/image70.png" Type="http://schemas.openxmlformats.org/officeDocument/2006/relationships/image"/><Relationship Id="rId3" Target="../media/image47.svg" Type="http://schemas.openxmlformats.org/officeDocument/2006/relationships/image"/><Relationship Id="rId30" Target="../media/image71.svg" Type="http://schemas.openxmlformats.org/officeDocument/2006/relationships/image"/><Relationship Id="rId31" Target="../media/image72.png" Type="http://schemas.openxmlformats.org/officeDocument/2006/relationships/image"/><Relationship Id="rId32" Target="../media/image73.svg" Type="http://schemas.openxmlformats.org/officeDocument/2006/relationships/image"/><Relationship Id="rId33" Target="../media/image74.png" Type="http://schemas.openxmlformats.org/officeDocument/2006/relationships/image"/><Relationship Id="rId34" Target="../media/image75.svg" Type="http://schemas.openxmlformats.org/officeDocument/2006/relationships/image"/><Relationship Id="rId4" Target="slide2.xml" Type="http://schemas.openxmlformats.org/officeDocument/2006/relationships/slide"/><Relationship Id="rId5" Target="../media/image48.png" Type="http://schemas.openxmlformats.org/officeDocument/2006/relationships/image"/><Relationship Id="rId6" Target="../media/image49.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5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 Id="rId3" Target="../media/image89.svg" Type="http://schemas.openxmlformats.org/officeDocument/2006/relationships/image"/><Relationship Id="rId4" Target="../media/image90.png" Type="http://schemas.openxmlformats.org/officeDocument/2006/relationships/image"/><Relationship Id="rId5" Target="../media/image9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15" Target="../media/image28.png" Type="http://schemas.openxmlformats.org/officeDocument/2006/relationships/image"/><Relationship Id="rId16" Target="../media/image29.svg" Type="http://schemas.openxmlformats.org/officeDocument/2006/relationships/image"/><Relationship Id="rId17" Target="../media/image30.png" Type="http://schemas.openxmlformats.org/officeDocument/2006/relationships/image"/><Relationship Id="rId18" Target="../media/image31.svg" Type="http://schemas.openxmlformats.org/officeDocument/2006/relationships/image"/><Relationship Id="rId19" Target="../media/image32.png" Type="http://schemas.openxmlformats.org/officeDocument/2006/relationships/image"/><Relationship Id="rId2" Target="../media/image38.png" Type="http://schemas.openxmlformats.org/officeDocument/2006/relationships/image"/><Relationship Id="rId20" Target="../media/image33.svg" Type="http://schemas.openxmlformats.org/officeDocument/2006/relationships/image"/><Relationship Id="rId21" Target="slide2.xml" Type="http://schemas.openxmlformats.org/officeDocument/2006/relationships/slide"/><Relationship Id="rId22" Target="../media/image16.png" Type="http://schemas.openxmlformats.org/officeDocument/2006/relationships/image"/><Relationship Id="rId23" Target="../media/image17.svg" Type="http://schemas.openxmlformats.org/officeDocument/2006/relationships/image"/><Relationship Id="rId3" Target="../media/image39.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92.pn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6.svg" Type="http://schemas.openxmlformats.org/officeDocument/2006/relationships/image"/><Relationship Id="rId11" Target="../media/image38.png" Type="http://schemas.openxmlformats.org/officeDocument/2006/relationships/image"/><Relationship Id="rId12" Target="../media/image39.svg" Type="http://schemas.openxmlformats.org/officeDocument/2006/relationships/image"/><Relationship Id="rId13" Target="../media/image34.png" Type="http://schemas.openxmlformats.org/officeDocument/2006/relationships/image"/><Relationship Id="rId14" Target="../media/image35.svg" Type="http://schemas.openxmlformats.org/officeDocument/2006/relationships/image"/><Relationship Id="rId2" Target="slide2.xml" Type="http://schemas.openxmlformats.org/officeDocument/2006/relationships/slide"/><Relationship Id="rId3" Target="../media/image11.png" Type="http://schemas.openxmlformats.org/officeDocument/2006/relationships/image"/><Relationship Id="rId4" Target="../media/image1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93.png" Type="http://schemas.openxmlformats.org/officeDocument/2006/relationships/image"/><Relationship Id="rId8" Target="../media/image94.svg" Type="http://schemas.openxmlformats.org/officeDocument/2006/relationships/image"/><Relationship Id="rId9" Target="../media/image9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slide2.xml" Type="http://schemas.openxmlformats.org/officeDocument/2006/relationships/slide"/><Relationship Id="rId13" Target="../media/image97.png" Type="http://schemas.openxmlformats.org/officeDocument/2006/relationships/image"/><Relationship Id="rId14" Target="../media/image98.png" Type="http://schemas.openxmlformats.org/officeDocument/2006/relationships/image"/><Relationship Id="rId15" Target="../media/image99.svg" Type="http://schemas.openxmlformats.org/officeDocument/2006/relationships/image"/><Relationship Id="rId16" Target="../media/image100.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93.png" Type="http://schemas.openxmlformats.org/officeDocument/2006/relationships/image"/><Relationship Id="rId5" Target="../media/image94.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media/image76.png" Type="http://schemas.openxmlformats.org/officeDocument/2006/relationships/image"/><Relationship Id="rId20" Target="slide2.xml" Type="http://schemas.openxmlformats.org/officeDocument/2006/relationships/slide"/><Relationship Id="rId21" Target="../media/image38.png" Type="http://schemas.openxmlformats.org/officeDocument/2006/relationships/image"/><Relationship Id="rId22" Target="../media/image39.svg" Type="http://schemas.openxmlformats.org/officeDocument/2006/relationships/image"/><Relationship Id="rId23" Target="../media/image34.png" Type="http://schemas.openxmlformats.org/officeDocument/2006/relationships/image"/><Relationship Id="rId24" Target="../media/image35.svg" Type="http://schemas.openxmlformats.org/officeDocument/2006/relationships/image"/><Relationship Id="rId25" Target="../media/image101.png" Type="http://schemas.openxmlformats.org/officeDocument/2006/relationships/image"/><Relationship Id="rId26" Target="../media/image93.png" Type="http://schemas.openxmlformats.org/officeDocument/2006/relationships/image"/><Relationship Id="rId27" Target="../media/image94.svg" Type="http://schemas.openxmlformats.org/officeDocument/2006/relationships/image"/><Relationship Id="rId28" Target="../media/image102.png" Type="http://schemas.openxmlformats.org/officeDocument/2006/relationships/image"/><Relationship Id="rId29" Target="../media/image103.svg" Type="http://schemas.openxmlformats.org/officeDocument/2006/relationships/image"/><Relationship Id="rId3" Target="../media/image77.svg" Type="http://schemas.openxmlformats.org/officeDocument/2006/relationships/image"/><Relationship Id="rId30" Target="../media/image104.png" Type="http://schemas.openxmlformats.org/officeDocument/2006/relationships/image"/><Relationship Id="rId31" Target="../media/image105.svg" Type="http://schemas.openxmlformats.org/officeDocument/2006/relationships/image"/><Relationship Id="rId32" Target="../media/image106.png" Type="http://schemas.openxmlformats.org/officeDocument/2006/relationships/image"/><Relationship Id="rId33" Target="../media/image107.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28.png" Type="http://schemas.openxmlformats.org/officeDocument/2006/relationships/image"/><Relationship Id="rId17" Target="../media/image29.svg" Type="http://schemas.openxmlformats.org/officeDocument/2006/relationships/image"/><Relationship Id="rId18" Target="../media/image30.png" Type="http://schemas.openxmlformats.org/officeDocument/2006/relationships/image"/><Relationship Id="rId19" Target="../media/image31.svg" Type="http://schemas.openxmlformats.org/officeDocument/2006/relationships/image"/><Relationship Id="rId2" Target="../media/image1.png" Type="http://schemas.openxmlformats.org/officeDocument/2006/relationships/image"/><Relationship Id="rId20" Target="../media/image32.png" Type="http://schemas.openxmlformats.org/officeDocument/2006/relationships/image"/><Relationship Id="rId21" Target="../media/image33.svg" Type="http://schemas.openxmlformats.org/officeDocument/2006/relationships/image"/><Relationship Id="rId22" Target="slide2.xml" Type="http://schemas.openxmlformats.org/officeDocument/2006/relationships/slide"/><Relationship Id="rId23" Target="../media/image108.png" Type="http://schemas.openxmlformats.org/officeDocument/2006/relationships/image"/><Relationship Id="rId24" Target="../media/image109.svg" Type="http://schemas.openxmlformats.org/officeDocument/2006/relationships/image"/><Relationship Id="rId25" Target="../media/image110.png" Type="http://schemas.openxmlformats.org/officeDocument/2006/relationships/image"/><Relationship Id="rId26" Target="../media/image111.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svg" Type="http://schemas.openxmlformats.org/officeDocument/2006/relationships/image"/><Relationship Id="rId11" Target="../media/image54.png" Type="http://schemas.openxmlformats.org/officeDocument/2006/relationships/image"/><Relationship Id="rId12" Target="../media/image55.sv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15" Target="../media/image58.png" Type="http://schemas.openxmlformats.org/officeDocument/2006/relationships/image"/><Relationship Id="rId16" Target="../media/image59.svg" Type="http://schemas.openxmlformats.org/officeDocument/2006/relationships/image"/><Relationship Id="rId17" Target="../media/image60.png" Type="http://schemas.openxmlformats.org/officeDocument/2006/relationships/image"/><Relationship Id="rId18" Target="../media/image61.svg" Type="http://schemas.openxmlformats.org/officeDocument/2006/relationships/image"/><Relationship Id="rId19" Target="../media/image62.png" Type="http://schemas.openxmlformats.org/officeDocument/2006/relationships/image"/><Relationship Id="rId2" Target="../media/image46.png" Type="http://schemas.openxmlformats.org/officeDocument/2006/relationships/image"/><Relationship Id="rId20" Target="../media/image63.svg" Type="http://schemas.openxmlformats.org/officeDocument/2006/relationships/image"/><Relationship Id="rId21" Target="../media/image64.png" Type="http://schemas.openxmlformats.org/officeDocument/2006/relationships/image"/><Relationship Id="rId22" Target="../media/image65.svg" Type="http://schemas.openxmlformats.org/officeDocument/2006/relationships/image"/><Relationship Id="rId23" Target="../media/image66.png" Type="http://schemas.openxmlformats.org/officeDocument/2006/relationships/image"/><Relationship Id="rId24" Target="../media/image67.svg" Type="http://schemas.openxmlformats.org/officeDocument/2006/relationships/image"/><Relationship Id="rId25" Target="../media/image18.png" Type="http://schemas.openxmlformats.org/officeDocument/2006/relationships/image"/><Relationship Id="rId26" Target="../media/image19.svg" Type="http://schemas.openxmlformats.org/officeDocument/2006/relationships/image"/><Relationship Id="rId27" Target="../media/image68.png" Type="http://schemas.openxmlformats.org/officeDocument/2006/relationships/image"/><Relationship Id="rId28" Target="../media/image69.svg" Type="http://schemas.openxmlformats.org/officeDocument/2006/relationships/image"/><Relationship Id="rId29" Target="../media/image70.png" Type="http://schemas.openxmlformats.org/officeDocument/2006/relationships/image"/><Relationship Id="rId3" Target="../media/image47.svg" Type="http://schemas.openxmlformats.org/officeDocument/2006/relationships/image"/><Relationship Id="rId30" Target="../media/image71.svg" Type="http://schemas.openxmlformats.org/officeDocument/2006/relationships/image"/><Relationship Id="rId31" Target="../media/image72.png" Type="http://schemas.openxmlformats.org/officeDocument/2006/relationships/image"/><Relationship Id="rId32" Target="../media/image73.svg" Type="http://schemas.openxmlformats.org/officeDocument/2006/relationships/image"/><Relationship Id="rId33" Target="../media/image74.png" Type="http://schemas.openxmlformats.org/officeDocument/2006/relationships/image"/><Relationship Id="rId34" Target="../media/image75.svg" Type="http://schemas.openxmlformats.org/officeDocument/2006/relationships/image"/><Relationship Id="rId4" Target="slide2.xml" Type="http://schemas.openxmlformats.org/officeDocument/2006/relationships/slide"/><Relationship Id="rId5" Target="../media/image48.png" Type="http://schemas.openxmlformats.org/officeDocument/2006/relationships/image"/><Relationship Id="rId6" Target="../media/image49.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5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6.svg" Type="http://schemas.openxmlformats.org/officeDocument/2006/relationships/image"/><Relationship Id="rId11" Target="../media/image38.png" Type="http://schemas.openxmlformats.org/officeDocument/2006/relationships/image"/><Relationship Id="rId12" Target="../media/image39.svg" Type="http://schemas.openxmlformats.org/officeDocument/2006/relationships/image"/><Relationship Id="rId13" Target="../media/image34.png" Type="http://schemas.openxmlformats.org/officeDocument/2006/relationships/image"/><Relationship Id="rId14" Target="../media/image35.svg" Type="http://schemas.openxmlformats.org/officeDocument/2006/relationships/image"/><Relationship Id="rId2" Target="slide2.xml" Type="http://schemas.openxmlformats.org/officeDocument/2006/relationships/slide"/><Relationship Id="rId3" Target="../media/image11.png" Type="http://schemas.openxmlformats.org/officeDocument/2006/relationships/image"/><Relationship Id="rId4" Target="../media/image1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93.png" Type="http://schemas.openxmlformats.org/officeDocument/2006/relationships/image"/><Relationship Id="rId8" Target="../media/image94.svg" Type="http://schemas.openxmlformats.org/officeDocument/2006/relationships/image"/><Relationship Id="rId9" Target="../media/image9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6.svg" Type="http://schemas.openxmlformats.org/officeDocument/2006/relationships/image"/><Relationship Id="rId11" Target="../media/image38.png" Type="http://schemas.openxmlformats.org/officeDocument/2006/relationships/image"/><Relationship Id="rId12" Target="../media/image39.svg" Type="http://schemas.openxmlformats.org/officeDocument/2006/relationships/image"/><Relationship Id="rId13" Target="../media/image34.png" Type="http://schemas.openxmlformats.org/officeDocument/2006/relationships/image"/><Relationship Id="rId14" Target="../media/image35.svg" Type="http://schemas.openxmlformats.org/officeDocument/2006/relationships/image"/><Relationship Id="rId2" Target="slide2.xml" Type="http://schemas.openxmlformats.org/officeDocument/2006/relationships/slide"/><Relationship Id="rId3" Target="../media/image11.png" Type="http://schemas.openxmlformats.org/officeDocument/2006/relationships/image"/><Relationship Id="rId4" Target="../media/image1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93.png" Type="http://schemas.openxmlformats.org/officeDocument/2006/relationships/image"/><Relationship Id="rId8" Target="../media/image94.svg" Type="http://schemas.openxmlformats.org/officeDocument/2006/relationships/image"/><Relationship Id="rId9" Target="../media/image9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4.png" Type="http://schemas.openxmlformats.org/officeDocument/2006/relationships/image"/><Relationship Id="rId11" Target="../media/image115.svg" Type="http://schemas.openxmlformats.org/officeDocument/2006/relationships/image"/><Relationship Id="rId12" Target="../media/image86.png" Type="http://schemas.openxmlformats.org/officeDocument/2006/relationships/image"/><Relationship Id="rId13" Target="../media/image87.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18" Target="../media/image116.png" Type="http://schemas.openxmlformats.org/officeDocument/2006/relationships/image"/><Relationship Id="rId19" Target="../media/image117.svg" Type="http://schemas.openxmlformats.org/officeDocument/2006/relationships/image"/><Relationship Id="rId2" Target="../media/image46.png" Type="http://schemas.openxmlformats.org/officeDocument/2006/relationships/image"/><Relationship Id="rId20" Target="../media/image48.png" Type="http://schemas.openxmlformats.org/officeDocument/2006/relationships/image"/><Relationship Id="rId21" Target="../media/image49.svg" Type="http://schemas.openxmlformats.org/officeDocument/2006/relationships/image"/><Relationship Id="rId22" Target="../media/image50.png" Type="http://schemas.openxmlformats.org/officeDocument/2006/relationships/image"/><Relationship Id="rId23" Target="../media/image51.svg" Type="http://schemas.openxmlformats.org/officeDocument/2006/relationships/image"/><Relationship Id="rId24" Target="../media/image52.png" Type="http://schemas.openxmlformats.org/officeDocument/2006/relationships/image"/><Relationship Id="rId25" Target="../media/image53.svg" Type="http://schemas.openxmlformats.org/officeDocument/2006/relationships/image"/><Relationship Id="rId26" Target="../media/image54.png" Type="http://schemas.openxmlformats.org/officeDocument/2006/relationships/image"/><Relationship Id="rId27" Target="../media/image55.svg" Type="http://schemas.openxmlformats.org/officeDocument/2006/relationships/image"/><Relationship Id="rId28" Target="../media/image56.png" Type="http://schemas.openxmlformats.org/officeDocument/2006/relationships/image"/><Relationship Id="rId29" Target="../media/image57.svg" Type="http://schemas.openxmlformats.org/officeDocument/2006/relationships/image"/><Relationship Id="rId3" Target="../media/image47.svg" Type="http://schemas.openxmlformats.org/officeDocument/2006/relationships/image"/><Relationship Id="rId30" Target="../media/image58.png" Type="http://schemas.openxmlformats.org/officeDocument/2006/relationships/image"/><Relationship Id="rId31" Target="../media/image59.svg" Type="http://schemas.openxmlformats.org/officeDocument/2006/relationships/image"/><Relationship Id="rId32" Target="../media/image60.png" Type="http://schemas.openxmlformats.org/officeDocument/2006/relationships/image"/><Relationship Id="rId33" Target="../media/image61.svg" Type="http://schemas.openxmlformats.org/officeDocument/2006/relationships/image"/><Relationship Id="rId34" Target="../media/image62.png" Type="http://schemas.openxmlformats.org/officeDocument/2006/relationships/image"/><Relationship Id="rId35" Target="../media/image63.svg" Type="http://schemas.openxmlformats.org/officeDocument/2006/relationships/image"/><Relationship Id="rId36" Target="../media/image64.png" Type="http://schemas.openxmlformats.org/officeDocument/2006/relationships/image"/><Relationship Id="rId37" Target="../media/image65.svg" Type="http://schemas.openxmlformats.org/officeDocument/2006/relationships/image"/><Relationship Id="rId38" Target="../media/image66.png" Type="http://schemas.openxmlformats.org/officeDocument/2006/relationships/image"/><Relationship Id="rId39" Target="../media/image67.svg" Type="http://schemas.openxmlformats.org/officeDocument/2006/relationships/image"/><Relationship Id="rId4" Target="../media/image112.png" Type="http://schemas.openxmlformats.org/officeDocument/2006/relationships/image"/><Relationship Id="rId40" Target="../media/image18.png" Type="http://schemas.openxmlformats.org/officeDocument/2006/relationships/image"/><Relationship Id="rId41" Target="../media/image19.svg" Type="http://schemas.openxmlformats.org/officeDocument/2006/relationships/image"/><Relationship Id="rId5" Target="../media/image113.svg" Type="http://schemas.openxmlformats.org/officeDocument/2006/relationships/image"/><Relationship Id="rId6" Target="../media/image84.png" Type="http://schemas.openxmlformats.org/officeDocument/2006/relationships/image"/><Relationship Id="rId7" Target="../media/image85.svg" Type="http://schemas.openxmlformats.org/officeDocument/2006/relationships/image"/><Relationship Id="rId8" Target="../media/image82.png" Type="http://schemas.openxmlformats.org/officeDocument/2006/relationships/image"/><Relationship Id="rId9" Target="../media/image8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67A7B"/>
        </a:solidFill>
      </p:bgPr>
    </p:bg>
    <p:spTree>
      <p:nvGrpSpPr>
        <p:cNvPr id="1" name=""/>
        <p:cNvGrpSpPr/>
        <p:nvPr/>
      </p:nvGrpSpPr>
      <p:grpSpPr>
        <a:xfrm>
          <a:off x="0" y="0"/>
          <a:ext cx="0" cy="0"/>
          <a:chOff x="0" y="0"/>
          <a:chExt cx="0" cy="0"/>
        </a:xfrm>
      </p:grpSpPr>
      <p:sp>
        <p:nvSpPr>
          <p:cNvPr name="Freeform 2" id="2"/>
          <p:cNvSpPr/>
          <p:nvPr/>
        </p:nvSpPr>
        <p:spPr>
          <a:xfrm flipH="false" flipV="false" rot="0">
            <a:off x="633368" y="3626446"/>
            <a:ext cx="782400" cy="1057297"/>
          </a:xfrm>
          <a:custGeom>
            <a:avLst/>
            <a:gdLst/>
            <a:ahLst/>
            <a:cxnLst/>
            <a:rect r="r" b="b" t="t" l="l"/>
            <a:pathLst>
              <a:path h="1057297" w="782400">
                <a:moveTo>
                  <a:pt x="0" y="0"/>
                </a:moveTo>
                <a:lnTo>
                  <a:pt x="782400" y="0"/>
                </a:lnTo>
                <a:lnTo>
                  <a:pt x="782400" y="1057296"/>
                </a:lnTo>
                <a:lnTo>
                  <a:pt x="0" y="10572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11249" y="2300667"/>
            <a:ext cx="1026639" cy="785846"/>
          </a:xfrm>
          <a:custGeom>
            <a:avLst/>
            <a:gdLst/>
            <a:ahLst/>
            <a:cxnLst/>
            <a:rect r="r" b="b" t="t" l="l"/>
            <a:pathLst>
              <a:path h="785846" w="1026639">
                <a:moveTo>
                  <a:pt x="0" y="0"/>
                </a:moveTo>
                <a:lnTo>
                  <a:pt x="1026639" y="0"/>
                </a:lnTo>
                <a:lnTo>
                  <a:pt x="1026639" y="785845"/>
                </a:lnTo>
                <a:lnTo>
                  <a:pt x="0" y="7858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3623" y="560050"/>
            <a:ext cx="945265" cy="1200684"/>
          </a:xfrm>
          <a:custGeom>
            <a:avLst/>
            <a:gdLst/>
            <a:ahLst/>
            <a:cxnLst/>
            <a:rect r="r" b="b" t="t" l="l"/>
            <a:pathLst>
              <a:path h="1200684" w="945265">
                <a:moveTo>
                  <a:pt x="0" y="0"/>
                </a:moveTo>
                <a:lnTo>
                  <a:pt x="945266" y="0"/>
                </a:lnTo>
                <a:lnTo>
                  <a:pt x="945266" y="1200684"/>
                </a:lnTo>
                <a:lnTo>
                  <a:pt x="0" y="12006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59442" y="5223676"/>
            <a:ext cx="930253" cy="980151"/>
          </a:xfrm>
          <a:custGeom>
            <a:avLst/>
            <a:gdLst/>
            <a:ahLst/>
            <a:cxnLst/>
            <a:rect r="r" b="b" t="t" l="l"/>
            <a:pathLst>
              <a:path h="980151" w="930253">
                <a:moveTo>
                  <a:pt x="0" y="0"/>
                </a:moveTo>
                <a:lnTo>
                  <a:pt x="930253" y="0"/>
                </a:lnTo>
                <a:lnTo>
                  <a:pt x="930253" y="980151"/>
                </a:lnTo>
                <a:lnTo>
                  <a:pt x="0" y="9801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6802844" y="538933"/>
            <a:ext cx="779562" cy="779562"/>
          </a:xfrm>
          <a:custGeom>
            <a:avLst/>
            <a:gdLst/>
            <a:ahLst/>
            <a:cxnLst/>
            <a:rect r="r" b="b" t="t" l="l"/>
            <a:pathLst>
              <a:path h="779562" w="779562">
                <a:moveTo>
                  <a:pt x="0" y="0"/>
                </a:moveTo>
                <a:lnTo>
                  <a:pt x="779562" y="0"/>
                </a:lnTo>
                <a:lnTo>
                  <a:pt x="779562" y="779562"/>
                </a:lnTo>
                <a:lnTo>
                  <a:pt x="0" y="7795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6788145" y="1764975"/>
            <a:ext cx="779562" cy="779562"/>
          </a:xfrm>
          <a:custGeom>
            <a:avLst/>
            <a:gdLst/>
            <a:ahLst/>
            <a:cxnLst/>
            <a:rect r="r" b="b" t="t" l="l"/>
            <a:pathLst>
              <a:path h="779562" w="779562">
                <a:moveTo>
                  <a:pt x="0" y="0"/>
                </a:moveTo>
                <a:lnTo>
                  <a:pt x="779562" y="0"/>
                </a:lnTo>
                <a:lnTo>
                  <a:pt x="779562" y="779562"/>
                </a:lnTo>
                <a:lnTo>
                  <a:pt x="0" y="77956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3999930" y="4635174"/>
            <a:ext cx="1776508" cy="1568653"/>
          </a:xfrm>
          <a:custGeom>
            <a:avLst/>
            <a:gdLst/>
            <a:ahLst/>
            <a:cxnLst/>
            <a:rect r="r" b="b" t="t" l="l"/>
            <a:pathLst>
              <a:path h="1568653" w="1776508">
                <a:moveTo>
                  <a:pt x="0" y="0"/>
                </a:moveTo>
                <a:lnTo>
                  <a:pt x="1776508" y="0"/>
                </a:lnTo>
                <a:lnTo>
                  <a:pt x="1776508" y="1568653"/>
                </a:lnTo>
                <a:lnTo>
                  <a:pt x="0" y="1568653"/>
                </a:lnTo>
                <a:lnTo>
                  <a:pt x="0" y="0"/>
                </a:lnTo>
                <a:close/>
              </a:path>
            </a:pathLst>
          </a:custGeom>
          <a:blipFill>
            <a:blip r:embed="rId14">
              <a:alphaModFix amt="27000"/>
            </a:blip>
            <a:stretch>
              <a:fillRect l="0" t="-12716" r="0" b="-533"/>
            </a:stretch>
          </a:blipFill>
        </p:spPr>
      </p:sp>
      <p:sp>
        <p:nvSpPr>
          <p:cNvPr name="Freeform 9" id="9"/>
          <p:cNvSpPr/>
          <p:nvPr/>
        </p:nvSpPr>
        <p:spPr>
          <a:xfrm flipH="false" flipV="false" rot="0">
            <a:off x="13999930" y="4849126"/>
            <a:ext cx="1655013" cy="1245774"/>
          </a:xfrm>
          <a:custGeom>
            <a:avLst/>
            <a:gdLst/>
            <a:ahLst/>
            <a:cxnLst/>
            <a:rect r="r" b="b" t="t" l="l"/>
            <a:pathLst>
              <a:path h="1245774" w="1655013">
                <a:moveTo>
                  <a:pt x="0" y="0"/>
                </a:moveTo>
                <a:lnTo>
                  <a:pt x="1655013" y="0"/>
                </a:lnTo>
                <a:lnTo>
                  <a:pt x="1655013" y="1245774"/>
                </a:lnTo>
                <a:lnTo>
                  <a:pt x="0" y="124577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5412575" y="5472013"/>
            <a:ext cx="484735" cy="825401"/>
          </a:xfrm>
          <a:custGeom>
            <a:avLst/>
            <a:gdLst/>
            <a:ahLst/>
            <a:cxnLst/>
            <a:rect r="r" b="b" t="t" l="l"/>
            <a:pathLst>
              <a:path h="825401" w="484735">
                <a:moveTo>
                  <a:pt x="0" y="0"/>
                </a:moveTo>
                <a:lnTo>
                  <a:pt x="484736" y="0"/>
                </a:lnTo>
                <a:lnTo>
                  <a:pt x="484736" y="825400"/>
                </a:lnTo>
                <a:lnTo>
                  <a:pt x="0" y="82540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1" id="11"/>
          <p:cNvGrpSpPr/>
          <p:nvPr/>
        </p:nvGrpSpPr>
        <p:grpSpPr>
          <a:xfrm rot="0">
            <a:off x="6702878" y="3653837"/>
            <a:ext cx="4882245" cy="1029905"/>
            <a:chOff x="0" y="0"/>
            <a:chExt cx="6509659" cy="1373207"/>
          </a:xfrm>
        </p:grpSpPr>
        <p:grpSp>
          <p:nvGrpSpPr>
            <p:cNvPr name="Group 12" id="12"/>
            <p:cNvGrpSpPr/>
            <p:nvPr/>
          </p:nvGrpSpPr>
          <p:grpSpPr>
            <a:xfrm rot="0">
              <a:off x="0" y="0"/>
              <a:ext cx="6509659" cy="1373207"/>
              <a:chOff x="0" y="0"/>
              <a:chExt cx="2180608" cy="459997"/>
            </a:xfrm>
          </p:grpSpPr>
          <p:sp>
            <p:nvSpPr>
              <p:cNvPr name="Freeform 13" id="13"/>
              <p:cNvSpPr/>
              <p:nvPr/>
            </p:nvSpPr>
            <p:spPr>
              <a:xfrm flipH="false" flipV="false" rot="0">
                <a:off x="0" y="0"/>
                <a:ext cx="2180608" cy="459997"/>
              </a:xfrm>
              <a:custGeom>
                <a:avLst/>
                <a:gdLst/>
                <a:ahLst/>
                <a:cxnLst/>
                <a:rect r="r" b="b" t="t" l="l"/>
                <a:pathLst>
                  <a:path h="459997" w="2180608">
                    <a:moveTo>
                      <a:pt x="1977408" y="0"/>
                    </a:moveTo>
                    <a:cubicBezTo>
                      <a:pt x="2089632" y="0"/>
                      <a:pt x="2180608" y="102974"/>
                      <a:pt x="2180608" y="229999"/>
                    </a:cubicBezTo>
                    <a:cubicBezTo>
                      <a:pt x="2180608" y="357023"/>
                      <a:pt x="2089632" y="459997"/>
                      <a:pt x="1977408" y="459997"/>
                    </a:cubicBezTo>
                    <a:lnTo>
                      <a:pt x="203200" y="459997"/>
                    </a:lnTo>
                    <a:cubicBezTo>
                      <a:pt x="90976" y="459997"/>
                      <a:pt x="0" y="357023"/>
                      <a:pt x="0" y="229999"/>
                    </a:cubicBezTo>
                    <a:cubicBezTo>
                      <a:pt x="0" y="102974"/>
                      <a:pt x="90976" y="0"/>
                      <a:pt x="203200" y="0"/>
                    </a:cubicBezTo>
                    <a:close/>
                  </a:path>
                </a:pathLst>
              </a:custGeom>
              <a:solidFill>
                <a:srgbClr val="CCCCCC"/>
              </a:solidFill>
              <a:ln w="28575" cap="sq">
                <a:solidFill>
                  <a:srgbClr val="000000"/>
                </a:solidFill>
                <a:prstDash val="solid"/>
                <a:miter/>
              </a:ln>
            </p:spPr>
          </p:sp>
          <p:sp>
            <p:nvSpPr>
              <p:cNvPr name="TextBox 14" id="14"/>
              <p:cNvSpPr txBox="true"/>
              <p:nvPr/>
            </p:nvSpPr>
            <p:spPr>
              <a:xfrm>
                <a:off x="0" y="-38100"/>
                <a:ext cx="2180608" cy="498097"/>
              </a:xfrm>
              <a:prstGeom prst="rect">
                <a:avLst/>
              </a:prstGeom>
            </p:spPr>
            <p:txBody>
              <a:bodyPr anchor="ctr" rtlCol="false" tIns="50800" lIns="50800" bIns="50800" rIns="50800"/>
              <a:lstStyle/>
              <a:p>
                <a:pPr algn="ctr">
                  <a:lnSpc>
                    <a:spcPts val="1605"/>
                  </a:lnSpc>
                </a:pPr>
              </a:p>
            </p:txBody>
          </p:sp>
        </p:grpSp>
        <p:sp>
          <p:nvSpPr>
            <p:cNvPr name="TextBox 15" id="15"/>
            <p:cNvSpPr txBox="true"/>
            <p:nvPr/>
          </p:nvSpPr>
          <p:spPr>
            <a:xfrm rot="0">
              <a:off x="1508337" y="233637"/>
              <a:ext cx="4396125" cy="867833"/>
            </a:xfrm>
            <a:prstGeom prst="rect">
              <a:avLst/>
            </a:prstGeom>
          </p:spPr>
          <p:txBody>
            <a:bodyPr anchor="t" rtlCol="false" tIns="0" lIns="0" bIns="0" rIns="0">
              <a:spAutoFit/>
            </a:bodyPr>
            <a:lstStyle/>
            <a:p>
              <a:pPr algn="ctr">
                <a:lnSpc>
                  <a:spcPts val="2600"/>
                </a:lnSpc>
              </a:pPr>
              <a:r>
                <a:rPr lang="en-US" sz="2000">
                  <a:solidFill>
                    <a:srgbClr val="000000"/>
                  </a:solidFill>
                  <a:latin typeface="Public Sans"/>
                </a:rPr>
                <a:t>Enhancing Financial Risk Management</a:t>
              </a:r>
            </a:p>
          </p:txBody>
        </p:sp>
        <p:sp>
          <p:nvSpPr>
            <p:cNvPr name="Freeform 16" id="16"/>
            <p:cNvSpPr/>
            <p:nvPr/>
          </p:nvSpPr>
          <p:spPr>
            <a:xfrm flipH="false" flipV="false" rot="0">
              <a:off x="605198" y="351738"/>
              <a:ext cx="689798" cy="669732"/>
            </a:xfrm>
            <a:custGeom>
              <a:avLst/>
              <a:gdLst/>
              <a:ahLst/>
              <a:cxnLst/>
              <a:rect r="r" b="b" t="t" l="l"/>
              <a:pathLst>
                <a:path h="669732" w="689798">
                  <a:moveTo>
                    <a:pt x="0" y="0"/>
                  </a:moveTo>
                  <a:lnTo>
                    <a:pt x="689798" y="0"/>
                  </a:lnTo>
                  <a:lnTo>
                    <a:pt x="689798" y="669731"/>
                  </a:lnTo>
                  <a:lnTo>
                    <a:pt x="0" y="669731"/>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grpSp>
        <p:nvGrpSpPr>
          <p:cNvPr name="Group 17" id="17"/>
          <p:cNvGrpSpPr/>
          <p:nvPr/>
        </p:nvGrpSpPr>
        <p:grpSpPr>
          <a:xfrm rot="0">
            <a:off x="0" y="9052698"/>
            <a:ext cx="18288000" cy="1234302"/>
            <a:chOff x="0" y="0"/>
            <a:chExt cx="24384000" cy="1645736"/>
          </a:xfrm>
        </p:grpSpPr>
        <p:grpSp>
          <p:nvGrpSpPr>
            <p:cNvPr name="Group 18" id="18"/>
            <p:cNvGrpSpPr/>
            <p:nvPr/>
          </p:nvGrpSpPr>
          <p:grpSpPr>
            <a:xfrm rot="0">
              <a:off x="0" y="0"/>
              <a:ext cx="24384000" cy="1645736"/>
              <a:chOff x="0" y="0"/>
              <a:chExt cx="4816593" cy="325084"/>
            </a:xfrm>
          </p:grpSpPr>
          <p:sp>
            <p:nvSpPr>
              <p:cNvPr name="Freeform 19" id="19"/>
              <p:cNvSpPr/>
              <p:nvPr/>
            </p:nvSpPr>
            <p:spPr>
              <a:xfrm flipH="false" flipV="false" rot="0">
                <a:off x="0" y="0"/>
                <a:ext cx="4816592" cy="325084"/>
              </a:xfrm>
              <a:custGeom>
                <a:avLst/>
                <a:gdLst/>
                <a:ahLst/>
                <a:cxnLst/>
                <a:rect r="r" b="b" t="t" l="l"/>
                <a:pathLst>
                  <a:path h="325084" w="4816592">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name="TextBox 20" id="20"/>
              <p:cNvSpPr txBox="true"/>
              <p:nvPr/>
            </p:nvSpPr>
            <p:spPr>
              <a:xfrm>
                <a:off x="0" y="-38100"/>
                <a:ext cx="4816593" cy="363184"/>
              </a:xfrm>
              <a:prstGeom prst="rect">
                <a:avLst/>
              </a:prstGeom>
            </p:spPr>
            <p:txBody>
              <a:bodyPr anchor="ctr" rtlCol="false" tIns="254000" lIns="254000" bIns="254000" rIns="254000"/>
              <a:lstStyle/>
              <a:p>
                <a:pPr>
                  <a:lnSpc>
                    <a:spcPts val="2100"/>
                  </a:lnSpc>
                </a:pPr>
              </a:p>
            </p:txBody>
          </p:sp>
        </p:grpSp>
        <p:sp>
          <p:nvSpPr>
            <p:cNvPr name="Freeform 21" id="21"/>
            <p:cNvSpPr/>
            <p:nvPr/>
          </p:nvSpPr>
          <p:spPr>
            <a:xfrm flipH="false" flipV="false" rot="0">
              <a:off x="316552" y="286517"/>
              <a:ext cx="1072702" cy="1072702"/>
            </a:xfrm>
            <a:custGeom>
              <a:avLst/>
              <a:gdLst/>
              <a:ahLst/>
              <a:cxnLst/>
              <a:rect r="r" b="b" t="t" l="l"/>
              <a:pathLst>
                <a:path h="1072702" w="1072702">
                  <a:moveTo>
                    <a:pt x="0" y="0"/>
                  </a:moveTo>
                  <a:lnTo>
                    <a:pt x="1072702" y="0"/>
                  </a:lnTo>
                  <a:lnTo>
                    <a:pt x="1072702" y="1072702"/>
                  </a:lnTo>
                  <a:lnTo>
                    <a:pt x="0" y="107270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2" id="22"/>
            <p:cNvSpPr/>
            <p:nvPr/>
          </p:nvSpPr>
          <p:spPr>
            <a:xfrm flipH="false" flipV="false" rot="0">
              <a:off x="474997" y="436533"/>
              <a:ext cx="755811" cy="772669"/>
            </a:xfrm>
            <a:custGeom>
              <a:avLst/>
              <a:gdLst/>
              <a:ahLst/>
              <a:cxnLst/>
              <a:rect r="r" b="b" t="t" l="l"/>
              <a:pathLst>
                <a:path h="772669" w="755811">
                  <a:moveTo>
                    <a:pt x="0" y="0"/>
                  </a:moveTo>
                  <a:lnTo>
                    <a:pt x="755812" y="0"/>
                  </a:lnTo>
                  <a:lnTo>
                    <a:pt x="755812" y="772670"/>
                  </a:lnTo>
                  <a:lnTo>
                    <a:pt x="0" y="77267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3" id="23"/>
            <p:cNvSpPr/>
            <p:nvPr/>
          </p:nvSpPr>
          <p:spPr>
            <a:xfrm flipH="false" flipV="false" rot="0">
              <a:off x="1897443" y="318086"/>
              <a:ext cx="1076085" cy="1009564"/>
            </a:xfrm>
            <a:custGeom>
              <a:avLst/>
              <a:gdLst/>
              <a:ahLst/>
              <a:cxnLst/>
              <a:rect r="r" b="b" t="t" l="l"/>
              <a:pathLst>
                <a:path h="1009564" w="1076085">
                  <a:moveTo>
                    <a:pt x="0" y="0"/>
                  </a:moveTo>
                  <a:lnTo>
                    <a:pt x="1076085" y="0"/>
                  </a:lnTo>
                  <a:lnTo>
                    <a:pt x="1076085" y="1009564"/>
                  </a:lnTo>
                  <a:lnTo>
                    <a:pt x="0" y="100956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4" id="24"/>
            <p:cNvSpPr/>
            <p:nvPr/>
          </p:nvSpPr>
          <p:spPr>
            <a:xfrm flipH="false" flipV="false" rot="0">
              <a:off x="3194335" y="366127"/>
              <a:ext cx="883585" cy="913481"/>
            </a:xfrm>
            <a:custGeom>
              <a:avLst/>
              <a:gdLst/>
              <a:ahLst/>
              <a:cxnLst/>
              <a:rect r="r" b="b" t="t" l="l"/>
              <a:pathLst>
                <a:path h="913481" w="883585">
                  <a:moveTo>
                    <a:pt x="0" y="0"/>
                  </a:moveTo>
                  <a:lnTo>
                    <a:pt x="883585" y="0"/>
                  </a:lnTo>
                  <a:lnTo>
                    <a:pt x="883585" y="913481"/>
                  </a:lnTo>
                  <a:lnTo>
                    <a:pt x="0" y="91348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25" id="25"/>
            <p:cNvSpPr/>
            <p:nvPr/>
          </p:nvSpPr>
          <p:spPr>
            <a:xfrm flipH="false" flipV="false" rot="0">
              <a:off x="5416372" y="377368"/>
              <a:ext cx="890999" cy="890999"/>
            </a:xfrm>
            <a:custGeom>
              <a:avLst/>
              <a:gdLst/>
              <a:ahLst/>
              <a:cxnLst/>
              <a:rect r="r" b="b" t="t" l="l"/>
              <a:pathLst>
                <a:path h="890999" w="890999">
                  <a:moveTo>
                    <a:pt x="0" y="0"/>
                  </a:moveTo>
                  <a:lnTo>
                    <a:pt x="890999" y="0"/>
                  </a:lnTo>
                  <a:lnTo>
                    <a:pt x="890999" y="890999"/>
                  </a:lnTo>
                  <a:lnTo>
                    <a:pt x="0" y="89099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26" id="26"/>
            <p:cNvSpPr/>
            <p:nvPr/>
          </p:nvSpPr>
          <p:spPr>
            <a:xfrm flipH="false" flipV="false" rot="0">
              <a:off x="4298727" y="342107"/>
              <a:ext cx="896838" cy="961522"/>
            </a:xfrm>
            <a:custGeom>
              <a:avLst/>
              <a:gdLst/>
              <a:ahLst/>
              <a:cxnLst/>
              <a:rect r="r" b="b" t="t" l="l"/>
              <a:pathLst>
                <a:path h="961522" w="896838">
                  <a:moveTo>
                    <a:pt x="0" y="0"/>
                  </a:moveTo>
                  <a:lnTo>
                    <a:pt x="896838" y="0"/>
                  </a:lnTo>
                  <a:lnTo>
                    <a:pt x="896838" y="961522"/>
                  </a:lnTo>
                  <a:lnTo>
                    <a:pt x="0" y="961522"/>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27" id="27"/>
            <p:cNvSpPr/>
            <p:nvPr/>
          </p:nvSpPr>
          <p:spPr>
            <a:xfrm flipH="false" flipV="false" rot="0">
              <a:off x="6502778" y="318086"/>
              <a:ext cx="1207087" cy="1009564"/>
            </a:xfrm>
            <a:custGeom>
              <a:avLst/>
              <a:gdLst/>
              <a:ahLst/>
              <a:cxnLst/>
              <a:rect r="r" b="b" t="t" l="l"/>
              <a:pathLst>
                <a:path h="1009564" w="1207087">
                  <a:moveTo>
                    <a:pt x="0" y="0"/>
                  </a:moveTo>
                  <a:lnTo>
                    <a:pt x="1207088" y="0"/>
                  </a:lnTo>
                  <a:lnTo>
                    <a:pt x="1207088" y="1009564"/>
                  </a:lnTo>
                  <a:lnTo>
                    <a:pt x="0" y="1009564"/>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TextBox 28" id="28"/>
            <p:cNvSpPr txBox="true"/>
            <p:nvPr/>
          </p:nvSpPr>
          <p:spPr>
            <a:xfrm rot="0">
              <a:off x="22163171" y="502404"/>
              <a:ext cx="1562297" cy="577850"/>
            </a:xfrm>
            <a:prstGeom prst="rect">
              <a:avLst/>
            </a:prstGeom>
          </p:spPr>
          <p:txBody>
            <a:bodyPr anchor="t" rtlCol="false" tIns="0" lIns="0" bIns="0" rIns="0">
              <a:spAutoFit/>
            </a:bodyPr>
            <a:lstStyle/>
            <a:p>
              <a:pPr algn="r">
                <a:lnSpc>
                  <a:spcPts val="3120"/>
                </a:lnSpc>
              </a:pPr>
              <a:r>
                <a:rPr lang="en-US" sz="2600">
                  <a:solidFill>
                    <a:srgbClr val="000000"/>
                  </a:solidFill>
                  <a:latin typeface="Retropix"/>
                </a:rPr>
                <a:t>10:00AM</a:t>
              </a:r>
            </a:p>
          </p:txBody>
        </p:sp>
      </p:grpSp>
      <p:sp>
        <p:nvSpPr>
          <p:cNvPr name="Freeform 29" id="29"/>
          <p:cNvSpPr/>
          <p:nvPr/>
        </p:nvSpPr>
        <p:spPr>
          <a:xfrm flipH="false" flipV="false" rot="0">
            <a:off x="16773447" y="2991016"/>
            <a:ext cx="808959" cy="782484"/>
          </a:xfrm>
          <a:custGeom>
            <a:avLst/>
            <a:gdLst/>
            <a:ahLst/>
            <a:cxnLst/>
            <a:rect r="r" b="b" t="t" l="l"/>
            <a:pathLst>
              <a:path h="782484" w="808959">
                <a:moveTo>
                  <a:pt x="0" y="0"/>
                </a:moveTo>
                <a:lnTo>
                  <a:pt x="808959" y="0"/>
                </a:lnTo>
                <a:lnTo>
                  <a:pt x="808959" y="782484"/>
                </a:lnTo>
                <a:lnTo>
                  <a:pt x="0" y="782484"/>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TextBox 30" id="30"/>
          <p:cNvSpPr txBox="true"/>
          <p:nvPr/>
        </p:nvSpPr>
        <p:spPr>
          <a:xfrm rot="0">
            <a:off x="3460564" y="1915887"/>
            <a:ext cx="11366873" cy="1257300"/>
          </a:xfrm>
          <a:prstGeom prst="rect">
            <a:avLst/>
          </a:prstGeom>
        </p:spPr>
        <p:txBody>
          <a:bodyPr anchor="t" rtlCol="false" tIns="0" lIns="0" bIns="0" rIns="0">
            <a:spAutoFit/>
          </a:bodyPr>
          <a:lstStyle/>
          <a:p>
            <a:pPr algn="ctr">
              <a:lnSpc>
                <a:spcPts val="4500"/>
              </a:lnSpc>
            </a:pPr>
            <a:r>
              <a:rPr lang="en-US" sz="4500">
                <a:solidFill>
                  <a:srgbClr val="FFFFFF"/>
                </a:solidFill>
                <a:latin typeface="Retropix"/>
              </a:rPr>
              <a:t>Predictive Modeling for Loan Repayment Forecasting</a:t>
            </a:r>
          </a:p>
        </p:txBody>
      </p:sp>
      <p:sp>
        <p:nvSpPr>
          <p:cNvPr name="TextBox 31" id="31"/>
          <p:cNvSpPr txBox="true"/>
          <p:nvPr/>
        </p:nvSpPr>
        <p:spPr>
          <a:xfrm rot="0">
            <a:off x="6445858" y="5732313"/>
            <a:ext cx="5396285" cy="2796582"/>
          </a:xfrm>
          <a:prstGeom prst="rect">
            <a:avLst/>
          </a:prstGeom>
        </p:spPr>
        <p:txBody>
          <a:bodyPr anchor="t" rtlCol="false" tIns="0" lIns="0" bIns="0" rIns="0">
            <a:spAutoFit/>
          </a:bodyPr>
          <a:lstStyle/>
          <a:p>
            <a:pPr algn="ctr">
              <a:lnSpc>
                <a:spcPts val="5457"/>
              </a:lnSpc>
            </a:pPr>
            <a:r>
              <a:rPr lang="en-US" sz="3898">
                <a:solidFill>
                  <a:srgbClr val="FFFFFF"/>
                </a:solidFill>
                <a:latin typeface="Retropix"/>
              </a:rPr>
              <a:t>By: Tucker Strow </a:t>
            </a:r>
          </a:p>
          <a:p>
            <a:pPr algn="ctr">
              <a:lnSpc>
                <a:spcPts val="5457"/>
              </a:lnSpc>
            </a:pPr>
            <a:r>
              <a:rPr lang="en-US" sz="3898">
                <a:solidFill>
                  <a:srgbClr val="FFFFFF"/>
                </a:solidFill>
                <a:latin typeface="Retropix"/>
              </a:rPr>
              <a:t>Likith Rajashekar </a:t>
            </a:r>
          </a:p>
          <a:p>
            <a:pPr algn="ctr">
              <a:lnSpc>
                <a:spcPts val="5457"/>
              </a:lnSpc>
            </a:pPr>
            <a:r>
              <a:rPr lang="en-US" sz="3898">
                <a:solidFill>
                  <a:srgbClr val="FFFFFF"/>
                </a:solidFill>
                <a:latin typeface="Retropix"/>
              </a:rPr>
              <a:t>Adithya Ramakrishnan </a:t>
            </a:r>
          </a:p>
          <a:p>
            <a:pPr algn="ctr">
              <a:lnSpc>
                <a:spcPts val="5457"/>
              </a:lnSpc>
            </a:pPr>
            <a:r>
              <a:rPr lang="en-US" sz="3898">
                <a:solidFill>
                  <a:srgbClr val="FFFFFF"/>
                </a:solidFill>
                <a:latin typeface="Retropix"/>
              </a:rPr>
              <a:t>&amp; Andres Gonzales</a:t>
            </a:r>
            <a:r>
              <a:rPr lang="en-US" sz="3898">
                <a:solidFill>
                  <a:srgbClr val="000000"/>
                </a:solidFill>
                <a:latin typeface="Retropix"/>
              </a:rPr>
              <a:t> </a:t>
            </a:r>
          </a:p>
        </p:txBody>
      </p:sp>
      <p:sp>
        <p:nvSpPr>
          <p:cNvPr name="TextBox 32" id="32"/>
          <p:cNvSpPr txBox="true"/>
          <p:nvPr/>
        </p:nvSpPr>
        <p:spPr>
          <a:xfrm rot="0">
            <a:off x="7323401" y="535494"/>
            <a:ext cx="3641198" cy="814961"/>
          </a:xfrm>
          <a:prstGeom prst="rect">
            <a:avLst/>
          </a:prstGeom>
        </p:spPr>
        <p:txBody>
          <a:bodyPr anchor="t" rtlCol="false" tIns="0" lIns="0" bIns="0" rIns="0">
            <a:spAutoFit/>
          </a:bodyPr>
          <a:lstStyle/>
          <a:p>
            <a:pPr algn="ctr">
              <a:lnSpc>
                <a:spcPts val="5946"/>
              </a:lnSpc>
            </a:pPr>
            <a:r>
              <a:rPr lang="en-US" sz="4247">
                <a:solidFill>
                  <a:srgbClr val="CCCCCC"/>
                </a:solidFill>
                <a:latin typeface="Retropix"/>
              </a:rPr>
              <a:t>BUAN 6356.001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CCCCC"/>
        </a:solidFill>
      </p:bgPr>
    </p:bg>
    <p:spTree>
      <p:nvGrpSpPr>
        <p:cNvPr id="1" name=""/>
        <p:cNvGrpSpPr/>
        <p:nvPr/>
      </p:nvGrpSpPr>
      <p:grpSpPr>
        <a:xfrm>
          <a:off x="0" y="0"/>
          <a:ext cx="0" cy="0"/>
          <a:chOff x="0" y="0"/>
          <a:chExt cx="0" cy="0"/>
        </a:xfrm>
      </p:grpSpPr>
      <p:grpSp>
        <p:nvGrpSpPr>
          <p:cNvPr name="Group 2" id="2"/>
          <p:cNvGrpSpPr/>
          <p:nvPr/>
        </p:nvGrpSpPr>
        <p:grpSpPr>
          <a:xfrm rot="0">
            <a:off x="-836598" y="0"/>
            <a:ext cx="19961197" cy="795781"/>
            <a:chOff x="0" y="0"/>
            <a:chExt cx="26614929" cy="1061041"/>
          </a:xfrm>
        </p:grpSpPr>
        <p:grpSp>
          <p:nvGrpSpPr>
            <p:cNvPr name="Group 3" id="3"/>
            <p:cNvGrpSpPr/>
            <p:nvPr/>
          </p:nvGrpSpPr>
          <p:grpSpPr>
            <a:xfrm rot="0">
              <a:off x="0" y="0"/>
              <a:ext cx="26614929" cy="1061041"/>
              <a:chOff x="0" y="0"/>
              <a:chExt cx="5257270" cy="209588"/>
            </a:xfrm>
          </p:grpSpPr>
          <p:sp>
            <p:nvSpPr>
              <p:cNvPr name="Freeform 4" id="4"/>
              <p:cNvSpPr/>
              <p:nvPr/>
            </p:nvSpPr>
            <p:spPr>
              <a:xfrm flipH="false" flipV="false" rot="0">
                <a:off x="0" y="0"/>
                <a:ext cx="5257270" cy="209588"/>
              </a:xfrm>
              <a:custGeom>
                <a:avLst/>
                <a:gdLst/>
                <a:ahLst/>
                <a:cxnLst/>
                <a:rect r="r" b="b" t="t" l="l"/>
                <a:pathLst>
                  <a:path h="209588" w="5257270">
                    <a:moveTo>
                      <a:pt x="0" y="0"/>
                    </a:moveTo>
                    <a:lnTo>
                      <a:pt x="5257270" y="0"/>
                    </a:lnTo>
                    <a:lnTo>
                      <a:pt x="5257270" y="209588"/>
                    </a:lnTo>
                    <a:lnTo>
                      <a:pt x="0" y="209588"/>
                    </a:lnTo>
                    <a:close/>
                  </a:path>
                </a:pathLst>
              </a:custGeom>
              <a:solidFill>
                <a:srgbClr val="067A7B"/>
              </a:solidFill>
              <a:ln w="95250" cap="sq">
                <a:solidFill>
                  <a:srgbClr val="067A7B"/>
                </a:solidFill>
                <a:prstDash val="solid"/>
                <a:miter/>
              </a:ln>
            </p:spPr>
          </p:sp>
          <p:sp>
            <p:nvSpPr>
              <p:cNvPr name="TextBox 5" id="5"/>
              <p:cNvSpPr txBox="true"/>
              <p:nvPr/>
            </p:nvSpPr>
            <p:spPr>
              <a:xfrm>
                <a:off x="0" y="-47625"/>
                <a:ext cx="5257270" cy="257213"/>
              </a:xfrm>
              <a:prstGeom prst="rect">
                <a:avLst/>
              </a:prstGeom>
            </p:spPr>
            <p:txBody>
              <a:bodyPr anchor="ctr" rtlCol="false" tIns="254000" lIns="254000" bIns="254000" rIns="254000"/>
              <a:lstStyle/>
              <a:p>
                <a:pPr>
                  <a:lnSpc>
                    <a:spcPts val="3499"/>
                  </a:lnSpc>
                </a:pPr>
              </a:p>
            </p:txBody>
          </p:sp>
        </p:grpSp>
        <p:sp>
          <p:nvSpPr>
            <p:cNvPr name="TextBox 6" id="6"/>
            <p:cNvSpPr txBox="true"/>
            <p:nvPr/>
          </p:nvSpPr>
          <p:spPr>
            <a:xfrm rot="0">
              <a:off x="419729" y="269112"/>
              <a:ext cx="25775471"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Agenda • Agenda • Agenda • Agenda • Agenda • Agenda • Agenda • Agenda • Agenda • Agenda • Agenda • Agenda • Agenda • Agenda</a:t>
              </a:r>
            </a:p>
          </p:txBody>
        </p:sp>
      </p:grpSp>
      <p:sp>
        <p:nvSpPr>
          <p:cNvPr name="Freeform 7" id="7"/>
          <p:cNvSpPr/>
          <p:nvPr/>
        </p:nvSpPr>
        <p:spPr>
          <a:xfrm flipH="false" flipV="false" rot="0">
            <a:off x="2327604" y="3899783"/>
            <a:ext cx="5754674" cy="2877337"/>
          </a:xfrm>
          <a:custGeom>
            <a:avLst/>
            <a:gdLst/>
            <a:ahLst/>
            <a:cxnLst/>
            <a:rect r="r" b="b" t="t" l="l"/>
            <a:pathLst>
              <a:path h="2877337" w="5754674">
                <a:moveTo>
                  <a:pt x="0" y="0"/>
                </a:moveTo>
                <a:lnTo>
                  <a:pt x="5754675" y="0"/>
                </a:lnTo>
                <a:lnTo>
                  <a:pt x="5754675" y="2877337"/>
                </a:lnTo>
                <a:lnTo>
                  <a:pt x="0" y="28773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7995813" y="1905226"/>
            <a:ext cx="7295924" cy="7295924"/>
            <a:chOff x="0" y="0"/>
            <a:chExt cx="9727899" cy="9727899"/>
          </a:xfrm>
        </p:grpSpPr>
        <p:sp>
          <p:nvSpPr>
            <p:cNvPr name="Freeform 9" id="9"/>
            <p:cNvSpPr/>
            <p:nvPr/>
          </p:nvSpPr>
          <p:spPr>
            <a:xfrm flipH="false" flipV="false" rot="0">
              <a:off x="0" y="0"/>
              <a:ext cx="9727899" cy="9727899"/>
            </a:xfrm>
            <a:custGeom>
              <a:avLst/>
              <a:gdLst/>
              <a:ahLst/>
              <a:cxnLst/>
              <a:rect r="r" b="b" t="t" l="l"/>
              <a:pathLst>
                <a:path h="9727899" w="9727899">
                  <a:moveTo>
                    <a:pt x="0" y="0"/>
                  </a:moveTo>
                  <a:lnTo>
                    <a:pt x="9727899" y="0"/>
                  </a:lnTo>
                  <a:lnTo>
                    <a:pt x="9727899" y="9727899"/>
                  </a:lnTo>
                  <a:lnTo>
                    <a:pt x="0" y="97278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868443" y="305414"/>
              <a:ext cx="472752" cy="457280"/>
            </a:xfrm>
            <a:custGeom>
              <a:avLst/>
              <a:gdLst/>
              <a:ahLst/>
              <a:cxnLst/>
              <a:rect r="r" b="b" t="t" l="l"/>
              <a:pathLst>
                <a:path h="457280" w="472752">
                  <a:moveTo>
                    <a:pt x="0" y="0"/>
                  </a:moveTo>
                  <a:lnTo>
                    <a:pt x="472751" y="0"/>
                  </a:lnTo>
                  <a:lnTo>
                    <a:pt x="472751" y="457280"/>
                  </a:lnTo>
                  <a:lnTo>
                    <a:pt x="0" y="457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0">
            <a:off x="2756895" y="4272363"/>
            <a:ext cx="5754674" cy="2877337"/>
          </a:xfrm>
          <a:custGeom>
            <a:avLst/>
            <a:gdLst/>
            <a:ahLst/>
            <a:cxnLst/>
            <a:rect r="r" b="b" t="t" l="l"/>
            <a:pathLst>
              <a:path h="2877337" w="5754674">
                <a:moveTo>
                  <a:pt x="0" y="0"/>
                </a:moveTo>
                <a:lnTo>
                  <a:pt x="5754674" y="0"/>
                </a:lnTo>
                <a:lnTo>
                  <a:pt x="5754674" y="2877337"/>
                </a:lnTo>
                <a:lnTo>
                  <a:pt x="0" y="28773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4281475" y="3380244"/>
            <a:ext cx="2778342" cy="767833"/>
          </a:xfrm>
          <a:custGeom>
            <a:avLst/>
            <a:gdLst/>
            <a:ahLst/>
            <a:cxnLst/>
            <a:rect r="r" b="b" t="t" l="l"/>
            <a:pathLst>
              <a:path h="767833" w="2778342">
                <a:moveTo>
                  <a:pt x="0" y="0"/>
                </a:moveTo>
                <a:lnTo>
                  <a:pt x="2778342" y="0"/>
                </a:lnTo>
                <a:lnTo>
                  <a:pt x="2778342" y="767833"/>
                </a:lnTo>
                <a:lnTo>
                  <a:pt x="0" y="7678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9295849" y="6136420"/>
            <a:ext cx="1890203" cy="1929274"/>
            <a:chOff x="0" y="0"/>
            <a:chExt cx="2520270" cy="2572366"/>
          </a:xfrm>
        </p:grpSpPr>
        <p:sp>
          <p:nvSpPr>
            <p:cNvPr name="Freeform 14" id="14"/>
            <p:cNvSpPr/>
            <p:nvPr/>
          </p:nvSpPr>
          <p:spPr>
            <a:xfrm flipH="false" flipV="false" rot="0">
              <a:off x="553833" y="0"/>
              <a:ext cx="1412604" cy="1514488"/>
            </a:xfrm>
            <a:custGeom>
              <a:avLst/>
              <a:gdLst/>
              <a:ahLst/>
              <a:cxnLst/>
              <a:rect r="r" b="b" t="t" l="l"/>
              <a:pathLst>
                <a:path h="1514488" w="1412604">
                  <a:moveTo>
                    <a:pt x="0" y="0"/>
                  </a:moveTo>
                  <a:lnTo>
                    <a:pt x="1412604" y="0"/>
                  </a:lnTo>
                  <a:lnTo>
                    <a:pt x="1412604" y="1514488"/>
                  </a:lnTo>
                  <a:lnTo>
                    <a:pt x="0" y="15144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0" y="1643149"/>
              <a:ext cx="2520270" cy="929217"/>
            </a:xfrm>
            <a:prstGeom prst="rect">
              <a:avLst/>
            </a:prstGeom>
          </p:spPr>
          <p:txBody>
            <a:bodyPr anchor="t" rtlCol="false" tIns="0" lIns="0" bIns="0" rIns="0">
              <a:spAutoFit/>
            </a:bodyPr>
            <a:lstStyle/>
            <a:p>
              <a:pPr algn="ctr">
                <a:lnSpc>
                  <a:spcPts val="2800"/>
                </a:lnSpc>
              </a:pPr>
              <a:r>
                <a:rPr lang="en-US" sz="2000" u="sng">
                  <a:solidFill>
                    <a:srgbClr val="000000"/>
                  </a:solidFill>
                  <a:latin typeface="Public Sans"/>
                </a:rPr>
                <a:t>MODELS &amp; RESULTS</a:t>
              </a:r>
            </a:p>
          </p:txBody>
        </p:sp>
      </p:grpSp>
      <p:grpSp>
        <p:nvGrpSpPr>
          <p:cNvPr name="Group 16" id="16"/>
          <p:cNvGrpSpPr/>
          <p:nvPr/>
        </p:nvGrpSpPr>
        <p:grpSpPr>
          <a:xfrm rot="0">
            <a:off x="11853849" y="3899783"/>
            <a:ext cx="1890203" cy="1846050"/>
            <a:chOff x="0" y="0"/>
            <a:chExt cx="2520270" cy="2461400"/>
          </a:xfrm>
        </p:grpSpPr>
        <p:sp>
          <p:nvSpPr>
            <p:cNvPr name="TextBox 17" id="17"/>
            <p:cNvSpPr txBox="true"/>
            <p:nvPr/>
          </p:nvSpPr>
          <p:spPr>
            <a:xfrm rot="0">
              <a:off x="0" y="1532184"/>
              <a:ext cx="2520270" cy="929217"/>
            </a:xfrm>
            <a:prstGeom prst="rect">
              <a:avLst/>
            </a:prstGeom>
          </p:spPr>
          <p:txBody>
            <a:bodyPr anchor="t" rtlCol="false" tIns="0" lIns="0" bIns="0" rIns="0">
              <a:spAutoFit/>
            </a:bodyPr>
            <a:lstStyle/>
            <a:p>
              <a:pPr algn="ctr">
                <a:lnSpc>
                  <a:spcPts val="2800"/>
                </a:lnSpc>
              </a:pPr>
              <a:r>
                <a:rPr lang="en-US" sz="2000" u="sng">
                  <a:solidFill>
                    <a:srgbClr val="000000"/>
                  </a:solidFill>
                  <a:latin typeface="Public Sans"/>
                </a:rPr>
                <a:t>DATA CLEANING</a:t>
              </a:r>
            </a:p>
          </p:txBody>
        </p:sp>
        <p:sp>
          <p:nvSpPr>
            <p:cNvPr name="Freeform 18" id="18"/>
            <p:cNvSpPr/>
            <p:nvPr/>
          </p:nvSpPr>
          <p:spPr>
            <a:xfrm flipH="false" flipV="false" rot="0">
              <a:off x="624218" y="0"/>
              <a:ext cx="1271834" cy="1271834"/>
            </a:xfrm>
            <a:custGeom>
              <a:avLst/>
              <a:gdLst/>
              <a:ahLst/>
              <a:cxnLst/>
              <a:rect r="r" b="b" t="t" l="l"/>
              <a:pathLst>
                <a:path h="1271834" w="1271834">
                  <a:moveTo>
                    <a:pt x="0" y="0"/>
                  </a:moveTo>
                  <a:lnTo>
                    <a:pt x="1271834" y="0"/>
                  </a:lnTo>
                  <a:lnTo>
                    <a:pt x="1271834" y="1271834"/>
                  </a:lnTo>
                  <a:lnTo>
                    <a:pt x="0" y="12718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19" id="19"/>
          <p:cNvGrpSpPr/>
          <p:nvPr/>
        </p:nvGrpSpPr>
        <p:grpSpPr>
          <a:xfrm rot="0">
            <a:off x="11853849" y="6136420"/>
            <a:ext cx="1890203" cy="1929274"/>
            <a:chOff x="0" y="0"/>
            <a:chExt cx="2520270" cy="2572366"/>
          </a:xfrm>
        </p:grpSpPr>
        <p:sp>
          <p:nvSpPr>
            <p:cNvPr name="TextBox 20" id="20"/>
            <p:cNvSpPr txBox="true"/>
            <p:nvPr/>
          </p:nvSpPr>
          <p:spPr>
            <a:xfrm rot="0">
              <a:off x="0" y="1643149"/>
              <a:ext cx="2520270" cy="929217"/>
            </a:xfrm>
            <a:prstGeom prst="rect">
              <a:avLst/>
            </a:prstGeom>
          </p:spPr>
          <p:txBody>
            <a:bodyPr anchor="t" rtlCol="false" tIns="0" lIns="0" bIns="0" rIns="0">
              <a:spAutoFit/>
            </a:bodyPr>
            <a:lstStyle/>
            <a:p>
              <a:pPr algn="ctr">
                <a:lnSpc>
                  <a:spcPts val="2800"/>
                </a:lnSpc>
              </a:pPr>
              <a:r>
                <a:rPr lang="en-US" sz="2000" u="sng">
                  <a:solidFill>
                    <a:srgbClr val="000000"/>
                  </a:solidFill>
                  <a:latin typeface="Public Sans"/>
                </a:rPr>
                <a:t>INTERPRET &amp; CONCLUDE </a:t>
              </a:r>
            </a:p>
          </p:txBody>
        </p:sp>
        <p:sp>
          <p:nvSpPr>
            <p:cNvPr name="Freeform 21" id="21"/>
            <p:cNvSpPr/>
            <p:nvPr/>
          </p:nvSpPr>
          <p:spPr>
            <a:xfrm flipH="false" flipV="false" rot="0">
              <a:off x="359944" y="0"/>
              <a:ext cx="1800382" cy="1378111"/>
            </a:xfrm>
            <a:custGeom>
              <a:avLst/>
              <a:gdLst/>
              <a:ahLst/>
              <a:cxnLst/>
              <a:rect r="r" b="b" t="t" l="l"/>
              <a:pathLst>
                <a:path h="1378111" w="1800382">
                  <a:moveTo>
                    <a:pt x="0" y="0"/>
                  </a:moveTo>
                  <a:lnTo>
                    <a:pt x="1800382" y="0"/>
                  </a:lnTo>
                  <a:lnTo>
                    <a:pt x="1800382" y="1378111"/>
                  </a:lnTo>
                  <a:lnTo>
                    <a:pt x="0" y="137811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grpSp>
        <p:nvGrpSpPr>
          <p:cNvPr name="Group 22" id="22"/>
          <p:cNvGrpSpPr/>
          <p:nvPr/>
        </p:nvGrpSpPr>
        <p:grpSpPr>
          <a:xfrm rot="0">
            <a:off x="9295849" y="3723307"/>
            <a:ext cx="1890203" cy="1658880"/>
            <a:chOff x="0" y="0"/>
            <a:chExt cx="2520270" cy="2211840"/>
          </a:xfrm>
        </p:grpSpPr>
        <p:sp>
          <p:nvSpPr>
            <p:cNvPr name="TextBox 23" id="23"/>
            <p:cNvSpPr txBox="true"/>
            <p:nvPr/>
          </p:nvSpPr>
          <p:spPr>
            <a:xfrm rot="0">
              <a:off x="0" y="1752523"/>
              <a:ext cx="2520270" cy="459317"/>
            </a:xfrm>
            <a:prstGeom prst="rect">
              <a:avLst/>
            </a:prstGeom>
          </p:spPr>
          <p:txBody>
            <a:bodyPr anchor="t" rtlCol="false" tIns="0" lIns="0" bIns="0" rIns="0">
              <a:spAutoFit/>
            </a:bodyPr>
            <a:lstStyle/>
            <a:p>
              <a:pPr algn="ctr">
                <a:lnSpc>
                  <a:spcPts val="2800"/>
                </a:lnSpc>
              </a:pPr>
              <a:r>
                <a:rPr lang="en-US" sz="2000" u="sng">
                  <a:solidFill>
                    <a:srgbClr val="000000"/>
                  </a:solidFill>
                  <a:latin typeface="Public Sans"/>
                </a:rPr>
                <a:t>Introduction</a:t>
              </a:r>
            </a:p>
          </p:txBody>
        </p:sp>
        <p:sp>
          <p:nvSpPr>
            <p:cNvPr name="Freeform 24" id="24"/>
            <p:cNvSpPr/>
            <p:nvPr/>
          </p:nvSpPr>
          <p:spPr>
            <a:xfrm flipH="false" flipV="false" rot="0">
              <a:off x="610294" y="0"/>
              <a:ext cx="1299681" cy="1650865"/>
            </a:xfrm>
            <a:custGeom>
              <a:avLst/>
              <a:gdLst/>
              <a:ahLst/>
              <a:cxnLst/>
              <a:rect r="r" b="b" t="t" l="l"/>
              <a:pathLst>
                <a:path h="1650865" w="1299681">
                  <a:moveTo>
                    <a:pt x="0" y="0"/>
                  </a:moveTo>
                  <a:lnTo>
                    <a:pt x="1299682" y="0"/>
                  </a:lnTo>
                  <a:lnTo>
                    <a:pt x="1299682" y="1650865"/>
                  </a:lnTo>
                  <a:lnTo>
                    <a:pt x="0" y="165086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sp>
        <p:nvSpPr>
          <p:cNvPr name="Freeform 25" id="25"/>
          <p:cNvSpPr/>
          <p:nvPr/>
        </p:nvSpPr>
        <p:spPr>
          <a:xfrm flipH="false" flipV="false" rot="0">
            <a:off x="16575081" y="3898982"/>
            <a:ext cx="484735" cy="825401"/>
          </a:xfrm>
          <a:custGeom>
            <a:avLst/>
            <a:gdLst/>
            <a:ahLst/>
            <a:cxnLst/>
            <a:rect r="r" b="b" t="t" l="l"/>
            <a:pathLst>
              <a:path h="825401" w="484735">
                <a:moveTo>
                  <a:pt x="0" y="0"/>
                </a:moveTo>
                <a:lnTo>
                  <a:pt x="484736" y="0"/>
                </a:lnTo>
                <a:lnTo>
                  <a:pt x="484736" y="825401"/>
                </a:lnTo>
                <a:lnTo>
                  <a:pt x="0" y="82540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6" id="26"/>
          <p:cNvSpPr/>
          <p:nvPr/>
        </p:nvSpPr>
        <p:spPr>
          <a:xfrm flipH="false" flipV="false" rot="0">
            <a:off x="1028700" y="8533974"/>
            <a:ext cx="724326" cy="724326"/>
          </a:xfrm>
          <a:custGeom>
            <a:avLst/>
            <a:gdLst/>
            <a:ahLst/>
            <a:cxnLst/>
            <a:rect r="r" b="b" t="t" l="l"/>
            <a:pathLst>
              <a:path h="724326" w="724326">
                <a:moveTo>
                  <a:pt x="0" y="0"/>
                </a:moveTo>
                <a:lnTo>
                  <a:pt x="724326" y="0"/>
                </a:lnTo>
                <a:lnTo>
                  <a:pt x="724326" y="724326"/>
                </a:lnTo>
                <a:lnTo>
                  <a:pt x="0" y="7243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7" id="27"/>
          <p:cNvSpPr/>
          <p:nvPr/>
        </p:nvSpPr>
        <p:spPr>
          <a:xfrm flipH="false" flipV="false" rot="0">
            <a:off x="1772076" y="8533974"/>
            <a:ext cx="746029" cy="724326"/>
          </a:xfrm>
          <a:custGeom>
            <a:avLst/>
            <a:gdLst/>
            <a:ahLst/>
            <a:cxnLst/>
            <a:rect r="r" b="b" t="t" l="l"/>
            <a:pathLst>
              <a:path h="724326" w="746029">
                <a:moveTo>
                  <a:pt x="0" y="0"/>
                </a:moveTo>
                <a:lnTo>
                  <a:pt x="746028" y="0"/>
                </a:lnTo>
                <a:lnTo>
                  <a:pt x="746028" y="724326"/>
                </a:lnTo>
                <a:lnTo>
                  <a:pt x="0" y="7243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28" id="28"/>
          <p:cNvSpPr txBox="true"/>
          <p:nvPr/>
        </p:nvSpPr>
        <p:spPr>
          <a:xfrm rot="0">
            <a:off x="3396192" y="5451591"/>
            <a:ext cx="4399880" cy="1073150"/>
          </a:xfrm>
          <a:prstGeom prst="rect">
            <a:avLst/>
          </a:prstGeom>
        </p:spPr>
        <p:txBody>
          <a:bodyPr anchor="t" rtlCol="false" tIns="0" lIns="0" bIns="0" rIns="0">
            <a:spAutoFit/>
          </a:bodyPr>
          <a:lstStyle/>
          <a:p>
            <a:pPr algn="ctr">
              <a:lnSpc>
                <a:spcPts val="6999"/>
              </a:lnSpc>
            </a:pPr>
            <a:r>
              <a:rPr lang="en-US" sz="6999">
                <a:solidFill>
                  <a:srgbClr val="000000"/>
                </a:solidFill>
                <a:latin typeface="Retropix"/>
              </a:rPr>
              <a:t>Agenda</a:t>
            </a:r>
          </a:p>
        </p:txBody>
      </p:sp>
      <p:sp>
        <p:nvSpPr>
          <p:cNvPr name="TextBox 29" id="29"/>
          <p:cNvSpPr txBox="true"/>
          <p:nvPr/>
        </p:nvSpPr>
        <p:spPr>
          <a:xfrm rot="0">
            <a:off x="8230473" y="1972392"/>
            <a:ext cx="5662432" cy="552450"/>
          </a:xfrm>
          <a:prstGeom prst="rect">
            <a:avLst/>
          </a:prstGeom>
        </p:spPr>
        <p:txBody>
          <a:bodyPr anchor="t" rtlCol="false" tIns="0" lIns="0" bIns="0" rIns="0">
            <a:spAutoFit/>
          </a:bodyPr>
          <a:lstStyle/>
          <a:p>
            <a:pPr algn="l" marL="0" indent="0" lvl="0">
              <a:lnSpc>
                <a:spcPts val="3840"/>
              </a:lnSpc>
            </a:pPr>
            <a:r>
              <a:rPr lang="en-US" sz="3200">
                <a:solidFill>
                  <a:srgbClr val="FFFFFF"/>
                </a:solidFill>
                <a:latin typeface="Retropix"/>
              </a:rPr>
              <a:t>Table of contents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67A7B"/>
        </a:solidFill>
      </p:bgPr>
    </p:bg>
    <p:spTree>
      <p:nvGrpSpPr>
        <p:cNvPr id="1" name=""/>
        <p:cNvGrpSpPr/>
        <p:nvPr/>
      </p:nvGrpSpPr>
      <p:grpSpPr>
        <a:xfrm>
          <a:off x="0" y="0"/>
          <a:ext cx="0" cy="0"/>
          <a:chOff x="0" y="0"/>
          <a:chExt cx="0" cy="0"/>
        </a:xfrm>
      </p:grpSpPr>
      <p:grpSp>
        <p:nvGrpSpPr>
          <p:cNvPr name="Group 2" id="2"/>
          <p:cNvGrpSpPr/>
          <p:nvPr/>
        </p:nvGrpSpPr>
        <p:grpSpPr>
          <a:xfrm rot="0">
            <a:off x="10573675" y="1522587"/>
            <a:ext cx="6862132" cy="6862132"/>
            <a:chOff x="0" y="0"/>
            <a:chExt cx="9149510" cy="9149510"/>
          </a:xfrm>
        </p:grpSpPr>
        <p:sp>
          <p:nvSpPr>
            <p:cNvPr name="Freeform 3" id="3"/>
            <p:cNvSpPr/>
            <p:nvPr/>
          </p:nvSpPr>
          <p:spPr>
            <a:xfrm flipH="false" flipV="false" rot="0">
              <a:off x="0" y="0"/>
              <a:ext cx="9149510" cy="9149510"/>
            </a:xfrm>
            <a:custGeom>
              <a:avLst/>
              <a:gdLst/>
              <a:ahLst/>
              <a:cxnLst/>
              <a:rect r="r" b="b" t="t" l="l"/>
              <a:pathLst>
                <a:path h="9149510" w="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341154" y="287255"/>
              <a:ext cx="444643" cy="430091"/>
            </a:xfrm>
            <a:custGeom>
              <a:avLst/>
              <a:gdLst/>
              <a:ahLst/>
              <a:cxnLst/>
              <a:rect r="r" b="b" t="t" l="l"/>
              <a:pathLst>
                <a:path h="430091" w="444643">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5" id="5"/>
          <p:cNvGrpSpPr/>
          <p:nvPr/>
        </p:nvGrpSpPr>
        <p:grpSpPr>
          <a:xfrm rot="0">
            <a:off x="10397168" y="1969932"/>
            <a:ext cx="6862132" cy="6862132"/>
            <a:chOff x="0" y="0"/>
            <a:chExt cx="9149510" cy="9149510"/>
          </a:xfrm>
        </p:grpSpPr>
        <p:sp>
          <p:nvSpPr>
            <p:cNvPr name="Freeform 6" id="6"/>
            <p:cNvSpPr/>
            <p:nvPr/>
          </p:nvSpPr>
          <p:spPr>
            <a:xfrm flipH="false" flipV="false" rot="0">
              <a:off x="0" y="0"/>
              <a:ext cx="9149510" cy="9149510"/>
            </a:xfrm>
            <a:custGeom>
              <a:avLst/>
              <a:gdLst/>
              <a:ahLst/>
              <a:cxnLst/>
              <a:rect r="r" b="b" t="t" l="l"/>
              <a:pathLst>
                <a:path h="9149510" w="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341154" y="287255"/>
              <a:ext cx="444643" cy="430091"/>
            </a:xfrm>
            <a:custGeom>
              <a:avLst/>
              <a:gdLst/>
              <a:ahLst/>
              <a:cxnLst/>
              <a:rect r="r" b="b" t="t" l="l"/>
              <a:pathLst>
                <a:path h="430091" w="444643">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8" id="8"/>
          <p:cNvGrpSpPr/>
          <p:nvPr/>
        </p:nvGrpSpPr>
        <p:grpSpPr>
          <a:xfrm rot="0">
            <a:off x="237414" y="1284230"/>
            <a:ext cx="6862132" cy="6862132"/>
            <a:chOff x="0" y="0"/>
            <a:chExt cx="9149510" cy="9149510"/>
          </a:xfrm>
        </p:grpSpPr>
        <p:sp>
          <p:nvSpPr>
            <p:cNvPr name="Freeform 9" id="9"/>
            <p:cNvSpPr/>
            <p:nvPr/>
          </p:nvSpPr>
          <p:spPr>
            <a:xfrm flipH="false" flipV="false" rot="0">
              <a:off x="0" y="0"/>
              <a:ext cx="9149510" cy="9149510"/>
            </a:xfrm>
            <a:custGeom>
              <a:avLst/>
              <a:gdLst/>
              <a:ahLst/>
              <a:cxnLst/>
              <a:rect r="r" b="b" t="t" l="l"/>
              <a:pathLst>
                <a:path h="9149510" w="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341154" y="287255"/>
              <a:ext cx="444643" cy="430091"/>
            </a:xfrm>
            <a:custGeom>
              <a:avLst/>
              <a:gdLst/>
              <a:ahLst/>
              <a:cxnLst/>
              <a:rect r="r" b="b" t="t" l="l"/>
              <a:pathLst>
                <a:path h="430091" w="444643">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1" id="11"/>
          <p:cNvGrpSpPr/>
          <p:nvPr/>
        </p:nvGrpSpPr>
        <p:grpSpPr>
          <a:xfrm rot="0">
            <a:off x="129294" y="1712434"/>
            <a:ext cx="6862132" cy="6862132"/>
            <a:chOff x="0" y="0"/>
            <a:chExt cx="9149510" cy="9149510"/>
          </a:xfrm>
        </p:grpSpPr>
        <p:sp>
          <p:nvSpPr>
            <p:cNvPr name="Freeform 12" id="12"/>
            <p:cNvSpPr/>
            <p:nvPr/>
          </p:nvSpPr>
          <p:spPr>
            <a:xfrm flipH="false" flipV="false" rot="0">
              <a:off x="0" y="0"/>
              <a:ext cx="9149510" cy="9149510"/>
            </a:xfrm>
            <a:custGeom>
              <a:avLst/>
              <a:gdLst/>
              <a:ahLst/>
              <a:cxnLst/>
              <a:rect r="r" b="b" t="t" l="l"/>
              <a:pathLst>
                <a:path h="9149510" w="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8341154" y="287255"/>
              <a:ext cx="444643" cy="430091"/>
            </a:xfrm>
            <a:custGeom>
              <a:avLst/>
              <a:gdLst/>
              <a:ahLst/>
              <a:cxnLst/>
              <a:rect r="r" b="b" t="t" l="l"/>
              <a:pathLst>
                <a:path h="430091" w="444643">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4" id="14"/>
          <p:cNvSpPr txBox="true"/>
          <p:nvPr/>
        </p:nvSpPr>
        <p:spPr>
          <a:xfrm rot="0">
            <a:off x="397045" y="211080"/>
            <a:ext cx="6326630" cy="1073150"/>
          </a:xfrm>
          <a:prstGeom prst="rect">
            <a:avLst/>
          </a:prstGeom>
        </p:spPr>
        <p:txBody>
          <a:bodyPr anchor="t" rtlCol="false" tIns="0" lIns="0" bIns="0" rIns="0">
            <a:spAutoFit/>
          </a:bodyPr>
          <a:lstStyle/>
          <a:p>
            <a:pPr>
              <a:lnSpc>
                <a:spcPts val="6999"/>
              </a:lnSpc>
            </a:pPr>
            <a:r>
              <a:rPr lang="en-US" sz="6999">
                <a:solidFill>
                  <a:srgbClr val="FFFFFF"/>
                </a:solidFill>
                <a:latin typeface="Retropix"/>
              </a:rPr>
              <a:t>Introduction</a:t>
            </a:r>
          </a:p>
        </p:txBody>
      </p:sp>
      <p:grpSp>
        <p:nvGrpSpPr>
          <p:cNvPr name="Group 15" id="15"/>
          <p:cNvGrpSpPr/>
          <p:nvPr/>
        </p:nvGrpSpPr>
        <p:grpSpPr>
          <a:xfrm rot="0">
            <a:off x="0" y="9052698"/>
            <a:ext cx="18288000" cy="1234302"/>
            <a:chOff x="0" y="0"/>
            <a:chExt cx="4816593" cy="325084"/>
          </a:xfrm>
        </p:grpSpPr>
        <p:sp>
          <p:nvSpPr>
            <p:cNvPr name="Freeform 16" id="16"/>
            <p:cNvSpPr/>
            <p:nvPr/>
          </p:nvSpPr>
          <p:spPr>
            <a:xfrm flipH="false" flipV="false" rot="0">
              <a:off x="0" y="0"/>
              <a:ext cx="4816592" cy="325084"/>
            </a:xfrm>
            <a:custGeom>
              <a:avLst/>
              <a:gdLst/>
              <a:ahLst/>
              <a:cxnLst/>
              <a:rect r="r" b="b" t="t" l="l"/>
              <a:pathLst>
                <a:path h="325084" w="4816592">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name="TextBox 17" id="17"/>
            <p:cNvSpPr txBox="true"/>
            <p:nvPr/>
          </p:nvSpPr>
          <p:spPr>
            <a:xfrm>
              <a:off x="0" y="-38100"/>
              <a:ext cx="4816593" cy="363184"/>
            </a:xfrm>
            <a:prstGeom prst="rect">
              <a:avLst/>
            </a:prstGeom>
          </p:spPr>
          <p:txBody>
            <a:bodyPr anchor="ctr" rtlCol="false" tIns="254000" lIns="254000" bIns="254000" rIns="254000"/>
            <a:lstStyle/>
            <a:p>
              <a:pPr>
                <a:lnSpc>
                  <a:spcPts val="2100"/>
                </a:lnSpc>
              </a:pPr>
            </a:p>
          </p:txBody>
        </p:sp>
      </p:grpSp>
      <p:grpSp>
        <p:nvGrpSpPr>
          <p:cNvPr name="Group 18" id="18"/>
          <p:cNvGrpSpPr/>
          <p:nvPr/>
        </p:nvGrpSpPr>
        <p:grpSpPr>
          <a:xfrm rot="0">
            <a:off x="237414" y="9267586"/>
            <a:ext cx="804526" cy="804526"/>
            <a:chOff x="0" y="0"/>
            <a:chExt cx="1072702" cy="1072702"/>
          </a:xfrm>
        </p:grpSpPr>
        <p:sp>
          <p:nvSpPr>
            <p:cNvPr name="Freeform 19" id="19"/>
            <p:cNvSpPr/>
            <p:nvPr/>
          </p:nvSpPr>
          <p:spPr>
            <a:xfrm flipH="false" flipV="false" rot="0">
              <a:off x="0" y="0"/>
              <a:ext cx="1072702" cy="1072702"/>
            </a:xfrm>
            <a:custGeom>
              <a:avLst/>
              <a:gdLst/>
              <a:ahLst/>
              <a:cxnLst/>
              <a:rect r="r" b="b" t="t" l="l"/>
              <a:pathLst>
                <a:path h="1072702" w="1072702">
                  <a:moveTo>
                    <a:pt x="0" y="0"/>
                  </a:moveTo>
                  <a:lnTo>
                    <a:pt x="1072702" y="0"/>
                  </a:lnTo>
                  <a:lnTo>
                    <a:pt x="1072702" y="1072702"/>
                  </a:lnTo>
                  <a:lnTo>
                    <a:pt x="0" y="10727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58445" y="150016"/>
              <a:ext cx="755811" cy="772669"/>
            </a:xfrm>
            <a:custGeom>
              <a:avLst/>
              <a:gdLst/>
              <a:ahLst/>
              <a:cxnLst/>
              <a:rect r="r" b="b" t="t" l="l"/>
              <a:pathLst>
                <a:path h="772669" w="755811">
                  <a:moveTo>
                    <a:pt x="0" y="0"/>
                  </a:moveTo>
                  <a:lnTo>
                    <a:pt x="755811" y="0"/>
                  </a:lnTo>
                  <a:lnTo>
                    <a:pt x="755811" y="772670"/>
                  </a:lnTo>
                  <a:lnTo>
                    <a:pt x="0" y="7726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21" id="21"/>
          <p:cNvSpPr/>
          <p:nvPr/>
        </p:nvSpPr>
        <p:spPr>
          <a:xfrm flipH="false" flipV="false" rot="0">
            <a:off x="1423082" y="9291263"/>
            <a:ext cx="807064" cy="757173"/>
          </a:xfrm>
          <a:custGeom>
            <a:avLst/>
            <a:gdLst/>
            <a:ahLst/>
            <a:cxnLst/>
            <a:rect r="r" b="b" t="t" l="l"/>
            <a:pathLst>
              <a:path h="757173" w="807064">
                <a:moveTo>
                  <a:pt x="0" y="0"/>
                </a:moveTo>
                <a:lnTo>
                  <a:pt x="807064" y="0"/>
                </a:lnTo>
                <a:lnTo>
                  <a:pt x="807064" y="757173"/>
                </a:lnTo>
                <a:lnTo>
                  <a:pt x="0" y="7571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2395752" y="9327294"/>
            <a:ext cx="662689" cy="685111"/>
          </a:xfrm>
          <a:custGeom>
            <a:avLst/>
            <a:gdLst/>
            <a:ahLst/>
            <a:cxnLst/>
            <a:rect r="r" b="b" t="t" l="l"/>
            <a:pathLst>
              <a:path h="685111" w="662689">
                <a:moveTo>
                  <a:pt x="0" y="0"/>
                </a:moveTo>
                <a:lnTo>
                  <a:pt x="662688" y="0"/>
                </a:lnTo>
                <a:lnTo>
                  <a:pt x="662688" y="685110"/>
                </a:lnTo>
                <a:lnTo>
                  <a:pt x="0" y="6851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3" id="23"/>
          <p:cNvSpPr/>
          <p:nvPr/>
        </p:nvSpPr>
        <p:spPr>
          <a:xfrm flipH="false" flipV="false" rot="0">
            <a:off x="4062279" y="9335724"/>
            <a:ext cx="668249" cy="668249"/>
          </a:xfrm>
          <a:custGeom>
            <a:avLst/>
            <a:gdLst/>
            <a:ahLst/>
            <a:cxnLst/>
            <a:rect r="r" b="b" t="t" l="l"/>
            <a:pathLst>
              <a:path h="668249" w="668249">
                <a:moveTo>
                  <a:pt x="0" y="0"/>
                </a:moveTo>
                <a:lnTo>
                  <a:pt x="668250" y="0"/>
                </a:lnTo>
                <a:lnTo>
                  <a:pt x="668250" y="668250"/>
                </a:lnTo>
                <a:lnTo>
                  <a:pt x="0" y="66825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4" id="24"/>
          <p:cNvSpPr/>
          <p:nvPr/>
        </p:nvSpPr>
        <p:spPr>
          <a:xfrm flipH="false" flipV="false" rot="0">
            <a:off x="3224046" y="9309278"/>
            <a:ext cx="672629" cy="721142"/>
          </a:xfrm>
          <a:custGeom>
            <a:avLst/>
            <a:gdLst/>
            <a:ahLst/>
            <a:cxnLst/>
            <a:rect r="r" b="b" t="t" l="l"/>
            <a:pathLst>
              <a:path h="721142" w="672629">
                <a:moveTo>
                  <a:pt x="0" y="0"/>
                </a:moveTo>
                <a:lnTo>
                  <a:pt x="672628" y="0"/>
                </a:lnTo>
                <a:lnTo>
                  <a:pt x="672628" y="721142"/>
                </a:lnTo>
                <a:lnTo>
                  <a:pt x="0" y="72114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5" id="25"/>
          <p:cNvSpPr/>
          <p:nvPr/>
        </p:nvSpPr>
        <p:spPr>
          <a:xfrm flipH="false" flipV="false" rot="0">
            <a:off x="4877084" y="9291263"/>
            <a:ext cx="905315" cy="757173"/>
          </a:xfrm>
          <a:custGeom>
            <a:avLst/>
            <a:gdLst/>
            <a:ahLst/>
            <a:cxnLst/>
            <a:rect r="r" b="b" t="t" l="l"/>
            <a:pathLst>
              <a:path h="757173" w="905315">
                <a:moveTo>
                  <a:pt x="0" y="0"/>
                </a:moveTo>
                <a:lnTo>
                  <a:pt x="905315" y="0"/>
                </a:lnTo>
                <a:lnTo>
                  <a:pt x="905315" y="757173"/>
                </a:lnTo>
                <a:lnTo>
                  <a:pt x="0" y="75717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6" id="26"/>
          <p:cNvGrpSpPr/>
          <p:nvPr/>
        </p:nvGrpSpPr>
        <p:grpSpPr>
          <a:xfrm rot="0">
            <a:off x="15109868" y="9297158"/>
            <a:ext cx="2801811" cy="712035"/>
            <a:chOff x="0" y="0"/>
            <a:chExt cx="737925" cy="187532"/>
          </a:xfrm>
        </p:grpSpPr>
        <p:sp>
          <p:nvSpPr>
            <p:cNvPr name="Freeform 27" id="27"/>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28" id="28"/>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20" action="ppaction://hlinksldjump"/>
                </a:rPr>
                <a:t>Back to Agenda Page</a:t>
              </a:r>
            </a:p>
          </p:txBody>
        </p:sp>
      </p:grpSp>
      <p:sp>
        <p:nvSpPr>
          <p:cNvPr name="Freeform 29" id="29"/>
          <p:cNvSpPr/>
          <p:nvPr/>
        </p:nvSpPr>
        <p:spPr>
          <a:xfrm flipH="false" flipV="false" rot="0">
            <a:off x="5087374" y="838621"/>
            <a:ext cx="484735" cy="825401"/>
          </a:xfrm>
          <a:custGeom>
            <a:avLst/>
            <a:gdLst/>
            <a:ahLst/>
            <a:cxnLst/>
            <a:rect r="r" b="b" t="t" l="l"/>
            <a:pathLst>
              <a:path h="825401" w="484735">
                <a:moveTo>
                  <a:pt x="0" y="0"/>
                </a:moveTo>
                <a:lnTo>
                  <a:pt x="484735" y="0"/>
                </a:lnTo>
                <a:lnTo>
                  <a:pt x="484735" y="825401"/>
                </a:lnTo>
                <a:lnTo>
                  <a:pt x="0" y="82540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0" id="30"/>
          <p:cNvSpPr txBox="true"/>
          <p:nvPr/>
        </p:nvSpPr>
        <p:spPr>
          <a:xfrm rot="0">
            <a:off x="129294" y="2884950"/>
            <a:ext cx="6594381" cy="5251466"/>
          </a:xfrm>
          <a:prstGeom prst="rect">
            <a:avLst/>
          </a:prstGeom>
        </p:spPr>
        <p:txBody>
          <a:bodyPr anchor="t" rtlCol="false" tIns="0" lIns="0" bIns="0" rIns="0">
            <a:spAutoFit/>
          </a:bodyPr>
          <a:lstStyle/>
          <a:p>
            <a:pPr marL="539613" indent="-269807" lvl="1">
              <a:lnSpc>
                <a:spcPts val="3499"/>
              </a:lnSpc>
              <a:buFont typeface="Arial"/>
              <a:buChar char="•"/>
            </a:pPr>
            <a:r>
              <a:rPr lang="en-US" sz="2499">
                <a:solidFill>
                  <a:srgbClr val="000000"/>
                </a:solidFill>
                <a:latin typeface="Public Sans"/>
              </a:rPr>
              <a:t>Predicting loan repayments is vital for effective financial risk management in lending institutions.</a:t>
            </a:r>
          </a:p>
          <a:p>
            <a:pPr marL="539613" indent="-269807" lvl="1">
              <a:lnSpc>
                <a:spcPts val="3499"/>
              </a:lnSpc>
              <a:buFont typeface="Arial"/>
              <a:buChar char="•"/>
            </a:pPr>
            <a:r>
              <a:rPr lang="en-US" sz="2499">
                <a:solidFill>
                  <a:srgbClr val="000000"/>
                </a:solidFill>
                <a:latin typeface="Public Sans"/>
              </a:rPr>
              <a:t>Dataset Overview: We utilized an anonymized loan default dataset sourced from Kaggle. It includes various features such as loan amount, term, interest rate, installment, employment length, home ownership, annual income, loan status, purpose, and a binary indicator</a:t>
            </a:r>
            <a:r>
              <a:rPr lang="en-US" sz="2499">
                <a:solidFill>
                  <a:srgbClr val="000000"/>
                </a:solidFill>
                <a:latin typeface="Public Sans"/>
              </a:rPr>
              <a:t> for repayment failure.</a:t>
            </a:r>
          </a:p>
          <a:p>
            <a:pPr>
              <a:lnSpc>
                <a:spcPts val="3499"/>
              </a:lnSpc>
            </a:pPr>
          </a:p>
        </p:txBody>
      </p:sp>
      <p:sp>
        <p:nvSpPr>
          <p:cNvPr name="Freeform 31" id="31"/>
          <p:cNvSpPr/>
          <p:nvPr/>
        </p:nvSpPr>
        <p:spPr>
          <a:xfrm flipH="false" flipV="false" rot="0">
            <a:off x="5572109" y="114295"/>
            <a:ext cx="746029" cy="724326"/>
          </a:xfrm>
          <a:custGeom>
            <a:avLst/>
            <a:gdLst/>
            <a:ahLst/>
            <a:cxnLst/>
            <a:rect r="r" b="b" t="t" l="l"/>
            <a:pathLst>
              <a:path h="724326" w="746029">
                <a:moveTo>
                  <a:pt x="0" y="0"/>
                </a:moveTo>
                <a:lnTo>
                  <a:pt x="746029" y="0"/>
                </a:lnTo>
                <a:lnTo>
                  <a:pt x="746029" y="724326"/>
                </a:lnTo>
                <a:lnTo>
                  <a:pt x="0" y="7243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2" id="32"/>
          <p:cNvSpPr/>
          <p:nvPr/>
        </p:nvSpPr>
        <p:spPr>
          <a:xfrm flipH="false" flipV="false" rot="-1702235">
            <a:off x="7272194" y="4540911"/>
            <a:ext cx="2884139" cy="2485604"/>
          </a:xfrm>
          <a:custGeom>
            <a:avLst/>
            <a:gdLst/>
            <a:ahLst/>
            <a:cxnLst/>
            <a:rect r="r" b="b" t="t" l="l"/>
            <a:pathLst>
              <a:path h="2485604" w="2884139">
                <a:moveTo>
                  <a:pt x="0" y="0"/>
                </a:moveTo>
                <a:lnTo>
                  <a:pt x="2884139" y="0"/>
                </a:lnTo>
                <a:lnTo>
                  <a:pt x="2884139" y="2485604"/>
                </a:lnTo>
                <a:lnTo>
                  <a:pt x="0" y="248560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33" id="33"/>
          <p:cNvSpPr txBox="true"/>
          <p:nvPr/>
        </p:nvSpPr>
        <p:spPr>
          <a:xfrm rot="0">
            <a:off x="10573675" y="3403923"/>
            <a:ext cx="6263314" cy="3937000"/>
          </a:xfrm>
          <a:prstGeom prst="rect">
            <a:avLst/>
          </a:prstGeom>
        </p:spPr>
        <p:txBody>
          <a:bodyPr anchor="t" rtlCol="false" tIns="0" lIns="0" bIns="0" rIns="0">
            <a:spAutoFit/>
          </a:bodyPr>
          <a:lstStyle/>
          <a:p>
            <a:pPr>
              <a:lnSpc>
                <a:spcPts val="3499"/>
              </a:lnSpc>
            </a:pPr>
            <a:r>
              <a:rPr lang="en-US" sz="2499">
                <a:solidFill>
                  <a:srgbClr val="000000"/>
                </a:solidFill>
                <a:latin typeface="Public Sans Bold"/>
              </a:rPr>
              <a:t>Objectives of the Stu</a:t>
            </a:r>
            <a:r>
              <a:rPr lang="en-US" sz="2499">
                <a:solidFill>
                  <a:srgbClr val="000000"/>
                </a:solidFill>
                <a:latin typeface="Public Sans Bold"/>
              </a:rPr>
              <a:t>dy:</a:t>
            </a:r>
          </a:p>
          <a:p>
            <a:pPr marL="539749" indent="-269875" lvl="1">
              <a:lnSpc>
                <a:spcPts val="3499"/>
              </a:lnSpc>
              <a:buFont typeface="Arial"/>
              <a:buChar char="•"/>
            </a:pPr>
            <a:r>
              <a:rPr lang="en-US" sz="2499">
                <a:solidFill>
                  <a:srgbClr val="000000"/>
                </a:solidFill>
                <a:latin typeface="Public Sans"/>
              </a:rPr>
              <a:t>Our objective is to develop robust predictive models to forecast the likelihood of loan repayment based on available data.</a:t>
            </a:r>
          </a:p>
          <a:p>
            <a:pPr marL="539749" indent="-269875" lvl="1">
              <a:lnSpc>
                <a:spcPts val="3499"/>
              </a:lnSpc>
              <a:buFont typeface="Arial"/>
              <a:buChar char="•"/>
            </a:pPr>
            <a:r>
              <a:rPr lang="en-US" sz="2499">
                <a:solidFill>
                  <a:srgbClr val="000000"/>
                </a:solidFill>
                <a:latin typeface="Public Sans"/>
              </a:rPr>
              <a:t>By leveraging this dataset, we aim to enhance the accuracy and reliability of loan repayment forecasting for banks and lenders worldwide.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16736" y="-5817236"/>
            <a:ext cx="21921472" cy="21921472"/>
          </a:xfrm>
          <a:custGeom>
            <a:avLst/>
            <a:gdLst/>
            <a:ahLst/>
            <a:cxnLst/>
            <a:rect r="r" b="b" t="t" l="l"/>
            <a:pathLst>
              <a:path h="21921472" w="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36596" y="1839339"/>
            <a:ext cx="14235927" cy="6629441"/>
            <a:chOff x="0" y="0"/>
            <a:chExt cx="3749380" cy="1746026"/>
          </a:xfrm>
        </p:grpSpPr>
        <p:sp>
          <p:nvSpPr>
            <p:cNvPr name="Freeform 4" id="4"/>
            <p:cNvSpPr/>
            <p:nvPr/>
          </p:nvSpPr>
          <p:spPr>
            <a:xfrm flipH="false" flipV="false" rot="0">
              <a:off x="0" y="0"/>
              <a:ext cx="3749380" cy="1746026"/>
            </a:xfrm>
            <a:custGeom>
              <a:avLst/>
              <a:gdLst/>
              <a:ahLst/>
              <a:cxnLst/>
              <a:rect r="r" b="b" t="t" l="l"/>
              <a:pathLst>
                <a:path h="1746026" w="3749380">
                  <a:moveTo>
                    <a:pt x="0" y="0"/>
                  </a:moveTo>
                  <a:lnTo>
                    <a:pt x="3749380" y="0"/>
                  </a:lnTo>
                  <a:lnTo>
                    <a:pt x="3749380" y="1746026"/>
                  </a:lnTo>
                  <a:lnTo>
                    <a:pt x="0" y="1746026"/>
                  </a:lnTo>
                  <a:close/>
                </a:path>
              </a:pathLst>
            </a:custGeom>
            <a:solidFill>
              <a:srgbClr val="FEFF99"/>
            </a:solidFill>
            <a:ln w="95250" cap="sq">
              <a:solidFill>
                <a:srgbClr val="CCCCCC"/>
              </a:solidFill>
              <a:prstDash val="sysDot"/>
              <a:miter/>
            </a:ln>
          </p:spPr>
        </p:sp>
        <p:sp>
          <p:nvSpPr>
            <p:cNvPr name="TextBox 5" id="5"/>
            <p:cNvSpPr txBox="true"/>
            <p:nvPr/>
          </p:nvSpPr>
          <p:spPr>
            <a:xfrm>
              <a:off x="0" y="-38100"/>
              <a:ext cx="3749380" cy="1784126"/>
            </a:xfrm>
            <a:prstGeom prst="rect">
              <a:avLst/>
            </a:prstGeom>
          </p:spPr>
          <p:txBody>
            <a:bodyPr anchor="ctr" rtlCol="false" tIns="50800" lIns="50800" bIns="50800" rIns="50800"/>
            <a:lstStyle/>
            <a:p>
              <a:pPr algn="ctr">
                <a:lnSpc>
                  <a:spcPts val="2100"/>
                </a:lnSpc>
              </a:pPr>
            </a:p>
          </p:txBody>
        </p:sp>
      </p:grpSp>
      <p:grpSp>
        <p:nvGrpSpPr>
          <p:cNvPr name="Group 6" id="6"/>
          <p:cNvGrpSpPr/>
          <p:nvPr/>
        </p:nvGrpSpPr>
        <p:grpSpPr>
          <a:xfrm rot="0">
            <a:off x="-1301375" y="0"/>
            <a:ext cx="20890750" cy="795781"/>
            <a:chOff x="0" y="0"/>
            <a:chExt cx="27854334" cy="1061041"/>
          </a:xfrm>
        </p:grpSpPr>
        <p:grpSp>
          <p:nvGrpSpPr>
            <p:cNvPr name="Group 7" id="7"/>
            <p:cNvGrpSpPr/>
            <p:nvPr/>
          </p:nvGrpSpPr>
          <p:grpSpPr>
            <a:xfrm rot="0">
              <a:off x="0" y="0"/>
              <a:ext cx="27854334" cy="1061041"/>
              <a:chOff x="0" y="0"/>
              <a:chExt cx="5502091" cy="209588"/>
            </a:xfrm>
          </p:grpSpPr>
          <p:sp>
            <p:nvSpPr>
              <p:cNvPr name="Freeform 8" id="8"/>
              <p:cNvSpPr/>
              <p:nvPr/>
            </p:nvSpPr>
            <p:spPr>
              <a:xfrm flipH="false" flipV="false" rot="0">
                <a:off x="0" y="0"/>
                <a:ext cx="5502091" cy="209588"/>
              </a:xfrm>
              <a:custGeom>
                <a:avLst/>
                <a:gdLst/>
                <a:ahLst/>
                <a:cxnLst/>
                <a:rect r="r" b="b" t="t" l="l"/>
                <a:pathLst>
                  <a:path h="209588" w="5502091">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name="TextBox 9" id="9"/>
              <p:cNvSpPr txBox="true"/>
              <p:nvPr/>
            </p:nvSpPr>
            <p:spPr>
              <a:xfrm>
                <a:off x="0" y="-47625"/>
                <a:ext cx="5502091" cy="257213"/>
              </a:xfrm>
              <a:prstGeom prst="rect">
                <a:avLst/>
              </a:prstGeom>
            </p:spPr>
            <p:txBody>
              <a:bodyPr anchor="ctr" rtlCol="false" tIns="254000" lIns="254000" bIns="254000" rIns="254000"/>
              <a:lstStyle/>
              <a:p>
                <a:pPr>
                  <a:lnSpc>
                    <a:spcPts val="3499"/>
                  </a:lnSpc>
                </a:pPr>
              </a:p>
            </p:txBody>
          </p:sp>
        </p:grpSp>
        <p:sp>
          <p:nvSpPr>
            <p:cNvPr name="TextBox 10" id="10"/>
            <p:cNvSpPr txBox="true"/>
            <p:nvPr/>
          </p:nvSpPr>
          <p:spPr>
            <a:xfrm rot="0">
              <a:off x="439275" y="269112"/>
              <a:ext cx="26975784"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Data Preprocessing • Data Preprocessing • Data Preprocessing • Data Preprocessing • Data Preprocessing • Data Preprocessing • Data </a:t>
              </a:r>
            </a:p>
          </p:txBody>
        </p:sp>
      </p:grpSp>
      <p:grpSp>
        <p:nvGrpSpPr>
          <p:cNvPr name="Group 11" id="11"/>
          <p:cNvGrpSpPr/>
          <p:nvPr/>
        </p:nvGrpSpPr>
        <p:grpSpPr>
          <a:xfrm rot="0">
            <a:off x="-1301375" y="9491219"/>
            <a:ext cx="20890750" cy="795781"/>
            <a:chOff x="0" y="0"/>
            <a:chExt cx="27854334" cy="1061041"/>
          </a:xfrm>
        </p:grpSpPr>
        <p:grpSp>
          <p:nvGrpSpPr>
            <p:cNvPr name="Group 12" id="12"/>
            <p:cNvGrpSpPr/>
            <p:nvPr/>
          </p:nvGrpSpPr>
          <p:grpSpPr>
            <a:xfrm rot="0">
              <a:off x="0" y="0"/>
              <a:ext cx="27854334" cy="1061041"/>
              <a:chOff x="0" y="0"/>
              <a:chExt cx="5502091" cy="209588"/>
            </a:xfrm>
          </p:grpSpPr>
          <p:sp>
            <p:nvSpPr>
              <p:cNvPr name="Freeform 13" id="13"/>
              <p:cNvSpPr/>
              <p:nvPr/>
            </p:nvSpPr>
            <p:spPr>
              <a:xfrm flipH="false" flipV="false" rot="0">
                <a:off x="0" y="0"/>
                <a:ext cx="5502091" cy="209588"/>
              </a:xfrm>
              <a:custGeom>
                <a:avLst/>
                <a:gdLst/>
                <a:ahLst/>
                <a:cxnLst/>
                <a:rect r="r" b="b" t="t" l="l"/>
                <a:pathLst>
                  <a:path h="209588" w="5502091">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name="TextBox 14" id="14"/>
              <p:cNvSpPr txBox="true"/>
              <p:nvPr/>
            </p:nvSpPr>
            <p:spPr>
              <a:xfrm>
                <a:off x="0" y="-47625"/>
                <a:ext cx="5502091" cy="257213"/>
              </a:xfrm>
              <a:prstGeom prst="rect">
                <a:avLst/>
              </a:prstGeom>
            </p:spPr>
            <p:txBody>
              <a:bodyPr anchor="ctr" rtlCol="false" tIns="254000" lIns="254000" bIns="254000" rIns="254000"/>
              <a:lstStyle/>
              <a:p>
                <a:pPr>
                  <a:lnSpc>
                    <a:spcPts val="3499"/>
                  </a:lnSpc>
                </a:pPr>
              </a:p>
            </p:txBody>
          </p:sp>
        </p:grpSp>
        <p:sp>
          <p:nvSpPr>
            <p:cNvPr name="TextBox 15" id="15"/>
            <p:cNvSpPr txBox="true"/>
            <p:nvPr/>
          </p:nvSpPr>
          <p:spPr>
            <a:xfrm rot="0">
              <a:off x="439275" y="269112"/>
              <a:ext cx="26975784"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Data Preprocessing • Data Preprocessing • Data Preprocessing • Data Preprocessing • Data Preprocessing • Data Preprocessing • Data</a:t>
              </a:r>
              <a:r>
                <a:rPr lang="en-US" sz="2499">
                  <a:solidFill>
                    <a:srgbClr val="FFFFFF"/>
                  </a:solidFill>
                  <a:latin typeface="Retropix"/>
                </a:rPr>
                <a:t> </a:t>
              </a:r>
            </a:p>
          </p:txBody>
        </p:sp>
      </p:grpSp>
      <p:grpSp>
        <p:nvGrpSpPr>
          <p:cNvPr name="Group 16" id="16"/>
          <p:cNvGrpSpPr/>
          <p:nvPr/>
        </p:nvGrpSpPr>
        <p:grpSpPr>
          <a:xfrm rot="0">
            <a:off x="807747" y="7165798"/>
            <a:ext cx="2801811" cy="712035"/>
            <a:chOff x="0" y="0"/>
            <a:chExt cx="737925" cy="187532"/>
          </a:xfrm>
        </p:grpSpPr>
        <p:sp>
          <p:nvSpPr>
            <p:cNvPr name="Freeform 17" id="17"/>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18" id="18"/>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4" action="ppaction://hlinksldjump"/>
                </a:rPr>
                <a:t>Back to Agenda Page</a:t>
              </a:r>
            </a:p>
          </p:txBody>
        </p:sp>
      </p:grpSp>
      <p:grpSp>
        <p:nvGrpSpPr>
          <p:cNvPr name="Group 19" id="19"/>
          <p:cNvGrpSpPr/>
          <p:nvPr/>
        </p:nvGrpSpPr>
        <p:grpSpPr>
          <a:xfrm rot="0">
            <a:off x="15600318" y="4759728"/>
            <a:ext cx="1658982" cy="4147456"/>
            <a:chOff x="0" y="0"/>
            <a:chExt cx="2211976" cy="5529941"/>
          </a:xfrm>
        </p:grpSpPr>
        <p:sp>
          <p:nvSpPr>
            <p:cNvPr name="Freeform 20" id="20"/>
            <p:cNvSpPr/>
            <p:nvPr/>
          </p:nvSpPr>
          <p:spPr>
            <a:xfrm flipH="false" flipV="false" rot="0">
              <a:off x="0" y="0"/>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105988" y="0"/>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0" y="2211976"/>
              <a:ext cx="1105988" cy="1105988"/>
            </a:xfrm>
            <a:custGeom>
              <a:avLst/>
              <a:gdLst/>
              <a:ahLst/>
              <a:cxnLst/>
              <a:rect r="r" b="b" t="t" l="l"/>
              <a:pathLst>
                <a:path h="1105988" w="1105988">
                  <a:moveTo>
                    <a:pt x="0" y="0"/>
                  </a:moveTo>
                  <a:lnTo>
                    <a:pt x="1105988" y="0"/>
                  </a:lnTo>
                  <a:lnTo>
                    <a:pt x="1105988" y="1105989"/>
                  </a:lnTo>
                  <a:lnTo>
                    <a:pt x="0" y="11059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0">
              <a:off x="1105988" y="2211976"/>
              <a:ext cx="1105988" cy="1105988"/>
            </a:xfrm>
            <a:custGeom>
              <a:avLst/>
              <a:gdLst/>
              <a:ahLst/>
              <a:cxnLst/>
              <a:rect r="r" b="b" t="t" l="l"/>
              <a:pathLst>
                <a:path h="1105988" w="1105988">
                  <a:moveTo>
                    <a:pt x="0" y="0"/>
                  </a:moveTo>
                  <a:lnTo>
                    <a:pt x="1105988" y="0"/>
                  </a:lnTo>
                  <a:lnTo>
                    <a:pt x="1105988" y="1105989"/>
                  </a:lnTo>
                  <a:lnTo>
                    <a:pt x="0" y="11059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0" y="1105988"/>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p:cNvSpPr/>
            <p:nvPr/>
          </p:nvSpPr>
          <p:spPr>
            <a:xfrm flipH="false" flipV="false" rot="0">
              <a:off x="1105988" y="1105988"/>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6" id="26"/>
            <p:cNvSpPr/>
            <p:nvPr/>
          </p:nvSpPr>
          <p:spPr>
            <a:xfrm flipH="false" flipV="false" rot="0">
              <a:off x="0" y="3317965"/>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1105988" y="3317965"/>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0" y="4423953"/>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9" id="29"/>
            <p:cNvSpPr/>
            <p:nvPr/>
          </p:nvSpPr>
          <p:spPr>
            <a:xfrm flipH="false" flipV="false" rot="0">
              <a:off x="1105988" y="4423953"/>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0" id="30"/>
            <p:cNvSpPr/>
            <p:nvPr/>
          </p:nvSpPr>
          <p:spPr>
            <a:xfrm flipH="false" flipV="false" rot="0">
              <a:off x="1284474" y="4613333"/>
              <a:ext cx="749016" cy="727227"/>
            </a:xfrm>
            <a:custGeom>
              <a:avLst/>
              <a:gdLst/>
              <a:ahLst/>
              <a:cxnLst/>
              <a:rect r="r" b="b" t="t" l="l"/>
              <a:pathLst>
                <a:path h="727227" w="749016">
                  <a:moveTo>
                    <a:pt x="0" y="0"/>
                  </a:moveTo>
                  <a:lnTo>
                    <a:pt x="749016" y="0"/>
                  </a:lnTo>
                  <a:lnTo>
                    <a:pt x="749016" y="727227"/>
                  </a:lnTo>
                  <a:lnTo>
                    <a:pt x="0" y="727227"/>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sp>
        <p:nvSpPr>
          <p:cNvPr name="Freeform 31" id="31"/>
          <p:cNvSpPr/>
          <p:nvPr/>
        </p:nvSpPr>
        <p:spPr>
          <a:xfrm flipH="false" flipV="false" rot="3207690">
            <a:off x="6778520" y="8056080"/>
            <a:ext cx="484735" cy="825401"/>
          </a:xfrm>
          <a:custGeom>
            <a:avLst/>
            <a:gdLst/>
            <a:ahLst/>
            <a:cxnLst/>
            <a:rect r="r" b="b" t="t" l="l"/>
            <a:pathLst>
              <a:path h="825401" w="484735">
                <a:moveTo>
                  <a:pt x="0" y="0"/>
                </a:moveTo>
                <a:lnTo>
                  <a:pt x="484735" y="0"/>
                </a:lnTo>
                <a:lnTo>
                  <a:pt x="484735" y="825401"/>
                </a:lnTo>
                <a:lnTo>
                  <a:pt x="0" y="82540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32" id="32"/>
          <p:cNvSpPr/>
          <p:nvPr/>
        </p:nvSpPr>
        <p:spPr>
          <a:xfrm flipH="false" flipV="false" rot="0">
            <a:off x="8758723" y="5341101"/>
            <a:ext cx="791673" cy="815394"/>
          </a:xfrm>
          <a:custGeom>
            <a:avLst/>
            <a:gdLst/>
            <a:ahLst/>
            <a:cxnLst/>
            <a:rect r="r" b="b" t="t" l="l"/>
            <a:pathLst>
              <a:path h="815394" w="791673">
                <a:moveTo>
                  <a:pt x="0" y="0"/>
                </a:moveTo>
                <a:lnTo>
                  <a:pt x="791674" y="0"/>
                </a:lnTo>
                <a:lnTo>
                  <a:pt x="791674" y="815394"/>
                </a:lnTo>
                <a:lnTo>
                  <a:pt x="0" y="815394"/>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33" id="33"/>
          <p:cNvSpPr/>
          <p:nvPr/>
        </p:nvSpPr>
        <p:spPr>
          <a:xfrm flipH="false" flipV="false" rot="0">
            <a:off x="2474728" y="2252104"/>
            <a:ext cx="798979" cy="798979"/>
          </a:xfrm>
          <a:custGeom>
            <a:avLst/>
            <a:gdLst/>
            <a:ahLst/>
            <a:cxnLst/>
            <a:rect r="r" b="b" t="t" l="l"/>
            <a:pathLst>
              <a:path h="798979" w="798979">
                <a:moveTo>
                  <a:pt x="0" y="0"/>
                </a:moveTo>
                <a:lnTo>
                  <a:pt x="798979" y="0"/>
                </a:lnTo>
                <a:lnTo>
                  <a:pt x="798979" y="798979"/>
                </a:lnTo>
                <a:lnTo>
                  <a:pt x="0" y="798979"/>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34" id="34"/>
          <p:cNvSpPr txBox="true"/>
          <p:nvPr/>
        </p:nvSpPr>
        <p:spPr>
          <a:xfrm rot="0">
            <a:off x="5023547" y="2816976"/>
            <a:ext cx="8240907" cy="2524125"/>
          </a:xfrm>
          <a:prstGeom prst="rect">
            <a:avLst/>
          </a:prstGeom>
        </p:spPr>
        <p:txBody>
          <a:bodyPr anchor="t" rtlCol="false" tIns="0" lIns="0" bIns="0" rIns="0">
            <a:spAutoFit/>
          </a:bodyPr>
          <a:lstStyle/>
          <a:p>
            <a:pPr algn="ctr">
              <a:lnSpc>
                <a:spcPts val="8999"/>
              </a:lnSpc>
            </a:pPr>
            <a:r>
              <a:rPr lang="en-US" sz="8999">
                <a:solidFill>
                  <a:srgbClr val="000000"/>
                </a:solidFill>
                <a:latin typeface="Retropix Semi-Bold"/>
              </a:rPr>
              <a:t>Data Preprocessing</a:t>
            </a:r>
          </a:p>
        </p:txBody>
      </p:sp>
      <p:sp>
        <p:nvSpPr>
          <p:cNvPr name="Freeform 35" id="35"/>
          <p:cNvSpPr/>
          <p:nvPr/>
        </p:nvSpPr>
        <p:spPr>
          <a:xfrm flipH="false" flipV="false" rot="0">
            <a:off x="13344126" y="2353235"/>
            <a:ext cx="2527153" cy="473267"/>
          </a:xfrm>
          <a:custGeom>
            <a:avLst/>
            <a:gdLst/>
            <a:ahLst/>
            <a:cxnLst/>
            <a:rect r="r" b="b" t="t" l="l"/>
            <a:pathLst>
              <a:path h="473267" w="2527153">
                <a:moveTo>
                  <a:pt x="0" y="0"/>
                </a:moveTo>
                <a:lnTo>
                  <a:pt x="2527153" y="0"/>
                </a:lnTo>
                <a:lnTo>
                  <a:pt x="2527153" y="473266"/>
                </a:lnTo>
                <a:lnTo>
                  <a:pt x="0" y="473266"/>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TextBox 36" id="36"/>
          <p:cNvSpPr txBox="true"/>
          <p:nvPr/>
        </p:nvSpPr>
        <p:spPr>
          <a:xfrm rot="0">
            <a:off x="6830818" y="6271297"/>
            <a:ext cx="4925159" cy="1757045"/>
          </a:xfrm>
          <a:prstGeom prst="rect">
            <a:avLst/>
          </a:prstGeom>
        </p:spPr>
        <p:txBody>
          <a:bodyPr anchor="t" rtlCol="false" tIns="0" lIns="0" bIns="0" rIns="0">
            <a:spAutoFit/>
          </a:bodyPr>
          <a:lstStyle/>
          <a:p>
            <a:pPr marL="431801" indent="-215900" lvl="1">
              <a:lnSpc>
                <a:spcPts val="2740"/>
              </a:lnSpc>
              <a:buFont typeface="Arial"/>
              <a:buChar char="•"/>
            </a:pPr>
            <a:r>
              <a:rPr lang="en-US" sz="2000" spc="32">
                <a:solidFill>
                  <a:srgbClr val="000000"/>
                </a:solidFill>
                <a:latin typeface="Retropix"/>
              </a:rPr>
              <a:t>Loa</a:t>
            </a:r>
            <a:r>
              <a:rPr lang="en-US" sz="2000" spc="32">
                <a:solidFill>
                  <a:srgbClr val="000000"/>
                </a:solidFill>
                <a:latin typeface="Retropix"/>
              </a:rPr>
              <a:t>ding and Cleaning Data</a:t>
            </a:r>
          </a:p>
          <a:p>
            <a:pPr marL="431801" indent="-215900" lvl="1">
              <a:lnSpc>
                <a:spcPts val="2740"/>
              </a:lnSpc>
              <a:buFont typeface="Arial"/>
              <a:buChar char="•"/>
            </a:pPr>
            <a:r>
              <a:rPr lang="en-US" sz="2000" spc="32">
                <a:solidFill>
                  <a:srgbClr val="000000"/>
                </a:solidFill>
                <a:latin typeface="Retropix"/>
              </a:rPr>
              <a:t>Correlation Analysis</a:t>
            </a:r>
          </a:p>
          <a:p>
            <a:pPr marL="431801" indent="-215900" lvl="1">
              <a:lnSpc>
                <a:spcPts val="2740"/>
              </a:lnSpc>
              <a:buFont typeface="Arial"/>
              <a:buChar char="•"/>
            </a:pPr>
            <a:r>
              <a:rPr lang="en-US" sz="2000" spc="32">
                <a:solidFill>
                  <a:srgbClr val="000000"/>
                </a:solidFill>
                <a:latin typeface="Retropix"/>
              </a:rPr>
              <a:t>One-Hot Encoding</a:t>
            </a:r>
          </a:p>
          <a:p>
            <a:pPr marL="431801" indent="-215900" lvl="1">
              <a:lnSpc>
                <a:spcPts val="2740"/>
              </a:lnSpc>
              <a:buFont typeface="Arial"/>
              <a:buChar char="•"/>
            </a:pPr>
            <a:r>
              <a:rPr lang="en-US" sz="2000" spc="32">
                <a:solidFill>
                  <a:srgbClr val="000000"/>
                </a:solidFill>
                <a:latin typeface="Retropix"/>
              </a:rPr>
              <a:t>Data Splitting: Training and Testing Sets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67A7B"/>
        </a:solidFill>
      </p:bgPr>
    </p:bg>
    <p:spTree>
      <p:nvGrpSpPr>
        <p:cNvPr id="1" name=""/>
        <p:cNvGrpSpPr/>
        <p:nvPr/>
      </p:nvGrpSpPr>
      <p:grpSpPr>
        <a:xfrm>
          <a:off x="0" y="0"/>
          <a:ext cx="0" cy="0"/>
          <a:chOff x="0" y="0"/>
          <a:chExt cx="0" cy="0"/>
        </a:xfrm>
      </p:grpSpPr>
      <p:sp>
        <p:nvSpPr>
          <p:cNvPr name="Freeform 2" id="2"/>
          <p:cNvSpPr/>
          <p:nvPr/>
        </p:nvSpPr>
        <p:spPr>
          <a:xfrm flipH="false" flipV="false" rot="0">
            <a:off x="139045" y="18012"/>
            <a:ext cx="3085000" cy="3085000"/>
          </a:xfrm>
          <a:custGeom>
            <a:avLst/>
            <a:gdLst/>
            <a:ahLst/>
            <a:cxnLst/>
            <a:rect r="r" b="b" t="t" l="l"/>
            <a:pathLst>
              <a:path h="3085000" w="3085000">
                <a:moveTo>
                  <a:pt x="0" y="0"/>
                </a:moveTo>
                <a:lnTo>
                  <a:pt x="3085001" y="0"/>
                </a:lnTo>
                <a:lnTo>
                  <a:pt x="3085001" y="3085001"/>
                </a:lnTo>
                <a:lnTo>
                  <a:pt x="0" y="30850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642243" y="5441732"/>
            <a:ext cx="3085000" cy="3085000"/>
          </a:xfrm>
          <a:custGeom>
            <a:avLst/>
            <a:gdLst/>
            <a:ahLst/>
            <a:cxnLst/>
            <a:rect r="r" b="b" t="t" l="l"/>
            <a:pathLst>
              <a:path h="3085000" w="3085000">
                <a:moveTo>
                  <a:pt x="0" y="0"/>
                </a:moveTo>
                <a:lnTo>
                  <a:pt x="3085000" y="0"/>
                </a:lnTo>
                <a:lnTo>
                  <a:pt x="3085000" y="3085000"/>
                </a:lnTo>
                <a:lnTo>
                  <a:pt x="0" y="3085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892986" y="514288"/>
            <a:ext cx="6862132" cy="6862132"/>
            <a:chOff x="0" y="0"/>
            <a:chExt cx="9149510" cy="9149510"/>
          </a:xfrm>
        </p:grpSpPr>
        <p:sp>
          <p:nvSpPr>
            <p:cNvPr name="Freeform 5" id="5"/>
            <p:cNvSpPr/>
            <p:nvPr/>
          </p:nvSpPr>
          <p:spPr>
            <a:xfrm flipH="false" flipV="false" rot="0">
              <a:off x="0" y="0"/>
              <a:ext cx="9149510" cy="9149510"/>
            </a:xfrm>
            <a:custGeom>
              <a:avLst/>
              <a:gdLst/>
              <a:ahLst/>
              <a:cxnLst/>
              <a:rect r="r" b="b" t="t" l="l"/>
              <a:pathLst>
                <a:path h="9149510" w="9149510">
                  <a:moveTo>
                    <a:pt x="0" y="0"/>
                  </a:moveTo>
                  <a:lnTo>
                    <a:pt x="9149510" y="0"/>
                  </a:lnTo>
                  <a:lnTo>
                    <a:pt x="9149510" y="9149510"/>
                  </a:lnTo>
                  <a:lnTo>
                    <a:pt x="0" y="9149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341154" y="287255"/>
              <a:ext cx="444643" cy="430091"/>
            </a:xfrm>
            <a:custGeom>
              <a:avLst/>
              <a:gdLst/>
              <a:ahLst/>
              <a:cxnLst/>
              <a:rect r="r" b="b" t="t" l="l"/>
              <a:pathLst>
                <a:path h="430091" w="444643">
                  <a:moveTo>
                    <a:pt x="0" y="0"/>
                  </a:moveTo>
                  <a:lnTo>
                    <a:pt x="444644" y="0"/>
                  </a:lnTo>
                  <a:lnTo>
                    <a:pt x="444644" y="430092"/>
                  </a:lnTo>
                  <a:lnTo>
                    <a:pt x="0" y="4300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7" id="7"/>
          <p:cNvSpPr/>
          <p:nvPr/>
        </p:nvSpPr>
        <p:spPr>
          <a:xfrm flipH="false" flipV="false" rot="0">
            <a:off x="16510773" y="8009884"/>
            <a:ext cx="974085" cy="745618"/>
          </a:xfrm>
          <a:custGeom>
            <a:avLst/>
            <a:gdLst/>
            <a:ahLst/>
            <a:cxnLst/>
            <a:rect r="r" b="b" t="t" l="l"/>
            <a:pathLst>
              <a:path h="745618" w="974085">
                <a:moveTo>
                  <a:pt x="0" y="0"/>
                </a:moveTo>
                <a:lnTo>
                  <a:pt x="974085" y="0"/>
                </a:lnTo>
                <a:lnTo>
                  <a:pt x="974085" y="745617"/>
                </a:lnTo>
                <a:lnTo>
                  <a:pt x="0" y="7456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0" y="9052698"/>
            <a:ext cx="18288000" cy="1234302"/>
            <a:chOff x="0" y="0"/>
            <a:chExt cx="4816593" cy="325084"/>
          </a:xfrm>
        </p:grpSpPr>
        <p:sp>
          <p:nvSpPr>
            <p:cNvPr name="Freeform 9" id="9"/>
            <p:cNvSpPr/>
            <p:nvPr/>
          </p:nvSpPr>
          <p:spPr>
            <a:xfrm flipH="false" flipV="false" rot="0">
              <a:off x="0" y="0"/>
              <a:ext cx="4816592" cy="325084"/>
            </a:xfrm>
            <a:custGeom>
              <a:avLst/>
              <a:gdLst/>
              <a:ahLst/>
              <a:cxnLst/>
              <a:rect r="r" b="b" t="t" l="l"/>
              <a:pathLst>
                <a:path h="325084" w="4816592">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name="TextBox 10" id="10"/>
            <p:cNvSpPr txBox="true"/>
            <p:nvPr/>
          </p:nvSpPr>
          <p:spPr>
            <a:xfrm>
              <a:off x="0" y="-38100"/>
              <a:ext cx="4816593" cy="363184"/>
            </a:xfrm>
            <a:prstGeom prst="rect">
              <a:avLst/>
            </a:prstGeom>
          </p:spPr>
          <p:txBody>
            <a:bodyPr anchor="ctr" rtlCol="false" tIns="254000" lIns="254000" bIns="254000" rIns="254000"/>
            <a:lstStyle/>
            <a:p>
              <a:pPr>
                <a:lnSpc>
                  <a:spcPts val="2100"/>
                </a:lnSpc>
              </a:pPr>
            </a:p>
          </p:txBody>
        </p:sp>
      </p:grpSp>
      <p:grpSp>
        <p:nvGrpSpPr>
          <p:cNvPr name="Group 11" id="11"/>
          <p:cNvGrpSpPr/>
          <p:nvPr/>
        </p:nvGrpSpPr>
        <p:grpSpPr>
          <a:xfrm rot="0">
            <a:off x="237414" y="9267586"/>
            <a:ext cx="804526" cy="804526"/>
            <a:chOff x="0" y="0"/>
            <a:chExt cx="1072702" cy="1072702"/>
          </a:xfrm>
        </p:grpSpPr>
        <p:sp>
          <p:nvSpPr>
            <p:cNvPr name="Freeform 12" id="12"/>
            <p:cNvSpPr/>
            <p:nvPr/>
          </p:nvSpPr>
          <p:spPr>
            <a:xfrm flipH="false" flipV="false" rot="0">
              <a:off x="0" y="0"/>
              <a:ext cx="1072702" cy="1072702"/>
            </a:xfrm>
            <a:custGeom>
              <a:avLst/>
              <a:gdLst/>
              <a:ahLst/>
              <a:cxnLst/>
              <a:rect r="r" b="b" t="t" l="l"/>
              <a:pathLst>
                <a:path h="1072702" w="1072702">
                  <a:moveTo>
                    <a:pt x="0" y="0"/>
                  </a:moveTo>
                  <a:lnTo>
                    <a:pt x="1072702" y="0"/>
                  </a:lnTo>
                  <a:lnTo>
                    <a:pt x="1072702" y="1072702"/>
                  </a:lnTo>
                  <a:lnTo>
                    <a:pt x="0" y="10727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58445" y="150016"/>
              <a:ext cx="755811" cy="772669"/>
            </a:xfrm>
            <a:custGeom>
              <a:avLst/>
              <a:gdLst/>
              <a:ahLst/>
              <a:cxnLst/>
              <a:rect r="r" b="b" t="t" l="l"/>
              <a:pathLst>
                <a:path h="772669" w="755811">
                  <a:moveTo>
                    <a:pt x="0" y="0"/>
                  </a:moveTo>
                  <a:lnTo>
                    <a:pt x="755811" y="0"/>
                  </a:lnTo>
                  <a:lnTo>
                    <a:pt x="755811" y="772670"/>
                  </a:lnTo>
                  <a:lnTo>
                    <a:pt x="0" y="7726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14" id="14"/>
          <p:cNvSpPr/>
          <p:nvPr/>
        </p:nvSpPr>
        <p:spPr>
          <a:xfrm flipH="false" flipV="false" rot="0">
            <a:off x="1423082" y="9291263"/>
            <a:ext cx="807064" cy="757173"/>
          </a:xfrm>
          <a:custGeom>
            <a:avLst/>
            <a:gdLst/>
            <a:ahLst/>
            <a:cxnLst/>
            <a:rect r="r" b="b" t="t" l="l"/>
            <a:pathLst>
              <a:path h="757173" w="807064">
                <a:moveTo>
                  <a:pt x="0" y="0"/>
                </a:moveTo>
                <a:lnTo>
                  <a:pt x="807064" y="0"/>
                </a:lnTo>
                <a:lnTo>
                  <a:pt x="807064" y="757173"/>
                </a:lnTo>
                <a:lnTo>
                  <a:pt x="0" y="75717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2395752" y="9327294"/>
            <a:ext cx="662689" cy="685111"/>
          </a:xfrm>
          <a:custGeom>
            <a:avLst/>
            <a:gdLst/>
            <a:ahLst/>
            <a:cxnLst/>
            <a:rect r="r" b="b" t="t" l="l"/>
            <a:pathLst>
              <a:path h="685111" w="662689">
                <a:moveTo>
                  <a:pt x="0" y="0"/>
                </a:moveTo>
                <a:lnTo>
                  <a:pt x="662688" y="0"/>
                </a:lnTo>
                <a:lnTo>
                  <a:pt x="662688" y="685110"/>
                </a:lnTo>
                <a:lnTo>
                  <a:pt x="0" y="68511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4062279" y="9335724"/>
            <a:ext cx="668249" cy="668249"/>
          </a:xfrm>
          <a:custGeom>
            <a:avLst/>
            <a:gdLst/>
            <a:ahLst/>
            <a:cxnLst/>
            <a:rect r="r" b="b" t="t" l="l"/>
            <a:pathLst>
              <a:path h="668249" w="668249">
                <a:moveTo>
                  <a:pt x="0" y="0"/>
                </a:moveTo>
                <a:lnTo>
                  <a:pt x="668250" y="0"/>
                </a:lnTo>
                <a:lnTo>
                  <a:pt x="668250" y="668250"/>
                </a:lnTo>
                <a:lnTo>
                  <a:pt x="0" y="66825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3224046" y="9309278"/>
            <a:ext cx="672629" cy="721142"/>
          </a:xfrm>
          <a:custGeom>
            <a:avLst/>
            <a:gdLst/>
            <a:ahLst/>
            <a:cxnLst/>
            <a:rect r="r" b="b" t="t" l="l"/>
            <a:pathLst>
              <a:path h="721142" w="672629">
                <a:moveTo>
                  <a:pt x="0" y="0"/>
                </a:moveTo>
                <a:lnTo>
                  <a:pt x="672628" y="0"/>
                </a:lnTo>
                <a:lnTo>
                  <a:pt x="672628" y="721142"/>
                </a:lnTo>
                <a:lnTo>
                  <a:pt x="0" y="72114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4877084" y="9291263"/>
            <a:ext cx="905315" cy="757173"/>
          </a:xfrm>
          <a:custGeom>
            <a:avLst/>
            <a:gdLst/>
            <a:ahLst/>
            <a:cxnLst/>
            <a:rect r="r" b="b" t="t" l="l"/>
            <a:pathLst>
              <a:path h="757173" w="905315">
                <a:moveTo>
                  <a:pt x="0" y="0"/>
                </a:moveTo>
                <a:lnTo>
                  <a:pt x="905315" y="0"/>
                </a:lnTo>
                <a:lnTo>
                  <a:pt x="905315" y="757173"/>
                </a:lnTo>
                <a:lnTo>
                  <a:pt x="0" y="757173"/>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19" id="19"/>
          <p:cNvGrpSpPr/>
          <p:nvPr/>
        </p:nvGrpSpPr>
        <p:grpSpPr>
          <a:xfrm rot="0">
            <a:off x="15109868" y="9297158"/>
            <a:ext cx="2801811" cy="712035"/>
            <a:chOff x="0" y="0"/>
            <a:chExt cx="737925" cy="187532"/>
          </a:xfrm>
        </p:grpSpPr>
        <p:sp>
          <p:nvSpPr>
            <p:cNvPr name="Freeform 20" id="20"/>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21" id="21"/>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24" action="ppaction://hlinksldjump"/>
                </a:rPr>
                <a:t>Back to Agenda Page</a:t>
              </a:r>
            </a:p>
          </p:txBody>
        </p:sp>
      </p:grpSp>
      <p:grpSp>
        <p:nvGrpSpPr>
          <p:cNvPr name="Group 22" id="22"/>
          <p:cNvGrpSpPr/>
          <p:nvPr/>
        </p:nvGrpSpPr>
        <p:grpSpPr>
          <a:xfrm rot="0">
            <a:off x="2426276" y="6403956"/>
            <a:ext cx="3857003" cy="972464"/>
            <a:chOff x="0" y="0"/>
            <a:chExt cx="5142670" cy="1296619"/>
          </a:xfrm>
        </p:grpSpPr>
        <p:sp>
          <p:nvSpPr>
            <p:cNvPr name="TextBox 23" id="23"/>
            <p:cNvSpPr txBox="true"/>
            <p:nvPr/>
          </p:nvSpPr>
          <p:spPr>
            <a:xfrm rot="0">
              <a:off x="0" y="837302"/>
              <a:ext cx="5142670" cy="459316"/>
            </a:xfrm>
            <a:prstGeom prst="rect">
              <a:avLst/>
            </a:prstGeom>
          </p:spPr>
          <p:txBody>
            <a:bodyPr anchor="t" rtlCol="false" tIns="0" lIns="0" bIns="0" rIns="0">
              <a:spAutoFit/>
            </a:bodyPr>
            <a:lstStyle/>
            <a:p>
              <a:pPr algn="ctr">
                <a:lnSpc>
                  <a:spcPts val="2800"/>
                </a:lnSpc>
              </a:pPr>
            </a:p>
          </p:txBody>
        </p:sp>
        <p:sp>
          <p:nvSpPr>
            <p:cNvPr name="TextBox 24" id="24"/>
            <p:cNvSpPr txBox="true"/>
            <p:nvPr/>
          </p:nvSpPr>
          <p:spPr>
            <a:xfrm rot="0">
              <a:off x="0" y="-66675"/>
              <a:ext cx="4958386" cy="714375"/>
            </a:xfrm>
            <a:prstGeom prst="rect">
              <a:avLst/>
            </a:prstGeom>
          </p:spPr>
          <p:txBody>
            <a:bodyPr anchor="t" rtlCol="false" tIns="0" lIns="0" bIns="0" rIns="0">
              <a:spAutoFit/>
            </a:bodyPr>
            <a:lstStyle/>
            <a:p>
              <a:pPr algn="ctr" marL="0" indent="0" lvl="0">
                <a:lnSpc>
                  <a:spcPts val="3840"/>
                </a:lnSpc>
              </a:pPr>
            </a:p>
          </p:txBody>
        </p:sp>
      </p:grpSp>
      <p:grpSp>
        <p:nvGrpSpPr>
          <p:cNvPr name="Group 25" id="25"/>
          <p:cNvGrpSpPr/>
          <p:nvPr/>
        </p:nvGrpSpPr>
        <p:grpSpPr>
          <a:xfrm rot="0">
            <a:off x="465608" y="1712434"/>
            <a:ext cx="6862132" cy="6862132"/>
            <a:chOff x="0" y="0"/>
            <a:chExt cx="9149510" cy="9149510"/>
          </a:xfrm>
        </p:grpSpPr>
        <p:sp>
          <p:nvSpPr>
            <p:cNvPr name="Freeform 26" id="26"/>
            <p:cNvSpPr/>
            <p:nvPr/>
          </p:nvSpPr>
          <p:spPr>
            <a:xfrm flipH="false" flipV="false" rot="0">
              <a:off x="0" y="0"/>
              <a:ext cx="9149510" cy="9149510"/>
            </a:xfrm>
            <a:custGeom>
              <a:avLst/>
              <a:gdLst/>
              <a:ahLst/>
              <a:cxnLst/>
              <a:rect r="r" b="b" t="t" l="l"/>
              <a:pathLst>
                <a:path h="9149510" w="9149510">
                  <a:moveTo>
                    <a:pt x="0" y="0"/>
                  </a:moveTo>
                  <a:lnTo>
                    <a:pt x="9149510" y="0"/>
                  </a:lnTo>
                  <a:lnTo>
                    <a:pt x="9149510" y="9149510"/>
                  </a:lnTo>
                  <a:lnTo>
                    <a:pt x="0" y="9149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8341154" y="287255"/>
              <a:ext cx="444643" cy="430091"/>
            </a:xfrm>
            <a:custGeom>
              <a:avLst/>
              <a:gdLst/>
              <a:ahLst/>
              <a:cxnLst/>
              <a:rect r="r" b="b" t="t" l="l"/>
              <a:pathLst>
                <a:path h="430091" w="444643">
                  <a:moveTo>
                    <a:pt x="0" y="0"/>
                  </a:moveTo>
                  <a:lnTo>
                    <a:pt x="444644" y="0"/>
                  </a:lnTo>
                  <a:lnTo>
                    <a:pt x="444644" y="430092"/>
                  </a:lnTo>
                  <a:lnTo>
                    <a:pt x="0" y="4300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28" id="28"/>
          <p:cNvSpPr txBox="true"/>
          <p:nvPr/>
        </p:nvSpPr>
        <p:spPr>
          <a:xfrm rot="0">
            <a:off x="-368573" y="428264"/>
            <a:ext cx="4273110" cy="1132248"/>
          </a:xfrm>
          <a:prstGeom prst="rect">
            <a:avLst/>
          </a:prstGeom>
        </p:spPr>
        <p:txBody>
          <a:bodyPr anchor="t" rtlCol="false" tIns="0" lIns="0" bIns="0" rIns="0">
            <a:spAutoFit/>
          </a:bodyPr>
          <a:lstStyle/>
          <a:p>
            <a:pPr>
              <a:lnSpc>
                <a:spcPts val="4364"/>
              </a:lnSpc>
            </a:pPr>
            <a:r>
              <a:rPr lang="en-US" sz="3117">
                <a:solidFill>
                  <a:srgbClr val="353535"/>
                </a:solidFill>
                <a:latin typeface="Retropix"/>
              </a:rPr>
              <a:t>Loading and Cleaning Data:</a:t>
            </a:r>
          </a:p>
        </p:txBody>
      </p:sp>
      <p:sp>
        <p:nvSpPr>
          <p:cNvPr name="TextBox 29" id="29"/>
          <p:cNvSpPr txBox="true"/>
          <p:nvPr/>
        </p:nvSpPr>
        <p:spPr>
          <a:xfrm rot="0">
            <a:off x="465608" y="2875710"/>
            <a:ext cx="6531131" cy="5134174"/>
          </a:xfrm>
          <a:prstGeom prst="rect">
            <a:avLst/>
          </a:prstGeom>
        </p:spPr>
        <p:txBody>
          <a:bodyPr anchor="t" rtlCol="false" tIns="0" lIns="0" bIns="0" rIns="0">
            <a:spAutoFit/>
          </a:bodyPr>
          <a:lstStyle/>
          <a:p>
            <a:pPr marL="698651" indent="-349326" lvl="1">
              <a:lnSpc>
                <a:spcPts val="4530"/>
              </a:lnSpc>
              <a:buFont typeface="Arial"/>
              <a:buChar char="•"/>
            </a:pPr>
            <a:r>
              <a:rPr lang="en-US" sz="3235">
                <a:solidFill>
                  <a:srgbClr val="000000"/>
                </a:solidFill>
                <a:latin typeface="Public Sans"/>
              </a:rPr>
              <a:t>We began by loading the dataset into R and performed initial data exploration.</a:t>
            </a:r>
          </a:p>
          <a:p>
            <a:pPr marL="698651" indent="-349326" lvl="1">
              <a:lnSpc>
                <a:spcPts val="4530"/>
              </a:lnSpc>
              <a:buFont typeface="Arial"/>
              <a:buChar char="•"/>
            </a:pPr>
            <a:r>
              <a:rPr lang="en-US" sz="3235">
                <a:solidFill>
                  <a:srgbClr val="000000"/>
                </a:solidFill>
                <a:latin typeface="Public Sans"/>
              </a:rPr>
              <a:t>Cleaning steps included handling missing values, converting data types, and ensuring consistency in coding conventions.</a:t>
            </a:r>
          </a:p>
          <a:p>
            <a:pPr>
              <a:lnSpc>
                <a:spcPts val="4530"/>
              </a:lnSpc>
            </a:pPr>
          </a:p>
        </p:txBody>
      </p:sp>
      <p:sp>
        <p:nvSpPr>
          <p:cNvPr name="TextBox 30" id="30"/>
          <p:cNvSpPr txBox="true"/>
          <p:nvPr/>
        </p:nvSpPr>
        <p:spPr>
          <a:xfrm rot="0">
            <a:off x="9642243" y="7262120"/>
            <a:ext cx="2805043" cy="1105667"/>
          </a:xfrm>
          <a:prstGeom prst="rect">
            <a:avLst/>
          </a:prstGeom>
        </p:spPr>
        <p:txBody>
          <a:bodyPr anchor="t" rtlCol="false" tIns="0" lIns="0" bIns="0" rIns="0">
            <a:spAutoFit/>
          </a:bodyPr>
          <a:lstStyle/>
          <a:p>
            <a:pPr algn="ctr">
              <a:lnSpc>
                <a:spcPts val="4221"/>
              </a:lnSpc>
            </a:pPr>
            <a:r>
              <a:rPr lang="en-US" sz="3015">
                <a:solidFill>
                  <a:srgbClr val="000000"/>
                </a:solidFill>
                <a:latin typeface="Retropix"/>
              </a:rPr>
              <a:t>Corr</a:t>
            </a:r>
            <a:r>
              <a:rPr lang="en-US" sz="3015">
                <a:solidFill>
                  <a:srgbClr val="000000"/>
                </a:solidFill>
                <a:latin typeface="Retropix"/>
              </a:rPr>
              <a:t>elation Analysis:</a:t>
            </a:r>
          </a:p>
        </p:txBody>
      </p:sp>
      <p:sp>
        <p:nvSpPr>
          <p:cNvPr name="TextBox 31" id="31"/>
          <p:cNvSpPr txBox="true"/>
          <p:nvPr/>
        </p:nvSpPr>
        <p:spPr>
          <a:xfrm rot="0">
            <a:off x="9892986" y="1636234"/>
            <a:ext cx="6318132" cy="5253954"/>
          </a:xfrm>
          <a:prstGeom prst="rect">
            <a:avLst/>
          </a:prstGeom>
        </p:spPr>
        <p:txBody>
          <a:bodyPr anchor="t" rtlCol="false" tIns="0" lIns="0" bIns="0" rIns="0">
            <a:spAutoFit/>
          </a:bodyPr>
          <a:lstStyle/>
          <a:p>
            <a:pPr marL="710804" indent="-355402" lvl="1">
              <a:lnSpc>
                <a:spcPts val="4609"/>
              </a:lnSpc>
              <a:buFont typeface="Arial"/>
              <a:buChar char="•"/>
            </a:pPr>
            <a:r>
              <a:rPr lang="en-US" sz="3292">
                <a:solidFill>
                  <a:srgbClr val="000000"/>
                </a:solidFill>
                <a:latin typeface="Public Sans"/>
              </a:rPr>
              <a:t>Conducted correlation analysis to identify relationships between variables and assess multicollinearity.</a:t>
            </a:r>
          </a:p>
          <a:p>
            <a:pPr marL="710804" indent="-355402" lvl="1">
              <a:lnSpc>
                <a:spcPts val="4609"/>
              </a:lnSpc>
              <a:buFont typeface="Arial"/>
              <a:buChar char="•"/>
            </a:pPr>
            <a:r>
              <a:rPr lang="en-US" sz="3292">
                <a:solidFill>
                  <a:srgbClr val="000000"/>
                </a:solidFill>
                <a:latin typeface="Public Sans"/>
              </a:rPr>
              <a:t>Omitted highly correlated variables to avoid redundancy in the modeling process.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16736" y="-5817236"/>
            <a:ext cx="21921472" cy="21921472"/>
          </a:xfrm>
          <a:custGeom>
            <a:avLst/>
            <a:gdLst/>
            <a:ahLst/>
            <a:cxnLst/>
            <a:rect r="r" b="b" t="t" l="l"/>
            <a:pathLst>
              <a:path h="21921472" w="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51660" y="0"/>
            <a:ext cx="6788888" cy="2209474"/>
          </a:xfrm>
          <a:custGeom>
            <a:avLst/>
            <a:gdLst/>
            <a:ahLst/>
            <a:cxnLst/>
            <a:rect r="r" b="b" t="t" l="l"/>
            <a:pathLst>
              <a:path h="2209474" w="6788888">
                <a:moveTo>
                  <a:pt x="0" y="0"/>
                </a:moveTo>
                <a:lnTo>
                  <a:pt x="6788888" y="0"/>
                </a:lnTo>
                <a:lnTo>
                  <a:pt x="6788888" y="2209474"/>
                </a:lnTo>
                <a:lnTo>
                  <a:pt x="0" y="2209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111407" y="-1503410"/>
            <a:ext cx="6351440" cy="6351440"/>
          </a:xfrm>
          <a:custGeom>
            <a:avLst/>
            <a:gdLst/>
            <a:ahLst/>
            <a:cxnLst/>
            <a:rect r="r" b="b" t="t" l="l"/>
            <a:pathLst>
              <a:path h="6351440" w="6351440">
                <a:moveTo>
                  <a:pt x="0" y="0"/>
                </a:moveTo>
                <a:lnTo>
                  <a:pt x="6351440" y="0"/>
                </a:lnTo>
                <a:lnTo>
                  <a:pt x="6351440" y="6351441"/>
                </a:lnTo>
                <a:lnTo>
                  <a:pt x="0" y="63514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846845" y="436758"/>
            <a:ext cx="3814566" cy="3814566"/>
          </a:xfrm>
          <a:custGeom>
            <a:avLst/>
            <a:gdLst/>
            <a:ahLst/>
            <a:cxnLst/>
            <a:rect r="r" b="b" t="t" l="l"/>
            <a:pathLst>
              <a:path h="3814566" w="3814566">
                <a:moveTo>
                  <a:pt x="0" y="0"/>
                </a:moveTo>
                <a:lnTo>
                  <a:pt x="3814566" y="0"/>
                </a:lnTo>
                <a:lnTo>
                  <a:pt x="3814566" y="3814566"/>
                </a:lnTo>
                <a:lnTo>
                  <a:pt x="0" y="38145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4042411" y="2683299"/>
            <a:ext cx="2801811" cy="712035"/>
            <a:chOff x="0" y="0"/>
            <a:chExt cx="737925" cy="187532"/>
          </a:xfrm>
        </p:grpSpPr>
        <p:sp>
          <p:nvSpPr>
            <p:cNvPr name="Freeform 7" id="7"/>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8" id="8"/>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10" action="ppaction://hlinksldjump"/>
                </a:rPr>
                <a:t>Back to Agenda Page</a:t>
              </a:r>
            </a:p>
          </p:txBody>
        </p:sp>
      </p:grpSp>
      <p:sp>
        <p:nvSpPr>
          <p:cNvPr name="Freeform 9" id="9"/>
          <p:cNvSpPr/>
          <p:nvPr/>
        </p:nvSpPr>
        <p:spPr>
          <a:xfrm flipH="false" flipV="false" rot="0">
            <a:off x="15177692" y="4577721"/>
            <a:ext cx="3243806" cy="6487612"/>
          </a:xfrm>
          <a:custGeom>
            <a:avLst/>
            <a:gdLst/>
            <a:ahLst/>
            <a:cxnLst/>
            <a:rect r="r" b="b" t="t" l="l"/>
            <a:pathLst>
              <a:path h="6487612" w="3243806">
                <a:moveTo>
                  <a:pt x="0" y="0"/>
                </a:moveTo>
                <a:lnTo>
                  <a:pt x="3243806" y="0"/>
                </a:lnTo>
                <a:lnTo>
                  <a:pt x="3243806" y="6487612"/>
                </a:lnTo>
                <a:lnTo>
                  <a:pt x="0" y="648761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9153525" y="6037640"/>
            <a:ext cx="6441319" cy="3220660"/>
          </a:xfrm>
          <a:custGeom>
            <a:avLst/>
            <a:gdLst/>
            <a:ahLst/>
            <a:cxnLst/>
            <a:rect r="r" b="b" t="t" l="l"/>
            <a:pathLst>
              <a:path h="3220660" w="6441319">
                <a:moveTo>
                  <a:pt x="0" y="0"/>
                </a:moveTo>
                <a:lnTo>
                  <a:pt x="6441319" y="0"/>
                </a:lnTo>
                <a:lnTo>
                  <a:pt x="6441319" y="3220660"/>
                </a:lnTo>
                <a:lnTo>
                  <a:pt x="0" y="322066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575090" y="3676006"/>
            <a:ext cx="3305497" cy="6610994"/>
          </a:xfrm>
          <a:custGeom>
            <a:avLst/>
            <a:gdLst/>
            <a:ahLst/>
            <a:cxnLst/>
            <a:rect r="r" b="b" t="t" l="l"/>
            <a:pathLst>
              <a:path h="6610994" w="3305497">
                <a:moveTo>
                  <a:pt x="0" y="0"/>
                </a:moveTo>
                <a:lnTo>
                  <a:pt x="3305497" y="0"/>
                </a:lnTo>
                <a:lnTo>
                  <a:pt x="3305497" y="6610994"/>
                </a:lnTo>
                <a:lnTo>
                  <a:pt x="0" y="661099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3111407" y="-51088"/>
            <a:ext cx="6032593" cy="2460685"/>
          </a:xfrm>
          <a:prstGeom prst="rect">
            <a:avLst/>
          </a:prstGeom>
        </p:spPr>
        <p:txBody>
          <a:bodyPr anchor="t" rtlCol="false" tIns="0" lIns="0" bIns="0" rIns="0">
            <a:spAutoFit/>
          </a:bodyPr>
          <a:lstStyle/>
          <a:p>
            <a:pPr>
              <a:lnSpc>
                <a:spcPts val="9396"/>
              </a:lnSpc>
            </a:pPr>
            <a:r>
              <a:rPr lang="en-US" sz="6664" spc="-106">
                <a:solidFill>
                  <a:srgbClr val="000000"/>
                </a:solidFill>
                <a:latin typeface="Retropix"/>
              </a:rPr>
              <a:t>On</a:t>
            </a:r>
            <a:r>
              <a:rPr lang="en-US" sz="6664" spc="-106">
                <a:solidFill>
                  <a:srgbClr val="000000"/>
                </a:solidFill>
                <a:latin typeface="Retropix"/>
              </a:rPr>
              <a:t>e-Hot Encoding:</a:t>
            </a:r>
          </a:p>
        </p:txBody>
      </p:sp>
      <p:grpSp>
        <p:nvGrpSpPr>
          <p:cNvPr name="Group 13" id="13"/>
          <p:cNvGrpSpPr/>
          <p:nvPr/>
        </p:nvGrpSpPr>
        <p:grpSpPr>
          <a:xfrm rot="0">
            <a:off x="2016565" y="2409597"/>
            <a:ext cx="6943427" cy="6943427"/>
            <a:chOff x="0" y="0"/>
            <a:chExt cx="9257903" cy="9257903"/>
          </a:xfrm>
        </p:grpSpPr>
        <p:sp>
          <p:nvSpPr>
            <p:cNvPr name="Freeform 14" id="14"/>
            <p:cNvSpPr/>
            <p:nvPr/>
          </p:nvSpPr>
          <p:spPr>
            <a:xfrm flipH="false" flipV="false" rot="0">
              <a:off x="0" y="0"/>
              <a:ext cx="9257903" cy="9257903"/>
            </a:xfrm>
            <a:custGeom>
              <a:avLst/>
              <a:gdLst/>
              <a:ahLst/>
              <a:cxnLst/>
              <a:rect r="r" b="b" t="t" l="l"/>
              <a:pathLst>
                <a:path h="9257903" w="9257903">
                  <a:moveTo>
                    <a:pt x="0" y="0"/>
                  </a:moveTo>
                  <a:lnTo>
                    <a:pt x="9257903" y="0"/>
                  </a:lnTo>
                  <a:lnTo>
                    <a:pt x="9257903" y="9257903"/>
                  </a:lnTo>
                  <a:lnTo>
                    <a:pt x="0" y="925790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5" id="15"/>
            <p:cNvSpPr/>
            <p:nvPr/>
          </p:nvSpPr>
          <p:spPr>
            <a:xfrm flipH="false" flipV="false" rot="0">
              <a:off x="8439971" y="290658"/>
              <a:ext cx="449911" cy="435187"/>
            </a:xfrm>
            <a:custGeom>
              <a:avLst/>
              <a:gdLst/>
              <a:ahLst/>
              <a:cxnLst/>
              <a:rect r="r" b="b" t="t" l="l"/>
              <a:pathLst>
                <a:path h="435187" w="449911">
                  <a:moveTo>
                    <a:pt x="0" y="0"/>
                  </a:moveTo>
                  <a:lnTo>
                    <a:pt x="449911" y="0"/>
                  </a:lnTo>
                  <a:lnTo>
                    <a:pt x="449911" y="435187"/>
                  </a:lnTo>
                  <a:lnTo>
                    <a:pt x="0" y="43518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sp>
        <p:nvSpPr>
          <p:cNvPr name="TextBox 16" id="16"/>
          <p:cNvSpPr txBox="true"/>
          <p:nvPr/>
        </p:nvSpPr>
        <p:spPr>
          <a:xfrm rot="0">
            <a:off x="2016565" y="3599806"/>
            <a:ext cx="6503341" cy="5221606"/>
          </a:xfrm>
          <a:prstGeom prst="rect">
            <a:avLst/>
          </a:prstGeom>
        </p:spPr>
        <p:txBody>
          <a:bodyPr anchor="t" rtlCol="false" tIns="0" lIns="0" bIns="0" rIns="0">
            <a:spAutoFit/>
          </a:bodyPr>
          <a:lstStyle/>
          <a:p>
            <a:pPr marL="712464" indent="-356232" lvl="1">
              <a:lnSpc>
                <a:spcPts val="4619"/>
              </a:lnSpc>
              <a:buFont typeface="Arial"/>
              <a:buChar char="•"/>
            </a:pPr>
            <a:r>
              <a:rPr lang="en-US" sz="3299">
                <a:solidFill>
                  <a:srgbClr val="000000"/>
                </a:solidFill>
                <a:latin typeface="Public Sans"/>
              </a:rPr>
              <a:t>Categorical variables were one-hot enco</a:t>
            </a:r>
            <a:r>
              <a:rPr lang="en-US" sz="3299">
                <a:solidFill>
                  <a:srgbClr val="000000"/>
                </a:solidFill>
                <a:latin typeface="Public Sans"/>
              </a:rPr>
              <a:t>ded to convert them into a numerical format suitable for modeling.</a:t>
            </a:r>
          </a:p>
          <a:p>
            <a:pPr marL="712464" indent="-356232" lvl="1">
              <a:lnSpc>
                <a:spcPts val="4619"/>
              </a:lnSpc>
              <a:buFont typeface="Arial"/>
              <a:buChar char="•"/>
            </a:pPr>
            <a:r>
              <a:rPr lang="en-US" sz="3299">
                <a:solidFill>
                  <a:srgbClr val="000000"/>
                </a:solidFill>
                <a:latin typeface="Public Sans"/>
              </a:rPr>
              <a:t>This process expanded categorical variables into binary columns, capturing each category as a separate feature.</a:t>
            </a:r>
          </a:p>
        </p:txBody>
      </p:sp>
      <p:sp>
        <p:nvSpPr>
          <p:cNvPr name="TextBox 17" id="17"/>
          <p:cNvSpPr txBox="true"/>
          <p:nvPr/>
        </p:nvSpPr>
        <p:spPr>
          <a:xfrm rot="0">
            <a:off x="9639034" y="1905733"/>
            <a:ext cx="3468794" cy="1673861"/>
          </a:xfrm>
          <a:prstGeom prst="rect">
            <a:avLst/>
          </a:prstGeom>
        </p:spPr>
        <p:txBody>
          <a:bodyPr anchor="t" rtlCol="false" tIns="0" lIns="0" bIns="0" rIns="0">
            <a:spAutoFit/>
          </a:bodyPr>
          <a:lstStyle/>
          <a:p>
            <a:pPr algn="ctr">
              <a:lnSpc>
                <a:spcPts val="4339"/>
              </a:lnSpc>
            </a:pPr>
            <a:r>
              <a:rPr lang="en-US" sz="3099">
                <a:solidFill>
                  <a:srgbClr val="000000"/>
                </a:solidFill>
                <a:latin typeface="Retropix"/>
              </a:rPr>
              <a:t>Data Splitting: Training and Testing Sets:</a:t>
            </a:r>
          </a:p>
        </p:txBody>
      </p:sp>
      <p:grpSp>
        <p:nvGrpSpPr>
          <p:cNvPr name="Group 18" id="18"/>
          <p:cNvGrpSpPr/>
          <p:nvPr/>
        </p:nvGrpSpPr>
        <p:grpSpPr>
          <a:xfrm rot="0">
            <a:off x="11651660" y="3579593"/>
            <a:ext cx="6531684" cy="6531684"/>
            <a:chOff x="0" y="0"/>
            <a:chExt cx="8708912" cy="8708912"/>
          </a:xfrm>
        </p:grpSpPr>
        <p:sp>
          <p:nvSpPr>
            <p:cNvPr name="Freeform 19" id="19"/>
            <p:cNvSpPr/>
            <p:nvPr/>
          </p:nvSpPr>
          <p:spPr>
            <a:xfrm flipH="false" flipV="false" rot="0">
              <a:off x="0" y="0"/>
              <a:ext cx="8708912" cy="8708912"/>
            </a:xfrm>
            <a:custGeom>
              <a:avLst/>
              <a:gdLst/>
              <a:ahLst/>
              <a:cxnLst/>
              <a:rect r="r" b="b" t="t" l="l"/>
              <a:pathLst>
                <a:path h="8708912" w="8708912">
                  <a:moveTo>
                    <a:pt x="0" y="0"/>
                  </a:moveTo>
                  <a:lnTo>
                    <a:pt x="8708912" y="0"/>
                  </a:lnTo>
                  <a:lnTo>
                    <a:pt x="8708912" y="8708912"/>
                  </a:lnTo>
                  <a:lnTo>
                    <a:pt x="0" y="87089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0" id="20"/>
            <p:cNvSpPr/>
            <p:nvPr/>
          </p:nvSpPr>
          <p:spPr>
            <a:xfrm flipH="false" flipV="false" rot="0">
              <a:off x="7939483" y="273423"/>
              <a:ext cx="423231" cy="409380"/>
            </a:xfrm>
            <a:custGeom>
              <a:avLst/>
              <a:gdLst/>
              <a:ahLst/>
              <a:cxnLst/>
              <a:rect r="r" b="b" t="t" l="l"/>
              <a:pathLst>
                <a:path h="409380" w="423231">
                  <a:moveTo>
                    <a:pt x="0" y="0"/>
                  </a:moveTo>
                  <a:lnTo>
                    <a:pt x="423232" y="0"/>
                  </a:lnTo>
                  <a:lnTo>
                    <a:pt x="423232" y="409380"/>
                  </a:lnTo>
                  <a:lnTo>
                    <a:pt x="0" y="40938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sp>
        <p:nvSpPr>
          <p:cNvPr name="TextBox 21" id="21"/>
          <p:cNvSpPr txBox="true"/>
          <p:nvPr/>
        </p:nvSpPr>
        <p:spPr>
          <a:xfrm rot="0">
            <a:off x="11651660" y="4636135"/>
            <a:ext cx="6170840" cy="4622165"/>
          </a:xfrm>
          <a:prstGeom prst="rect">
            <a:avLst/>
          </a:prstGeom>
        </p:spPr>
        <p:txBody>
          <a:bodyPr anchor="t" rtlCol="false" tIns="0" lIns="0" bIns="0" rIns="0">
            <a:spAutoFit/>
          </a:bodyPr>
          <a:lstStyle/>
          <a:p>
            <a:pPr marL="626111" indent="-313055" lvl="1">
              <a:lnSpc>
                <a:spcPts val="4060"/>
              </a:lnSpc>
              <a:buFont typeface="Arial"/>
              <a:buChar char="•"/>
            </a:pPr>
            <a:r>
              <a:rPr lang="en-US" sz="2900">
                <a:solidFill>
                  <a:srgbClr val="000000"/>
                </a:solidFill>
                <a:latin typeface="Public Sans"/>
              </a:rPr>
              <a:t>We split the </a:t>
            </a:r>
            <a:r>
              <a:rPr lang="en-US" sz="2900">
                <a:solidFill>
                  <a:srgbClr val="000000"/>
                </a:solidFill>
                <a:latin typeface="Public Sans"/>
              </a:rPr>
              <a:t>dataset into training and testing sets to facilitate model development and evaluation.</a:t>
            </a:r>
          </a:p>
          <a:p>
            <a:pPr marL="626111" indent="-313055" lvl="1">
              <a:lnSpc>
                <a:spcPts val="4060"/>
              </a:lnSpc>
              <a:buFont typeface="Arial"/>
              <a:buChar char="•"/>
            </a:pPr>
            <a:r>
              <a:rPr lang="en-US" sz="2900">
                <a:solidFill>
                  <a:srgbClr val="000000"/>
                </a:solidFill>
                <a:latin typeface="Public Sans"/>
              </a:rPr>
              <a:t>The training set (60% of the data) was used to train the models, while the testing set (40%) was reserved for assessing model performance.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16736" y="-5817236"/>
            <a:ext cx="21921472" cy="21921472"/>
          </a:xfrm>
          <a:custGeom>
            <a:avLst/>
            <a:gdLst/>
            <a:ahLst/>
            <a:cxnLst/>
            <a:rect r="r" b="b" t="t" l="l"/>
            <a:pathLst>
              <a:path h="21921472" w="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36596" y="1839339"/>
            <a:ext cx="14235927" cy="6629441"/>
            <a:chOff x="0" y="0"/>
            <a:chExt cx="3749380" cy="1746026"/>
          </a:xfrm>
        </p:grpSpPr>
        <p:sp>
          <p:nvSpPr>
            <p:cNvPr name="Freeform 4" id="4"/>
            <p:cNvSpPr/>
            <p:nvPr/>
          </p:nvSpPr>
          <p:spPr>
            <a:xfrm flipH="false" flipV="false" rot="0">
              <a:off x="0" y="0"/>
              <a:ext cx="3749380" cy="1746026"/>
            </a:xfrm>
            <a:custGeom>
              <a:avLst/>
              <a:gdLst/>
              <a:ahLst/>
              <a:cxnLst/>
              <a:rect r="r" b="b" t="t" l="l"/>
              <a:pathLst>
                <a:path h="1746026" w="3749380">
                  <a:moveTo>
                    <a:pt x="0" y="0"/>
                  </a:moveTo>
                  <a:lnTo>
                    <a:pt x="3749380" y="0"/>
                  </a:lnTo>
                  <a:lnTo>
                    <a:pt x="3749380" y="1746026"/>
                  </a:lnTo>
                  <a:lnTo>
                    <a:pt x="0" y="1746026"/>
                  </a:lnTo>
                  <a:close/>
                </a:path>
              </a:pathLst>
            </a:custGeom>
            <a:solidFill>
              <a:srgbClr val="FEFF99"/>
            </a:solidFill>
            <a:ln w="95250" cap="sq">
              <a:solidFill>
                <a:srgbClr val="CCCCCC"/>
              </a:solidFill>
              <a:prstDash val="sysDot"/>
              <a:miter/>
            </a:ln>
          </p:spPr>
        </p:sp>
        <p:sp>
          <p:nvSpPr>
            <p:cNvPr name="TextBox 5" id="5"/>
            <p:cNvSpPr txBox="true"/>
            <p:nvPr/>
          </p:nvSpPr>
          <p:spPr>
            <a:xfrm>
              <a:off x="0" y="-38100"/>
              <a:ext cx="3749380" cy="1784126"/>
            </a:xfrm>
            <a:prstGeom prst="rect">
              <a:avLst/>
            </a:prstGeom>
          </p:spPr>
          <p:txBody>
            <a:bodyPr anchor="ctr" rtlCol="false" tIns="50800" lIns="50800" bIns="50800" rIns="50800"/>
            <a:lstStyle/>
            <a:p>
              <a:pPr algn="ctr">
                <a:lnSpc>
                  <a:spcPts val="2100"/>
                </a:lnSpc>
              </a:pPr>
            </a:p>
          </p:txBody>
        </p:sp>
      </p:grpSp>
      <p:grpSp>
        <p:nvGrpSpPr>
          <p:cNvPr name="Group 6" id="6"/>
          <p:cNvGrpSpPr/>
          <p:nvPr/>
        </p:nvGrpSpPr>
        <p:grpSpPr>
          <a:xfrm rot="0">
            <a:off x="-1301375" y="0"/>
            <a:ext cx="20890750" cy="795781"/>
            <a:chOff x="0" y="0"/>
            <a:chExt cx="27854334" cy="1061041"/>
          </a:xfrm>
        </p:grpSpPr>
        <p:grpSp>
          <p:nvGrpSpPr>
            <p:cNvPr name="Group 7" id="7"/>
            <p:cNvGrpSpPr/>
            <p:nvPr/>
          </p:nvGrpSpPr>
          <p:grpSpPr>
            <a:xfrm rot="0">
              <a:off x="0" y="0"/>
              <a:ext cx="27854334" cy="1061041"/>
              <a:chOff x="0" y="0"/>
              <a:chExt cx="5502091" cy="209588"/>
            </a:xfrm>
          </p:grpSpPr>
          <p:sp>
            <p:nvSpPr>
              <p:cNvPr name="Freeform 8" id="8"/>
              <p:cNvSpPr/>
              <p:nvPr/>
            </p:nvSpPr>
            <p:spPr>
              <a:xfrm flipH="false" flipV="false" rot="0">
                <a:off x="0" y="0"/>
                <a:ext cx="5502091" cy="209588"/>
              </a:xfrm>
              <a:custGeom>
                <a:avLst/>
                <a:gdLst/>
                <a:ahLst/>
                <a:cxnLst/>
                <a:rect r="r" b="b" t="t" l="l"/>
                <a:pathLst>
                  <a:path h="209588" w="5502091">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name="TextBox 9" id="9"/>
              <p:cNvSpPr txBox="true"/>
              <p:nvPr/>
            </p:nvSpPr>
            <p:spPr>
              <a:xfrm>
                <a:off x="0" y="-47625"/>
                <a:ext cx="5502091" cy="257213"/>
              </a:xfrm>
              <a:prstGeom prst="rect">
                <a:avLst/>
              </a:prstGeom>
            </p:spPr>
            <p:txBody>
              <a:bodyPr anchor="ctr" rtlCol="false" tIns="254000" lIns="254000" bIns="254000" rIns="254000"/>
              <a:lstStyle/>
              <a:p>
                <a:pPr>
                  <a:lnSpc>
                    <a:spcPts val="3499"/>
                  </a:lnSpc>
                </a:pPr>
              </a:p>
            </p:txBody>
          </p:sp>
        </p:grpSp>
        <p:sp>
          <p:nvSpPr>
            <p:cNvPr name="TextBox 10" id="10"/>
            <p:cNvSpPr txBox="true"/>
            <p:nvPr/>
          </p:nvSpPr>
          <p:spPr>
            <a:xfrm rot="0">
              <a:off x="439275" y="269112"/>
              <a:ext cx="26975784"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Data Preprocessing • Data Preprocessing • Data Preprocessing • Data Preprocessing • Data Preprocessing • Data Preprocessing • Data </a:t>
              </a:r>
            </a:p>
          </p:txBody>
        </p:sp>
      </p:grpSp>
      <p:grpSp>
        <p:nvGrpSpPr>
          <p:cNvPr name="Group 11" id="11"/>
          <p:cNvGrpSpPr/>
          <p:nvPr/>
        </p:nvGrpSpPr>
        <p:grpSpPr>
          <a:xfrm rot="0">
            <a:off x="-1301375" y="9491219"/>
            <a:ext cx="20890750" cy="795781"/>
            <a:chOff x="0" y="0"/>
            <a:chExt cx="27854334" cy="1061041"/>
          </a:xfrm>
        </p:grpSpPr>
        <p:grpSp>
          <p:nvGrpSpPr>
            <p:cNvPr name="Group 12" id="12"/>
            <p:cNvGrpSpPr/>
            <p:nvPr/>
          </p:nvGrpSpPr>
          <p:grpSpPr>
            <a:xfrm rot="0">
              <a:off x="0" y="0"/>
              <a:ext cx="27854334" cy="1061041"/>
              <a:chOff x="0" y="0"/>
              <a:chExt cx="5502091" cy="209588"/>
            </a:xfrm>
          </p:grpSpPr>
          <p:sp>
            <p:nvSpPr>
              <p:cNvPr name="Freeform 13" id="13"/>
              <p:cNvSpPr/>
              <p:nvPr/>
            </p:nvSpPr>
            <p:spPr>
              <a:xfrm flipH="false" flipV="false" rot="0">
                <a:off x="0" y="0"/>
                <a:ext cx="5502091" cy="209588"/>
              </a:xfrm>
              <a:custGeom>
                <a:avLst/>
                <a:gdLst/>
                <a:ahLst/>
                <a:cxnLst/>
                <a:rect r="r" b="b" t="t" l="l"/>
                <a:pathLst>
                  <a:path h="209588" w="5502091">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name="TextBox 14" id="14"/>
              <p:cNvSpPr txBox="true"/>
              <p:nvPr/>
            </p:nvSpPr>
            <p:spPr>
              <a:xfrm>
                <a:off x="0" y="-47625"/>
                <a:ext cx="5502091" cy="257213"/>
              </a:xfrm>
              <a:prstGeom prst="rect">
                <a:avLst/>
              </a:prstGeom>
            </p:spPr>
            <p:txBody>
              <a:bodyPr anchor="ctr" rtlCol="false" tIns="254000" lIns="254000" bIns="254000" rIns="254000"/>
              <a:lstStyle/>
              <a:p>
                <a:pPr>
                  <a:lnSpc>
                    <a:spcPts val="3499"/>
                  </a:lnSpc>
                </a:pPr>
              </a:p>
            </p:txBody>
          </p:sp>
        </p:grpSp>
        <p:sp>
          <p:nvSpPr>
            <p:cNvPr name="TextBox 15" id="15"/>
            <p:cNvSpPr txBox="true"/>
            <p:nvPr/>
          </p:nvSpPr>
          <p:spPr>
            <a:xfrm rot="0">
              <a:off x="439275" y="269112"/>
              <a:ext cx="26975784"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Data Preprocessing • Data Preprocessing • Data Preprocessing • Data Preprocessing • Data Preprocessing • Data Preprocessing • Data</a:t>
              </a:r>
              <a:r>
                <a:rPr lang="en-US" sz="2499">
                  <a:solidFill>
                    <a:srgbClr val="FFFFFF"/>
                  </a:solidFill>
                  <a:latin typeface="Retropix"/>
                </a:rPr>
                <a:t> </a:t>
              </a:r>
            </a:p>
          </p:txBody>
        </p:sp>
      </p:grpSp>
      <p:grpSp>
        <p:nvGrpSpPr>
          <p:cNvPr name="Group 16" id="16"/>
          <p:cNvGrpSpPr/>
          <p:nvPr/>
        </p:nvGrpSpPr>
        <p:grpSpPr>
          <a:xfrm rot="0">
            <a:off x="807747" y="7165798"/>
            <a:ext cx="2801811" cy="712035"/>
            <a:chOff x="0" y="0"/>
            <a:chExt cx="737925" cy="187532"/>
          </a:xfrm>
        </p:grpSpPr>
        <p:sp>
          <p:nvSpPr>
            <p:cNvPr name="Freeform 17" id="17"/>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18" id="18"/>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4" action="ppaction://hlinksldjump"/>
                </a:rPr>
                <a:t>Back to Agenda Page</a:t>
              </a:r>
            </a:p>
          </p:txBody>
        </p:sp>
      </p:grpSp>
      <p:grpSp>
        <p:nvGrpSpPr>
          <p:cNvPr name="Group 19" id="19"/>
          <p:cNvGrpSpPr/>
          <p:nvPr/>
        </p:nvGrpSpPr>
        <p:grpSpPr>
          <a:xfrm rot="0">
            <a:off x="15600318" y="4759728"/>
            <a:ext cx="1658982" cy="4147456"/>
            <a:chOff x="0" y="0"/>
            <a:chExt cx="2211976" cy="5529941"/>
          </a:xfrm>
        </p:grpSpPr>
        <p:sp>
          <p:nvSpPr>
            <p:cNvPr name="Freeform 20" id="20"/>
            <p:cNvSpPr/>
            <p:nvPr/>
          </p:nvSpPr>
          <p:spPr>
            <a:xfrm flipH="false" flipV="false" rot="0">
              <a:off x="0" y="0"/>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105988" y="0"/>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0" y="2211976"/>
              <a:ext cx="1105988" cy="1105988"/>
            </a:xfrm>
            <a:custGeom>
              <a:avLst/>
              <a:gdLst/>
              <a:ahLst/>
              <a:cxnLst/>
              <a:rect r="r" b="b" t="t" l="l"/>
              <a:pathLst>
                <a:path h="1105988" w="1105988">
                  <a:moveTo>
                    <a:pt x="0" y="0"/>
                  </a:moveTo>
                  <a:lnTo>
                    <a:pt x="1105988" y="0"/>
                  </a:lnTo>
                  <a:lnTo>
                    <a:pt x="1105988" y="1105989"/>
                  </a:lnTo>
                  <a:lnTo>
                    <a:pt x="0" y="11059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0">
              <a:off x="1105988" y="2211976"/>
              <a:ext cx="1105988" cy="1105988"/>
            </a:xfrm>
            <a:custGeom>
              <a:avLst/>
              <a:gdLst/>
              <a:ahLst/>
              <a:cxnLst/>
              <a:rect r="r" b="b" t="t" l="l"/>
              <a:pathLst>
                <a:path h="1105988" w="1105988">
                  <a:moveTo>
                    <a:pt x="0" y="0"/>
                  </a:moveTo>
                  <a:lnTo>
                    <a:pt x="1105988" y="0"/>
                  </a:lnTo>
                  <a:lnTo>
                    <a:pt x="1105988" y="1105989"/>
                  </a:lnTo>
                  <a:lnTo>
                    <a:pt x="0" y="11059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0" y="1105988"/>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p:cNvSpPr/>
            <p:nvPr/>
          </p:nvSpPr>
          <p:spPr>
            <a:xfrm flipH="false" flipV="false" rot="0">
              <a:off x="1105988" y="1105988"/>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6" id="26"/>
            <p:cNvSpPr/>
            <p:nvPr/>
          </p:nvSpPr>
          <p:spPr>
            <a:xfrm flipH="false" flipV="false" rot="0">
              <a:off x="0" y="3317965"/>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1105988" y="3317965"/>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0" y="4423953"/>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9" id="29"/>
            <p:cNvSpPr/>
            <p:nvPr/>
          </p:nvSpPr>
          <p:spPr>
            <a:xfrm flipH="false" flipV="false" rot="0">
              <a:off x="1105988" y="4423953"/>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0" id="30"/>
            <p:cNvSpPr/>
            <p:nvPr/>
          </p:nvSpPr>
          <p:spPr>
            <a:xfrm flipH="false" flipV="false" rot="0">
              <a:off x="1284474" y="4613333"/>
              <a:ext cx="749016" cy="727227"/>
            </a:xfrm>
            <a:custGeom>
              <a:avLst/>
              <a:gdLst/>
              <a:ahLst/>
              <a:cxnLst/>
              <a:rect r="r" b="b" t="t" l="l"/>
              <a:pathLst>
                <a:path h="727227" w="749016">
                  <a:moveTo>
                    <a:pt x="0" y="0"/>
                  </a:moveTo>
                  <a:lnTo>
                    <a:pt x="749016" y="0"/>
                  </a:lnTo>
                  <a:lnTo>
                    <a:pt x="749016" y="727227"/>
                  </a:lnTo>
                  <a:lnTo>
                    <a:pt x="0" y="727227"/>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sp>
        <p:nvSpPr>
          <p:cNvPr name="Freeform 31" id="31"/>
          <p:cNvSpPr/>
          <p:nvPr/>
        </p:nvSpPr>
        <p:spPr>
          <a:xfrm flipH="false" flipV="false" rot="3207690">
            <a:off x="6778520" y="8056080"/>
            <a:ext cx="484735" cy="825401"/>
          </a:xfrm>
          <a:custGeom>
            <a:avLst/>
            <a:gdLst/>
            <a:ahLst/>
            <a:cxnLst/>
            <a:rect r="r" b="b" t="t" l="l"/>
            <a:pathLst>
              <a:path h="825401" w="484735">
                <a:moveTo>
                  <a:pt x="0" y="0"/>
                </a:moveTo>
                <a:lnTo>
                  <a:pt x="484735" y="0"/>
                </a:lnTo>
                <a:lnTo>
                  <a:pt x="484735" y="825401"/>
                </a:lnTo>
                <a:lnTo>
                  <a:pt x="0" y="82540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32" id="32"/>
          <p:cNvSpPr/>
          <p:nvPr/>
        </p:nvSpPr>
        <p:spPr>
          <a:xfrm flipH="false" flipV="false" rot="0">
            <a:off x="8758723" y="5341101"/>
            <a:ext cx="791673" cy="815394"/>
          </a:xfrm>
          <a:custGeom>
            <a:avLst/>
            <a:gdLst/>
            <a:ahLst/>
            <a:cxnLst/>
            <a:rect r="r" b="b" t="t" l="l"/>
            <a:pathLst>
              <a:path h="815394" w="791673">
                <a:moveTo>
                  <a:pt x="0" y="0"/>
                </a:moveTo>
                <a:lnTo>
                  <a:pt x="791674" y="0"/>
                </a:lnTo>
                <a:lnTo>
                  <a:pt x="791674" y="815394"/>
                </a:lnTo>
                <a:lnTo>
                  <a:pt x="0" y="815394"/>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33" id="33"/>
          <p:cNvSpPr/>
          <p:nvPr/>
        </p:nvSpPr>
        <p:spPr>
          <a:xfrm flipH="false" flipV="false" rot="0">
            <a:off x="2474728" y="2252104"/>
            <a:ext cx="798979" cy="798979"/>
          </a:xfrm>
          <a:custGeom>
            <a:avLst/>
            <a:gdLst/>
            <a:ahLst/>
            <a:cxnLst/>
            <a:rect r="r" b="b" t="t" l="l"/>
            <a:pathLst>
              <a:path h="798979" w="798979">
                <a:moveTo>
                  <a:pt x="0" y="0"/>
                </a:moveTo>
                <a:lnTo>
                  <a:pt x="798979" y="0"/>
                </a:lnTo>
                <a:lnTo>
                  <a:pt x="798979" y="798979"/>
                </a:lnTo>
                <a:lnTo>
                  <a:pt x="0" y="798979"/>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34" id="34"/>
          <p:cNvSpPr txBox="true"/>
          <p:nvPr/>
        </p:nvSpPr>
        <p:spPr>
          <a:xfrm rot="0">
            <a:off x="5023547" y="2816976"/>
            <a:ext cx="8240907" cy="2524125"/>
          </a:xfrm>
          <a:prstGeom prst="rect">
            <a:avLst/>
          </a:prstGeom>
        </p:spPr>
        <p:txBody>
          <a:bodyPr anchor="t" rtlCol="false" tIns="0" lIns="0" bIns="0" rIns="0">
            <a:spAutoFit/>
          </a:bodyPr>
          <a:lstStyle/>
          <a:p>
            <a:pPr algn="ctr">
              <a:lnSpc>
                <a:spcPts val="8999"/>
              </a:lnSpc>
            </a:pPr>
            <a:r>
              <a:rPr lang="en-US" sz="8999">
                <a:solidFill>
                  <a:srgbClr val="000000"/>
                </a:solidFill>
                <a:latin typeface="Retropix Semi-Bold"/>
              </a:rPr>
              <a:t>Modeling Approaches</a:t>
            </a:r>
          </a:p>
        </p:txBody>
      </p:sp>
      <p:sp>
        <p:nvSpPr>
          <p:cNvPr name="Freeform 35" id="35"/>
          <p:cNvSpPr/>
          <p:nvPr/>
        </p:nvSpPr>
        <p:spPr>
          <a:xfrm flipH="false" flipV="false" rot="0">
            <a:off x="13344126" y="2353235"/>
            <a:ext cx="2527153" cy="473267"/>
          </a:xfrm>
          <a:custGeom>
            <a:avLst/>
            <a:gdLst/>
            <a:ahLst/>
            <a:cxnLst/>
            <a:rect r="r" b="b" t="t" l="l"/>
            <a:pathLst>
              <a:path h="473267" w="2527153">
                <a:moveTo>
                  <a:pt x="0" y="0"/>
                </a:moveTo>
                <a:lnTo>
                  <a:pt x="2527153" y="0"/>
                </a:lnTo>
                <a:lnTo>
                  <a:pt x="2527153" y="473266"/>
                </a:lnTo>
                <a:lnTo>
                  <a:pt x="0" y="473266"/>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TextBox 36" id="36"/>
          <p:cNvSpPr txBox="true"/>
          <p:nvPr/>
        </p:nvSpPr>
        <p:spPr>
          <a:xfrm rot="0">
            <a:off x="6830818" y="6271297"/>
            <a:ext cx="4925159" cy="1757045"/>
          </a:xfrm>
          <a:prstGeom prst="rect">
            <a:avLst/>
          </a:prstGeom>
        </p:spPr>
        <p:txBody>
          <a:bodyPr anchor="t" rtlCol="false" tIns="0" lIns="0" bIns="0" rIns="0">
            <a:spAutoFit/>
          </a:bodyPr>
          <a:lstStyle/>
          <a:p>
            <a:pPr marL="431801" indent="-215900" lvl="1">
              <a:lnSpc>
                <a:spcPts val="2740"/>
              </a:lnSpc>
              <a:buFont typeface="Arial"/>
              <a:buChar char="•"/>
            </a:pPr>
            <a:r>
              <a:rPr lang="en-US" sz="2000" spc="32">
                <a:solidFill>
                  <a:srgbClr val="000000"/>
                </a:solidFill>
                <a:latin typeface="Retropix"/>
              </a:rPr>
              <a:t>Baseline Model: ZeroR</a:t>
            </a:r>
          </a:p>
          <a:p>
            <a:pPr marL="431801" indent="-215900" lvl="1">
              <a:lnSpc>
                <a:spcPts val="2740"/>
              </a:lnSpc>
              <a:buFont typeface="Arial"/>
              <a:buChar char="•"/>
            </a:pPr>
            <a:r>
              <a:rPr lang="en-US" sz="2000" spc="32">
                <a:solidFill>
                  <a:srgbClr val="000000"/>
                </a:solidFill>
                <a:latin typeface="Retropix"/>
              </a:rPr>
              <a:t>Principal Component Analysis (PCA)</a:t>
            </a:r>
          </a:p>
          <a:p>
            <a:pPr marL="431801" indent="-215900" lvl="1">
              <a:lnSpc>
                <a:spcPts val="2740"/>
              </a:lnSpc>
              <a:buFont typeface="Arial"/>
              <a:buChar char="•"/>
            </a:pPr>
            <a:r>
              <a:rPr lang="en-US" sz="2000" spc="32">
                <a:solidFill>
                  <a:srgbClr val="000000"/>
                </a:solidFill>
                <a:latin typeface="Retropix"/>
              </a:rPr>
              <a:t>Logistic Regression</a:t>
            </a:r>
          </a:p>
          <a:p>
            <a:pPr marL="431801" indent="-215900" lvl="1">
              <a:lnSpc>
                <a:spcPts val="2740"/>
              </a:lnSpc>
              <a:buFont typeface="Arial"/>
              <a:buChar char="•"/>
            </a:pPr>
            <a:r>
              <a:rPr lang="en-US" sz="2000" spc="32">
                <a:solidFill>
                  <a:srgbClr val="000000"/>
                </a:solidFill>
                <a:latin typeface="Retropix"/>
              </a:rPr>
              <a:t>Decision Tree</a:t>
            </a:r>
          </a:p>
          <a:p>
            <a:pPr marL="431801" indent="-215900" lvl="1">
              <a:lnSpc>
                <a:spcPts val="2740"/>
              </a:lnSpc>
              <a:buFont typeface="Arial"/>
              <a:buChar char="•"/>
            </a:pPr>
            <a:r>
              <a:rPr lang="en-US" sz="2000" spc="32">
                <a:solidFill>
                  <a:srgbClr val="000000"/>
                </a:solidFill>
                <a:latin typeface="Retropix"/>
              </a:rPr>
              <a:t>Bagging (Random Forest)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CCCCC"/>
        </a:solidFill>
      </p:bgPr>
    </p:bg>
    <p:spTree>
      <p:nvGrpSpPr>
        <p:cNvPr id="1" name=""/>
        <p:cNvGrpSpPr/>
        <p:nvPr/>
      </p:nvGrpSpPr>
      <p:grpSpPr>
        <a:xfrm>
          <a:off x="0" y="0"/>
          <a:ext cx="0" cy="0"/>
          <a:chOff x="0" y="0"/>
          <a:chExt cx="0" cy="0"/>
        </a:xfrm>
      </p:grpSpPr>
      <p:sp>
        <p:nvSpPr>
          <p:cNvPr name="Freeform 2" id="2"/>
          <p:cNvSpPr/>
          <p:nvPr/>
        </p:nvSpPr>
        <p:spPr>
          <a:xfrm flipH="false" flipV="false" rot="0">
            <a:off x="896383" y="4612043"/>
            <a:ext cx="5065297" cy="2532649"/>
          </a:xfrm>
          <a:custGeom>
            <a:avLst/>
            <a:gdLst/>
            <a:ahLst/>
            <a:cxnLst/>
            <a:rect r="r" b="b" t="t" l="l"/>
            <a:pathLst>
              <a:path h="2532649" w="5065297">
                <a:moveTo>
                  <a:pt x="0" y="0"/>
                </a:moveTo>
                <a:lnTo>
                  <a:pt x="5065297" y="0"/>
                </a:lnTo>
                <a:lnTo>
                  <a:pt x="5065297" y="2532648"/>
                </a:lnTo>
                <a:lnTo>
                  <a:pt x="0" y="25326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586691"/>
            <a:ext cx="5065297" cy="2532649"/>
          </a:xfrm>
          <a:custGeom>
            <a:avLst/>
            <a:gdLst/>
            <a:ahLst/>
            <a:cxnLst/>
            <a:rect r="r" b="b" t="t" l="l"/>
            <a:pathLst>
              <a:path h="2532649" w="5065297">
                <a:moveTo>
                  <a:pt x="0" y="0"/>
                </a:moveTo>
                <a:lnTo>
                  <a:pt x="5065297" y="0"/>
                </a:lnTo>
                <a:lnTo>
                  <a:pt x="5065297" y="2532648"/>
                </a:lnTo>
                <a:lnTo>
                  <a:pt x="0" y="2532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093997" y="3879443"/>
            <a:ext cx="5065297" cy="2532649"/>
          </a:xfrm>
          <a:custGeom>
            <a:avLst/>
            <a:gdLst/>
            <a:ahLst/>
            <a:cxnLst/>
            <a:rect r="r" b="b" t="t" l="l"/>
            <a:pathLst>
              <a:path h="2532649" w="5065297">
                <a:moveTo>
                  <a:pt x="0" y="0"/>
                </a:moveTo>
                <a:lnTo>
                  <a:pt x="5065297" y="0"/>
                </a:lnTo>
                <a:lnTo>
                  <a:pt x="5065297" y="2532649"/>
                </a:lnTo>
                <a:lnTo>
                  <a:pt x="0" y="25326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874833" y="3852268"/>
            <a:ext cx="5065297" cy="2532649"/>
          </a:xfrm>
          <a:custGeom>
            <a:avLst/>
            <a:gdLst/>
            <a:ahLst/>
            <a:cxnLst/>
            <a:rect r="r" b="b" t="t" l="l"/>
            <a:pathLst>
              <a:path h="2532649" w="5065297">
                <a:moveTo>
                  <a:pt x="0" y="0"/>
                </a:moveTo>
                <a:lnTo>
                  <a:pt x="5065297" y="0"/>
                </a:lnTo>
                <a:lnTo>
                  <a:pt x="5065297" y="2532649"/>
                </a:lnTo>
                <a:lnTo>
                  <a:pt x="0" y="25326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055338" y="5258224"/>
            <a:ext cx="6696751" cy="3348376"/>
          </a:xfrm>
          <a:custGeom>
            <a:avLst/>
            <a:gdLst/>
            <a:ahLst/>
            <a:cxnLst/>
            <a:rect r="r" b="b" t="t" l="l"/>
            <a:pathLst>
              <a:path h="3348376" w="6696751">
                <a:moveTo>
                  <a:pt x="0" y="0"/>
                </a:moveTo>
                <a:lnTo>
                  <a:pt x="6696751" y="0"/>
                </a:lnTo>
                <a:lnTo>
                  <a:pt x="6696751" y="3348375"/>
                </a:lnTo>
                <a:lnTo>
                  <a:pt x="0" y="3348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456685" y="0"/>
            <a:ext cx="23466005" cy="795781"/>
            <a:chOff x="0" y="0"/>
            <a:chExt cx="31288006" cy="1061041"/>
          </a:xfrm>
        </p:grpSpPr>
        <p:grpSp>
          <p:nvGrpSpPr>
            <p:cNvPr name="Group 8" id="8"/>
            <p:cNvGrpSpPr/>
            <p:nvPr/>
          </p:nvGrpSpPr>
          <p:grpSpPr>
            <a:xfrm rot="0">
              <a:off x="0" y="0"/>
              <a:ext cx="31288006" cy="1061041"/>
              <a:chOff x="0" y="0"/>
              <a:chExt cx="6180347" cy="209588"/>
            </a:xfrm>
          </p:grpSpPr>
          <p:sp>
            <p:nvSpPr>
              <p:cNvPr name="Freeform 9" id="9"/>
              <p:cNvSpPr/>
              <p:nvPr/>
            </p:nvSpPr>
            <p:spPr>
              <a:xfrm flipH="false" flipV="false" rot="0">
                <a:off x="0" y="0"/>
                <a:ext cx="6180347" cy="209588"/>
              </a:xfrm>
              <a:custGeom>
                <a:avLst/>
                <a:gdLst/>
                <a:ahLst/>
                <a:cxnLst/>
                <a:rect r="r" b="b" t="t" l="l"/>
                <a:pathLst>
                  <a:path h="209588" w="6180347">
                    <a:moveTo>
                      <a:pt x="0" y="0"/>
                    </a:moveTo>
                    <a:lnTo>
                      <a:pt x="6180347" y="0"/>
                    </a:lnTo>
                    <a:lnTo>
                      <a:pt x="6180347" y="209588"/>
                    </a:lnTo>
                    <a:lnTo>
                      <a:pt x="0" y="209588"/>
                    </a:lnTo>
                    <a:close/>
                  </a:path>
                </a:pathLst>
              </a:custGeom>
              <a:solidFill>
                <a:srgbClr val="067A7B"/>
              </a:solidFill>
              <a:ln w="95250" cap="sq">
                <a:solidFill>
                  <a:srgbClr val="067A7B"/>
                </a:solidFill>
                <a:prstDash val="solid"/>
                <a:miter/>
              </a:ln>
            </p:spPr>
          </p:sp>
          <p:sp>
            <p:nvSpPr>
              <p:cNvPr name="TextBox 10" id="10"/>
              <p:cNvSpPr txBox="true"/>
              <p:nvPr/>
            </p:nvSpPr>
            <p:spPr>
              <a:xfrm>
                <a:off x="0" y="-47625"/>
                <a:ext cx="6180347" cy="257213"/>
              </a:xfrm>
              <a:prstGeom prst="rect">
                <a:avLst/>
              </a:prstGeom>
            </p:spPr>
            <p:txBody>
              <a:bodyPr anchor="ctr" rtlCol="false" tIns="254000" lIns="254000" bIns="254000" rIns="254000"/>
              <a:lstStyle/>
              <a:p>
                <a:pPr>
                  <a:lnSpc>
                    <a:spcPts val="3499"/>
                  </a:lnSpc>
                </a:pPr>
              </a:p>
            </p:txBody>
          </p:sp>
        </p:grpSp>
        <p:sp>
          <p:nvSpPr>
            <p:cNvPr name="TextBox 11" id="11"/>
            <p:cNvSpPr txBox="true"/>
            <p:nvPr/>
          </p:nvSpPr>
          <p:spPr>
            <a:xfrm rot="0">
              <a:off x="493425" y="269112"/>
              <a:ext cx="30301156"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ZeroR Baseline Model • ZeroR Baseline Model • ZeroR Baseline Model • ZeroR Baseline Model ZeroR Baseline Model • ZeroR Baseline Model • ZeroR Baseline</a:t>
              </a:r>
              <a:r>
                <a:rPr lang="en-US" sz="2499">
                  <a:solidFill>
                    <a:srgbClr val="FFFFFF"/>
                  </a:solidFill>
                  <a:latin typeface="Retropix"/>
                </a:rPr>
                <a:t> </a:t>
              </a:r>
            </a:p>
          </p:txBody>
        </p:sp>
      </p:grpSp>
      <p:sp>
        <p:nvSpPr>
          <p:cNvPr name="TextBox 12" id="12"/>
          <p:cNvSpPr txBox="true"/>
          <p:nvPr/>
        </p:nvSpPr>
        <p:spPr>
          <a:xfrm rot="0">
            <a:off x="896383" y="6149964"/>
            <a:ext cx="5060764" cy="1989455"/>
          </a:xfrm>
          <a:prstGeom prst="rect">
            <a:avLst/>
          </a:prstGeom>
        </p:spPr>
        <p:txBody>
          <a:bodyPr anchor="t" rtlCol="false" tIns="0" lIns="0" bIns="0" rIns="0">
            <a:spAutoFit/>
          </a:bodyPr>
          <a:lstStyle/>
          <a:p>
            <a:pPr marL="474979" indent="-237490" lvl="1">
              <a:lnSpc>
                <a:spcPts val="2199"/>
              </a:lnSpc>
              <a:buFont typeface="Arial"/>
              <a:buChar char="•"/>
            </a:pPr>
            <a:r>
              <a:rPr lang="en-US" sz="2199">
                <a:solidFill>
                  <a:srgbClr val="000000"/>
                </a:solidFill>
                <a:latin typeface="Retropix"/>
              </a:rPr>
              <a:t>Baseline Model: ZeroR (Zero Rule) serves as a simple baseline model for comparison.</a:t>
            </a:r>
          </a:p>
          <a:p>
            <a:pPr marL="474979" indent="-237490" lvl="1">
              <a:lnSpc>
                <a:spcPts val="2199"/>
              </a:lnSpc>
              <a:buFont typeface="Arial"/>
              <a:buChar char="•"/>
            </a:pPr>
            <a:r>
              <a:rPr lang="en-US" sz="2199">
                <a:solidFill>
                  <a:srgbClr val="000000"/>
                </a:solidFill>
                <a:latin typeface="Retropix"/>
              </a:rPr>
              <a:t>Prediction Strategy: The ZeroR model predicts the majority class for all instances in the testing set.</a:t>
            </a:r>
          </a:p>
          <a:p>
            <a:pPr>
              <a:lnSpc>
                <a:spcPts val="2199"/>
              </a:lnSpc>
            </a:pPr>
          </a:p>
        </p:txBody>
      </p:sp>
      <p:sp>
        <p:nvSpPr>
          <p:cNvPr name="TextBox 13" id="13"/>
          <p:cNvSpPr txBox="true"/>
          <p:nvPr/>
        </p:nvSpPr>
        <p:spPr>
          <a:xfrm rot="0">
            <a:off x="519342" y="4967885"/>
            <a:ext cx="5197614" cy="604520"/>
          </a:xfrm>
          <a:prstGeom prst="rect">
            <a:avLst/>
          </a:prstGeom>
        </p:spPr>
        <p:txBody>
          <a:bodyPr anchor="t" rtlCol="false" tIns="0" lIns="0" bIns="0" rIns="0">
            <a:spAutoFit/>
          </a:bodyPr>
          <a:lstStyle/>
          <a:p>
            <a:pPr algn="ctr">
              <a:lnSpc>
                <a:spcPts val="4479"/>
              </a:lnSpc>
            </a:pPr>
            <a:r>
              <a:rPr lang="en-US" sz="3199">
                <a:solidFill>
                  <a:srgbClr val="000000"/>
                </a:solidFill>
                <a:latin typeface="Retropix"/>
              </a:rPr>
              <a:t>Ze</a:t>
            </a:r>
            <a:r>
              <a:rPr lang="en-US" sz="3199">
                <a:solidFill>
                  <a:srgbClr val="000000"/>
                </a:solidFill>
                <a:latin typeface="Retropix"/>
              </a:rPr>
              <a:t>roR Model Overview:</a:t>
            </a:r>
          </a:p>
        </p:txBody>
      </p:sp>
      <p:sp>
        <p:nvSpPr>
          <p:cNvPr name="TextBox 14" id="14"/>
          <p:cNvSpPr txBox="true"/>
          <p:nvPr/>
        </p:nvSpPr>
        <p:spPr>
          <a:xfrm rot="0">
            <a:off x="11055338" y="5989866"/>
            <a:ext cx="6529030" cy="2815451"/>
          </a:xfrm>
          <a:prstGeom prst="rect">
            <a:avLst/>
          </a:prstGeom>
        </p:spPr>
        <p:txBody>
          <a:bodyPr anchor="t" rtlCol="false" tIns="0" lIns="0" bIns="0" rIns="0">
            <a:spAutoFit/>
          </a:bodyPr>
          <a:lstStyle/>
          <a:p>
            <a:pPr marL="533169" indent="-266584" lvl="1">
              <a:lnSpc>
                <a:spcPts val="2469"/>
              </a:lnSpc>
              <a:buFont typeface="Arial"/>
              <a:buChar char="•"/>
            </a:pPr>
            <a:r>
              <a:rPr lang="en-US" sz="2469">
                <a:solidFill>
                  <a:srgbClr val="000000"/>
                </a:solidFill>
                <a:latin typeface="Retropix"/>
              </a:rPr>
              <a:t>While</a:t>
            </a:r>
            <a:r>
              <a:rPr lang="en-US" sz="2469">
                <a:solidFill>
                  <a:srgbClr val="000000"/>
                </a:solidFill>
                <a:latin typeface="Retropix"/>
              </a:rPr>
              <a:t> simplistic, the ZeroR model provides a benchmark for evaluating the performance of more complex models.</a:t>
            </a:r>
          </a:p>
          <a:p>
            <a:pPr marL="533169" indent="-266584" lvl="1">
              <a:lnSpc>
                <a:spcPts val="2469"/>
              </a:lnSpc>
              <a:buFont typeface="Arial"/>
              <a:buChar char="•"/>
            </a:pPr>
            <a:r>
              <a:rPr lang="en-US" sz="2469">
                <a:solidFill>
                  <a:srgbClr val="000000"/>
                </a:solidFill>
                <a:latin typeface="Retropix"/>
              </a:rPr>
              <a:t>Any predictive model developed should outperform the success rate achieved by the ZeroR model to be considered effective.</a:t>
            </a:r>
          </a:p>
          <a:p>
            <a:pPr>
              <a:lnSpc>
                <a:spcPts val="2469"/>
              </a:lnSpc>
            </a:pPr>
          </a:p>
        </p:txBody>
      </p:sp>
      <p:grpSp>
        <p:nvGrpSpPr>
          <p:cNvPr name="Group 15" id="15"/>
          <p:cNvGrpSpPr/>
          <p:nvPr/>
        </p:nvGrpSpPr>
        <p:grpSpPr>
          <a:xfrm rot="0">
            <a:off x="-2589002" y="9491219"/>
            <a:ext cx="23466005" cy="795781"/>
            <a:chOff x="0" y="0"/>
            <a:chExt cx="31288006" cy="1061041"/>
          </a:xfrm>
        </p:grpSpPr>
        <p:grpSp>
          <p:nvGrpSpPr>
            <p:cNvPr name="Group 16" id="16"/>
            <p:cNvGrpSpPr/>
            <p:nvPr/>
          </p:nvGrpSpPr>
          <p:grpSpPr>
            <a:xfrm rot="0">
              <a:off x="0" y="0"/>
              <a:ext cx="31288006" cy="1061041"/>
              <a:chOff x="0" y="0"/>
              <a:chExt cx="6180347" cy="209588"/>
            </a:xfrm>
          </p:grpSpPr>
          <p:sp>
            <p:nvSpPr>
              <p:cNvPr name="Freeform 17" id="17"/>
              <p:cNvSpPr/>
              <p:nvPr/>
            </p:nvSpPr>
            <p:spPr>
              <a:xfrm flipH="false" flipV="false" rot="0">
                <a:off x="0" y="0"/>
                <a:ext cx="6180347" cy="209588"/>
              </a:xfrm>
              <a:custGeom>
                <a:avLst/>
                <a:gdLst/>
                <a:ahLst/>
                <a:cxnLst/>
                <a:rect r="r" b="b" t="t" l="l"/>
                <a:pathLst>
                  <a:path h="209588" w="6180347">
                    <a:moveTo>
                      <a:pt x="0" y="0"/>
                    </a:moveTo>
                    <a:lnTo>
                      <a:pt x="6180347" y="0"/>
                    </a:lnTo>
                    <a:lnTo>
                      <a:pt x="6180347" y="209588"/>
                    </a:lnTo>
                    <a:lnTo>
                      <a:pt x="0" y="209588"/>
                    </a:lnTo>
                    <a:close/>
                  </a:path>
                </a:pathLst>
              </a:custGeom>
              <a:solidFill>
                <a:srgbClr val="067A7B"/>
              </a:solidFill>
              <a:ln w="95250" cap="sq">
                <a:solidFill>
                  <a:srgbClr val="067A7B"/>
                </a:solidFill>
                <a:prstDash val="solid"/>
                <a:miter/>
              </a:ln>
            </p:spPr>
          </p:sp>
          <p:sp>
            <p:nvSpPr>
              <p:cNvPr name="TextBox 18" id="18"/>
              <p:cNvSpPr txBox="true"/>
              <p:nvPr/>
            </p:nvSpPr>
            <p:spPr>
              <a:xfrm>
                <a:off x="0" y="-47625"/>
                <a:ext cx="6180347" cy="257213"/>
              </a:xfrm>
              <a:prstGeom prst="rect">
                <a:avLst/>
              </a:prstGeom>
            </p:spPr>
            <p:txBody>
              <a:bodyPr anchor="ctr" rtlCol="false" tIns="254000" lIns="254000" bIns="254000" rIns="254000"/>
              <a:lstStyle/>
              <a:p>
                <a:pPr>
                  <a:lnSpc>
                    <a:spcPts val="3499"/>
                  </a:lnSpc>
                </a:pPr>
              </a:p>
            </p:txBody>
          </p:sp>
        </p:grpSp>
        <p:sp>
          <p:nvSpPr>
            <p:cNvPr name="TextBox 19" id="19"/>
            <p:cNvSpPr txBox="true"/>
            <p:nvPr/>
          </p:nvSpPr>
          <p:spPr>
            <a:xfrm rot="0">
              <a:off x="493425" y="269112"/>
              <a:ext cx="30301156"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ZeroR Baseline Model • ZeroR Baseline Model • ZeroR Baseline Model • ZeroR Baseline Model ZeroR Baseline Model • ZeroR Baseline Model • ZeroR Baseline </a:t>
              </a:r>
            </a:p>
          </p:txBody>
        </p:sp>
      </p:grpSp>
      <p:sp>
        <p:nvSpPr>
          <p:cNvPr name="Freeform 20" id="20"/>
          <p:cNvSpPr/>
          <p:nvPr/>
        </p:nvSpPr>
        <p:spPr>
          <a:xfrm flipH="false" flipV="false" rot="0">
            <a:off x="10812971" y="5586691"/>
            <a:ext cx="484735" cy="825401"/>
          </a:xfrm>
          <a:custGeom>
            <a:avLst/>
            <a:gdLst/>
            <a:ahLst/>
            <a:cxnLst/>
            <a:rect r="r" b="b" t="t" l="l"/>
            <a:pathLst>
              <a:path h="825401" w="484735">
                <a:moveTo>
                  <a:pt x="0" y="0"/>
                </a:moveTo>
                <a:lnTo>
                  <a:pt x="484735" y="0"/>
                </a:lnTo>
                <a:lnTo>
                  <a:pt x="484735" y="825401"/>
                </a:lnTo>
                <a:lnTo>
                  <a:pt x="0" y="825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4690244" y="991145"/>
            <a:ext cx="8907512" cy="1336675"/>
          </a:xfrm>
          <a:prstGeom prst="rect">
            <a:avLst/>
          </a:prstGeom>
        </p:spPr>
        <p:txBody>
          <a:bodyPr anchor="t" rtlCol="false" tIns="0" lIns="0" bIns="0" rIns="0">
            <a:spAutoFit/>
          </a:bodyPr>
          <a:lstStyle/>
          <a:p>
            <a:pPr algn="ctr">
              <a:lnSpc>
                <a:spcPts val="9799"/>
              </a:lnSpc>
            </a:pPr>
            <a:r>
              <a:rPr lang="en-US" sz="6999">
                <a:solidFill>
                  <a:srgbClr val="000000"/>
                </a:solidFill>
                <a:latin typeface="Retropix"/>
              </a:rPr>
              <a:t>ZeroR Baseline Model</a:t>
            </a:r>
          </a:p>
        </p:txBody>
      </p:sp>
      <p:sp>
        <p:nvSpPr>
          <p:cNvPr name="TextBox 22" id="22"/>
          <p:cNvSpPr txBox="true"/>
          <p:nvPr/>
        </p:nvSpPr>
        <p:spPr>
          <a:xfrm rot="0">
            <a:off x="6192124" y="4737780"/>
            <a:ext cx="4869043" cy="673100"/>
          </a:xfrm>
          <a:prstGeom prst="rect">
            <a:avLst/>
          </a:prstGeom>
        </p:spPr>
        <p:txBody>
          <a:bodyPr anchor="t" rtlCol="false" tIns="0" lIns="0" bIns="0" rIns="0">
            <a:spAutoFit/>
          </a:bodyPr>
          <a:lstStyle/>
          <a:p>
            <a:pPr>
              <a:lnSpc>
                <a:spcPts val="4899"/>
              </a:lnSpc>
            </a:pPr>
            <a:r>
              <a:rPr lang="en-US" sz="3499">
                <a:solidFill>
                  <a:srgbClr val="000000"/>
                </a:solidFill>
                <a:latin typeface="Retropix"/>
              </a:rPr>
              <a:t>Model Evaluation</a:t>
            </a:r>
          </a:p>
        </p:txBody>
      </p:sp>
      <p:sp>
        <p:nvSpPr>
          <p:cNvPr name="TextBox 23" id="23"/>
          <p:cNvSpPr txBox="true"/>
          <p:nvPr/>
        </p:nvSpPr>
        <p:spPr>
          <a:xfrm rot="0">
            <a:off x="12982610" y="4514073"/>
            <a:ext cx="4849744" cy="604520"/>
          </a:xfrm>
          <a:prstGeom prst="rect">
            <a:avLst/>
          </a:prstGeom>
        </p:spPr>
        <p:txBody>
          <a:bodyPr anchor="t" rtlCol="false" tIns="0" lIns="0" bIns="0" rIns="0">
            <a:spAutoFit/>
          </a:bodyPr>
          <a:lstStyle/>
          <a:p>
            <a:pPr>
              <a:lnSpc>
                <a:spcPts val="4479"/>
              </a:lnSpc>
            </a:pPr>
            <a:r>
              <a:rPr lang="en-US" sz="3199">
                <a:solidFill>
                  <a:srgbClr val="000000"/>
                </a:solidFill>
                <a:latin typeface="Retropix"/>
              </a:rPr>
              <a:t>Imp</a:t>
            </a:r>
            <a:r>
              <a:rPr lang="en-US" sz="3199">
                <a:solidFill>
                  <a:srgbClr val="000000"/>
                </a:solidFill>
                <a:latin typeface="Retropix"/>
              </a:rPr>
              <a:t>lications: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67A7B"/>
        </a:solidFill>
      </p:bgPr>
    </p:bg>
    <p:spTree>
      <p:nvGrpSpPr>
        <p:cNvPr id="1" name=""/>
        <p:cNvGrpSpPr/>
        <p:nvPr/>
      </p:nvGrpSpPr>
      <p:grpSpPr>
        <a:xfrm>
          <a:off x="0" y="0"/>
          <a:ext cx="0" cy="0"/>
          <a:chOff x="0" y="0"/>
          <a:chExt cx="0" cy="0"/>
        </a:xfrm>
      </p:grpSpPr>
      <p:grpSp>
        <p:nvGrpSpPr>
          <p:cNvPr name="Group 2" id="2"/>
          <p:cNvGrpSpPr/>
          <p:nvPr/>
        </p:nvGrpSpPr>
        <p:grpSpPr>
          <a:xfrm rot="0">
            <a:off x="4877084" y="465050"/>
            <a:ext cx="6862132" cy="6862132"/>
            <a:chOff x="0" y="0"/>
            <a:chExt cx="9149510" cy="9149510"/>
          </a:xfrm>
        </p:grpSpPr>
        <p:sp>
          <p:nvSpPr>
            <p:cNvPr name="Freeform 3" id="3"/>
            <p:cNvSpPr/>
            <p:nvPr/>
          </p:nvSpPr>
          <p:spPr>
            <a:xfrm flipH="false" flipV="false" rot="0">
              <a:off x="0" y="0"/>
              <a:ext cx="9149510" cy="9149510"/>
            </a:xfrm>
            <a:custGeom>
              <a:avLst/>
              <a:gdLst/>
              <a:ahLst/>
              <a:cxnLst/>
              <a:rect r="r" b="b" t="t" l="l"/>
              <a:pathLst>
                <a:path h="9149510" w="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341154" y="287255"/>
              <a:ext cx="444643" cy="430091"/>
            </a:xfrm>
            <a:custGeom>
              <a:avLst/>
              <a:gdLst/>
              <a:ahLst/>
              <a:cxnLst/>
              <a:rect r="r" b="b" t="t" l="l"/>
              <a:pathLst>
                <a:path h="430091" w="444643">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5" id="5"/>
          <p:cNvSpPr txBox="true"/>
          <p:nvPr/>
        </p:nvSpPr>
        <p:spPr>
          <a:xfrm rot="0">
            <a:off x="5087374" y="1730207"/>
            <a:ext cx="6263314" cy="3768090"/>
          </a:xfrm>
          <a:prstGeom prst="rect">
            <a:avLst/>
          </a:prstGeom>
        </p:spPr>
        <p:txBody>
          <a:bodyPr anchor="t" rtlCol="false" tIns="0" lIns="0" bIns="0" rIns="0">
            <a:spAutoFit/>
          </a:bodyPr>
          <a:lstStyle/>
          <a:p>
            <a:pPr marL="518163" indent="-259082" lvl="1">
              <a:lnSpc>
                <a:spcPts val="3360"/>
              </a:lnSpc>
              <a:buFont typeface="Arial"/>
              <a:buChar char="•"/>
            </a:pPr>
            <a:r>
              <a:rPr lang="en-US" sz="2400">
                <a:solidFill>
                  <a:srgbClr val="000000"/>
                </a:solidFill>
                <a:latin typeface="Public Sans Bold"/>
              </a:rPr>
              <a:t>PCA Results: </a:t>
            </a:r>
            <a:r>
              <a:rPr lang="en-US" sz="2400">
                <a:solidFill>
                  <a:srgbClr val="000000"/>
                </a:solidFill>
                <a:latin typeface="Public Sans"/>
              </a:rPr>
              <a:t>Explored the va</a:t>
            </a:r>
            <a:r>
              <a:rPr lang="en-US" sz="2400">
                <a:solidFill>
                  <a:srgbClr val="000000"/>
                </a:solidFill>
                <a:latin typeface="Public Sans"/>
              </a:rPr>
              <a:t>riance explained by each principal component.</a:t>
            </a:r>
          </a:p>
          <a:p>
            <a:pPr marL="518163" indent="-259082" lvl="1">
              <a:lnSpc>
                <a:spcPts val="3360"/>
              </a:lnSpc>
              <a:buFont typeface="Arial"/>
              <a:buChar char="•"/>
            </a:pPr>
            <a:r>
              <a:rPr lang="en-US" sz="2400">
                <a:solidFill>
                  <a:srgbClr val="000000"/>
                </a:solidFill>
                <a:latin typeface="Public Sans Bold"/>
              </a:rPr>
              <a:t>Scree Plot:</a:t>
            </a:r>
            <a:r>
              <a:rPr lang="en-US" sz="2400">
                <a:solidFill>
                  <a:srgbClr val="000000"/>
                </a:solidFill>
                <a:latin typeface="Public Sans"/>
              </a:rPr>
              <a:t> Visualized the proportion of variance explained by each principal component.</a:t>
            </a:r>
          </a:p>
          <a:p>
            <a:pPr algn="l" marL="518163" indent="-259082" lvl="1">
              <a:lnSpc>
                <a:spcPts val="3360"/>
              </a:lnSpc>
              <a:buFont typeface="Arial"/>
              <a:buChar char="•"/>
            </a:pPr>
            <a:r>
              <a:rPr lang="en-US" sz="2400">
                <a:solidFill>
                  <a:srgbClr val="000000"/>
                </a:solidFill>
                <a:latin typeface="Public Sans Bold"/>
              </a:rPr>
              <a:t>Dim</a:t>
            </a:r>
            <a:r>
              <a:rPr lang="en-US" sz="2400">
                <a:solidFill>
                  <a:srgbClr val="000000"/>
                </a:solidFill>
                <a:latin typeface="Public Sans Bold"/>
              </a:rPr>
              <a:t>ension Reduction: </a:t>
            </a:r>
            <a:r>
              <a:rPr lang="en-US" sz="2400">
                <a:solidFill>
                  <a:srgbClr val="000000"/>
                </a:solidFill>
                <a:latin typeface="Public Sans"/>
              </a:rPr>
              <a:t>Selected a subset of principal components to achieve significant variance capture while reducing dimensions.</a:t>
            </a:r>
          </a:p>
        </p:txBody>
      </p:sp>
      <p:grpSp>
        <p:nvGrpSpPr>
          <p:cNvPr name="Group 6" id="6"/>
          <p:cNvGrpSpPr/>
          <p:nvPr/>
        </p:nvGrpSpPr>
        <p:grpSpPr>
          <a:xfrm rot="0">
            <a:off x="-673740" y="2552141"/>
            <a:ext cx="6138983" cy="6138983"/>
            <a:chOff x="0" y="0"/>
            <a:chExt cx="8185311" cy="8185311"/>
          </a:xfrm>
        </p:grpSpPr>
        <p:sp>
          <p:nvSpPr>
            <p:cNvPr name="Freeform 7" id="7"/>
            <p:cNvSpPr/>
            <p:nvPr/>
          </p:nvSpPr>
          <p:spPr>
            <a:xfrm flipH="false" flipV="false" rot="0">
              <a:off x="0" y="0"/>
              <a:ext cx="8185311" cy="8185311"/>
            </a:xfrm>
            <a:custGeom>
              <a:avLst/>
              <a:gdLst/>
              <a:ahLst/>
              <a:cxnLst/>
              <a:rect r="r" b="b" t="t" l="l"/>
              <a:pathLst>
                <a:path h="8185311" w="8185311">
                  <a:moveTo>
                    <a:pt x="0" y="0"/>
                  </a:moveTo>
                  <a:lnTo>
                    <a:pt x="8185311" y="0"/>
                  </a:lnTo>
                  <a:lnTo>
                    <a:pt x="8185311" y="8185311"/>
                  </a:lnTo>
                  <a:lnTo>
                    <a:pt x="0" y="8185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7462142" y="256984"/>
              <a:ext cx="397786" cy="384767"/>
            </a:xfrm>
            <a:custGeom>
              <a:avLst/>
              <a:gdLst/>
              <a:ahLst/>
              <a:cxnLst/>
              <a:rect r="r" b="b" t="t" l="l"/>
              <a:pathLst>
                <a:path h="384767" w="397786">
                  <a:moveTo>
                    <a:pt x="0" y="0"/>
                  </a:moveTo>
                  <a:lnTo>
                    <a:pt x="397786" y="0"/>
                  </a:lnTo>
                  <a:lnTo>
                    <a:pt x="397786" y="384767"/>
                  </a:lnTo>
                  <a:lnTo>
                    <a:pt x="0" y="3847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9" id="9"/>
          <p:cNvGrpSpPr/>
          <p:nvPr/>
        </p:nvGrpSpPr>
        <p:grpSpPr>
          <a:xfrm rot="0">
            <a:off x="4877084" y="5836520"/>
            <a:ext cx="6862132" cy="6862132"/>
            <a:chOff x="0" y="0"/>
            <a:chExt cx="9149510" cy="9149510"/>
          </a:xfrm>
        </p:grpSpPr>
        <p:sp>
          <p:nvSpPr>
            <p:cNvPr name="Freeform 10" id="10"/>
            <p:cNvSpPr/>
            <p:nvPr/>
          </p:nvSpPr>
          <p:spPr>
            <a:xfrm flipH="false" flipV="false" rot="0">
              <a:off x="0" y="0"/>
              <a:ext cx="9149510" cy="9149510"/>
            </a:xfrm>
            <a:custGeom>
              <a:avLst/>
              <a:gdLst/>
              <a:ahLst/>
              <a:cxnLst/>
              <a:rect r="r" b="b" t="t" l="l"/>
              <a:pathLst>
                <a:path h="9149510" w="9149510">
                  <a:moveTo>
                    <a:pt x="0" y="0"/>
                  </a:moveTo>
                  <a:lnTo>
                    <a:pt x="9149510" y="0"/>
                  </a:lnTo>
                  <a:lnTo>
                    <a:pt x="9149510" y="9149510"/>
                  </a:lnTo>
                  <a:lnTo>
                    <a:pt x="0" y="9149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8341154" y="287255"/>
              <a:ext cx="444643" cy="430091"/>
            </a:xfrm>
            <a:custGeom>
              <a:avLst/>
              <a:gdLst/>
              <a:ahLst/>
              <a:cxnLst/>
              <a:rect r="r" b="b" t="t" l="l"/>
              <a:pathLst>
                <a:path h="430091" w="444643">
                  <a:moveTo>
                    <a:pt x="0" y="0"/>
                  </a:moveTo>
                  <a:lnTo>
                    <a:pt x="444644" y="0"/>
                  </a:lnTo>
                  <a:lnTo>
                    <a:pt x="444644" y="430092"/>
                  </a:lnTo>
                  <a:lnTo>
                    <a:pt x="0" y="430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2" id="12"/>
          <p:cNvGrpSpPr/>
          <p:nvPr/>
        </p:nvGrpSpPr>
        <p:grpSpPr>
          <a:xfrm rot="0">
            <a:off x="11407698" y="1251321"/>
            <a:ext cx="7404340" cy="7404340"/>
            <a:chOff x="0" y="0"/>
            <a:chExt cx="9872453" cy="9872453"/>
          </a:xfrm>
        </p:grpSpPr>
        <p:sp>
          <p:nvSpPr>
            <p:cNvPr name="Freeform 13" id="13"/>
            <p:cNvSpPr/>
            <p:nvPr/>
          </p:nvSpPr>
          <p:spPr>
            <a:xfrm flipH="false" flipV="false" rot="0">
              <a:off x="0" y="0"/>
              <a:ext cx="9872453" cy="9872453"/>
            </a:xfrm>
            <a:custGeom>
              <a:avLst/>
              <a:gdLst/>
              <a:ahLst/>
              <a:cxnLst/>
              <a:rect r="r" b="b" t="t" l="l"/>
              <a:pathLst>
                <a:path h="9872453" w="9872453">
                  <a:moveTo>
                    <a:pt x="0" y="0"/>
                  </a:moveTo>
                  <a:lnTo>
                    <a:pt x="9872453" y="0"/>
                  </a:lnTo>
                  <a:lnTo>
                    <a:pt x="9872453" y="9872453"/>
                  </a:lnTo>
                  <a:lnTo>
                    <a:pt x="0" y="98724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9000226" y="309953"/>
              <a:ext cx="479777" cy="464075"/>
            </a:xfrm>
            <a:custGeom>
              <a:avLst/>
              <a:gdLst/>
              <a:ahLst/>
              <a:cxnLst/>
              <a:rect r="r" b="b" t="t" l="l"/>
              <a:pathLst>
                <a:path h="464075" w="479777">
                  <a:moveTo>
                    <a:pt x="0" y="0"/>
                  </a:moveTo>
                  <a:lnTo>
                    <a:pt x="479777" y="0"/>
                  </a:lnTo>
                  <a:lnTo>
                    <a:pt x="479777" y="464075"/>
                  </a:lnTo>
                  <a:lnTo>
                    <a:pt x="0" y="464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5" id="15"/>
          <p:cNvSpPr txBox="true"/>
          <p:nvPr/>
        </p:nvSpPr>
        <p:spPr>
          <a:xfrm rot="0">
            <a:off x="237414" y="-9525"/>
            <a:ext cx="4816795" cy="2842593"/>
          </a:xfrm>
          <a:prstGeom prst="rect">
            <a:avLst/>
          </a:prstGeom>
        </p:spPr>
        <p:txBody>
          <a:bodyPr anchor="t" rtlCol="false" tIns="0" lIns="0" bIns="0" rIns="0">
            <a:spAutoFit/>
          </a:bodyPr>
          <a:lstStyle/>
          <a:p>
            <a:pPr>
              <a:lnSpc>
                <a:spcPts val="5329"/>
              </a:lnSpc>
            </a:pPr>
            <a:r>
              <a:rPr lang="en-US" sz="5329">
                <a:solidFill>
                  <a:srgbClr val="FFFFFF"/>
                </a:solidFill>
                <a:latin typeface="Retropix"/>
              </a:rPr>
              <a:t>Principal Component Analysis (PCA)</a:t>
            </a:r>
          </a:p>
          <a:p>
            <a:pPr>
              <a:lnSpc>
                <a:spcPts val="5329"/>
              </a:lnSpc>
            </a:pPr>
          </a:p>
        </p:txBody>
      </p:sp>
      <p:sp>
        <p:nvSpPr>
          <p:cNvPr name="Freeform 16" id="16"/>
          <p:cNvSpPr/>
          <p:nvPr/>
        </p:nvSpPr>
        <p:spPr>
          <a:xfrm flipH="false" flipV="false" rot="0">
            <a:off x="11639695" y="2534168"/>
            <a:ext cx="6840954" cy="5737359"/>
          </a:xfrm>
          <a:custGeom>
            <a:avLst/>
            <a:gdLst/>
            <a:ahLst/>
            <a:cxnLst/>
            <a:rect r="r" b="b" t="t" l="l"/>
            <a:pathLst>
              <a:path h="5737359" w="6840954">
                <a:moveTo>
                  <a:pt x="0" y="0"/>
                </a:moveTo>
                <a:lnTo>
                  <a:pt x="6840954" y="0"/>
                </a:lnTo>
                <a:lnTo>
                  <a:pt x="6840954" y="5737359"/>
                </a:lnTo>
                <a:lnTo>
                  <a:pt x="0" y="5737359"/>
                </a:lnTo>
                <a:lnTo>
                  <a:pt x="0" y="0"/>
                </a:lnTo>
                <a:close/>
              </a:path>
            </a:pathLst>
          </a:custGeom>
          <a:blipFill>
            <a:blip r:embed="rId6"/>
            <a:stretch>
              <a:fillRect l="-3944" t="-1967" r="-5397" b="0"/>
            </a:stretch>
          </a:blipFill>
        </p:spPr>
      </p:sp>
      <p:grpSp>
        <p:nvGrpSpPr>
          <p:cNvPr name="Group 17" id="17"/>
          <p:cNvGrpSpPr/>
          <p:nvPr/>
        </p:nvGrpSpPr>
        <p:grpSpPr>
          <a:xfrm rot="0">
            <a:off x="0" y="9036025"/>
            <a:ext cx="18288000" cy="1234302"/>
            <a:chOff x="0" y="0"/>
            <a:chExt cx="4816593" cy="325084"/>
          </a:xfrm>
        </p:grpSpPr>
        <p:sp>
          <p:nvSpPr>
            <p:cNvPr name="Freeform 18" id="18"/>
            <p:cNvSpPr/>
            <p:nvPr/>
          </p:nvSpPr>
          <p:spPr>
            <a:xfrm flipH="false" flipV="false" rot="0">
              <a:off x="0" y="0"/>
              <a:ext cx="4816592" cy="325084"/>
            </a:xfrm>
            <a:custGeom>
              <a:avLst/>
              <a:gdLst/>
              <a:ahLst/>
              <a:cxnLst/>
              <a:rect r="r" b="b" t="t" l="l"/>
              <a:pathLst>
                <a:path h="325084" w="4816592">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name="TextBox 19" id="19"/>
            <p:cNvSpPr txBox="true"/>
            <p:nvPr/>
          </p:nvSpPr>
          <p:spPr>
            <a:xfrm>
              <a:off x="0" y="-38100"/>
              <a:ext cx="4816593" cy="363184"/>
            </a:xfrm>
            <a:prstGeom prst="rect">
              <a:avLst/>
            </a:prstGeom>
          </p:spPr>
          <p:txBody>
            <a:bodyPr anchor="ctr" rtlCol="false" tIns="254000" lIns="254000" bIns="254000" rIns="254000"/>
            <a:lstStyle/>
            <a:p>
              <a:pPr>
                <a:lnSpc>
                  <a:spcPts val="2100"/>
                </a:lnSpc>
              </a:pPr>
            </a:p>
          </p:txBody>
        </p:sp>
      </p:grpSp>
      <p:grpSp>
        <p:nvGrpSpPr>
          <p:cNvPr name="Group 20" id="20"/>
          <p:cNvGrpSpPr/>
          <p:nvPr/>
        </p:nvGrpSpPr>
        <p:grpSpPr>
          <a:xfrm rot="0">
            <a:off x="237414" y="9267586"/>
            <a:ext cx="804526" cy="804526"/>
            <a:chOff x="0" y="0"/>
            <a:chExt cx="1072702" cy="1072702"/>
          </a:xfrm>
        </p:grpSpPr>
        <p:sp>
          <p:nvSpPr>
            <p:cNvPr name="Freeform 21" id="21"/>
            <p:cNvSpPr/>
            <p:nvPr/>
          </p:nvSpPr>
          <p:spPr>
            <a:xfrm flipH="false" flipV="false" rot="0">
              <a:off x="0" y="0"/>
              <a:ext cx="1072702" cy="1072702"/>
            </a:xfrm>
            <a:custGeom>
              <a:avLst/>
              <a:gdLst/>
              <a:ahLst/>
              <a:cxnLst/>
              <a:rect r="r" b="b" t="t" l="l"/>
              <a:pathLst>
                <a:path h="1072702" w="1072702">
                  <a:moveTo>
                    <a:pt x="0" y="0"/>
                  </a:moveTo>
                  <a:lnTo>
                    <a:pt x="1072702" y="0"/>
                  </a:lnTo>
                  <a:lnTo>
                    <a:pt x="1072702" y="1072702"/>
                  </a:lnTo>
                  <a:lnTo>
                    <a:pt x="0" y="10727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8445" y="150016"/>
              <a:ext cx="755811" cy="772669"/>
            </a:xfrm>
            <a:custGeom>
              <a:avLst/>
              <a:gdLst/>
              <a:ahLst/>
              <a:cxnLst/>
              <a:rect r="r" b="b" t="t" l="l"/>
              <a:pathLst>
                <a:path h="772669" w="755811">
                  <a:moveTo>
                    <a:pt x="0" y="0"/>
                  </a:moveTo>
                  <a:lnTo>
                    <a:pt x="755811" y="0"/>
                  </a:lnTo>
                  <a:lnTo>
                    <a:pt x="755811" y="772670"/>
                  </a:lnTo>
                  <a:lnTo>
                    <a:pt x="0" y="7726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23" id="23"/>
          <p:cNvSpPr/>
          <p:nvPr/>
        </p:nvSpPr>
        <p:spPr>
          <a:xfrm flipH="false" flipV="false" rot="0">
            <a:off x="1423082" y="9291263"/>
            <a:ext cx="807064" cy="757173"/>
          </a:xfrm>
          <a:custGeom>
            <a:avLst/>
            <a:gdLst/>
            <a:ahLst/>
            <a:cxnLst/>
            <a:rect r="r" b="b" t="t" l="l"/>
            <a:pathLst>
              <a:path h="757173" w="807064">
                <a:moveTo>
                  <a:pt x="0" y="0"/>
                </a:moveTo>
                <a:lnTo>
                  <a:pt x="807064" y="0"/>
                </a:lnTo>
                <a:lnTo>
                  <a:pt x="807064" y="757173"/>
                </a:lnTo>
                <a:lnTo>
                  <a:pt x="0" y="7571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2395752" y="9327294"/>
            <a:ext cx="662689" cy="685111"/>
          </a:xfrm>
          <a:custGeom>
            <a:avLst/>
            <a:gdLst/>
            <a:ahLst/>
            <a:cxnLst/>
            <a:rect r="r" b="b" t="t" l="l"/>
            <a:pathLst>
              <a:path h="685111" w="662689">
                <a:moveTo>
                  <a:pt x="0" y="0"/>
                </a:moveTo>
                <a:lnTo>
                  <a:pt x="662688" y="0"/>
                </a:lnTo>
                <a:lnTo>
                  <a:pt x="662688" y="685110"/>
                </a:lnTo>
                <a:lnTo>
                  <a:pt x="0" y="68511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p:cNvSpPr/>
          <p:nvPr/>
        </p:nvSpPr>
        <p:spPr>
          <a:xfrm flipH="false" flipV="false" rot="0">
            <a:off x="4062279" y="9335724"/>
            <a:ext cx="668249" cy="668249"/>
          </a:xfrm>
          <a:custGeom>
            <a:avLst/>
            <a:gdLst/>
            <a:ahLst/>
            <a:cxnLst/>
            <a:rect r="r" b="b" t="t" l="l"/>
            <a:pathLst>
              <a:path h="668249" w="668249">
                <a:moveTo>
                  <a:pt x="0" y="0"/>
                </a:moveTo>
                <a:lnTo>
                  <a:pt x="668250" y="0"/>
                </a:lnTo>
                <a:lnTo>
                  <a:pt x="668250" y="668250"/>
                </a:lnTo>
                <a:lnTo>
                  <a:pt x="0" y="66825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6" id="26"/>
          <p:cNvSpPr/>
          <p:nvPr/>
        </p:nvSpPr>
        <p:spPr>
          <a:xfrm flipH="false" flipV="false" rot="0">
            <a:off x="3224046" y="9309278"/>
            <a:ext cx="672629" cy="721142"/>
          </a:xfrm>
          <a:custGeom>
            <a:avLst/>
            <a:gdLst/>
            <a:ahLst/>
            <a:cxnLst/>
            <a:rect r="r" b="b" t="t" l="l"/>
            <a:pathLst>
              <a:path h="721142" w="672629">
                <a:moveTo>
                  <a:pt x="0" y="0"/>
                </a:moveTo>
                <a:lnTo>
                  <a:pt x="672628" y="0"/>
                </a:lnTo>
                <a:lnTo>
                  <a:pt x="672628" y="721142"/>
                </a:lnTo>
                <a:lnTo>
                  <a:pt x="0" y="72114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4877084" y="9291263"/>
            <a:ext cx="905315" cy="757173"/>
          </a:xfrm>
          <a:custGeom>
            <a:avLst/>
            <a:gdLst/>
            <a:ahLst/>
            <a:cxnLst/>
            <a:rect r="r" b="b" t="t" l="l"/>
            <a:pathLst>
              <a:path h="757173" w="905315">
                <a:moveTo>
                  <a:pt x="0" y="0"/>
                </a:moveTo>
                <a:lnTo>
                  <a:pt x="905315" y="0"/>
                </a:lnTo>
                <a:lnTo>
                  <a:pt x="905315" y="757173"/>
                </a:lnTo>
                <a:lnTo>
                  <a:pt x="0" y="75717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8" id="28"/>
          <p:cNvGrpSpPr/>
          <p:nvPr/>
        </p:nvGrpSpPr>
        <p:grpSpPr>
          <a:xfrm rot="0">
            <a:off x="15109868" y="9297158"/>
            <a:ext cx="2801811" cy="712035"/>
            <a:chOff x="0" y="0"/>
            <a:chExt cx="737925" cy="187532"/>
          </a:xfrm>
        </p:grpSpPr>
        <p:sp>
          <p:nvSpPr>
            <p:cNvPr name="Freeform 29" id="29"/>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30" id="30"/>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21" action="ppaction://hlinksldjump"/>
                </a:rPr>
                <a:t>Back to Agenda Page</a:t>
              </a:r>
            </a:p>
          </p:txBody>
        </p:sp>
      </p:grpSp>
      <p:sp>
        <p:nvSpPr>
          <p:cNvPr name="Freeform 31" id="31"/>
          <p:cNvSpPr/>
          <p:nvPr/>
        </p:nvSpPr>
        <p:spPr>
          <a:xfrm flipH="false" flipV="false" rot="0">
            <a:off x="5087374" y="838621"/>
            <a:ext cx="484735" cy="825401"/>
          </a:xfrm>
          <a:custGeom>
            <a:avLst/>
            <a:gdLst/>
            <a:ahLst/>
            <a:cxnLst/>
            <a:rect r="r" b="b" t="t" l="l"/>
            <a:pathLst>
              <a:path h="825401" w="484735">
                <a:moveTo>
                  <a:pt x="0" y="0"/>
                </a:moveTo>
                <a:lnTo>
                  <a:pt x="484735" y="0"/>
                </a:lnTo>
                <a:lnTo>
                  <a:pt x="484735" y="825401"/>
                </a:lnTo>
                <a:lnTo>
                  <a:pt x="0" y="82540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32" id="32"/>
          <p:cNvSpPr txBox="true"/>
          <p:nvPr/>
        </p:nvSpPr>
        <p:spPr>
          <a:xfrm rot="0">
            <a:off x="-170219" y="3838966"/>
            <a:ext cx="5257592" cy="4606306"/>
          </a:xfrm>
          <a:prstGeom prst="rect">
            <a:avLst/>
          </a:prstGeom>
        </p:spPr>
        <p:txBody>
          <a:bodyPr anchor="t" rtlCol="false" tIns="0" lIns="0" bIns="0" rIns="0">
            <a:spAutoFit/>
          </a:bodyPr>
          <a:lstStyle/>
          <a:p>
            <a:pPr marL="518024" indent="-259012" lvl="1">
              <a:lnSpc>
                <a:spcPts val="3359"/>
              </a:lnSpc>
              <a:buFont typeface="Arial"/>
              <a:buChar char="•"/>
            </a:pPr>
            <a:r>
              <a:rPr lang="en-US" sz="2399">
                <a:solidFill>
                  <a:srgbClr val="000000"/>
                </a:solidFill>
                <a:latin typeface="Public Sans Bold"/>
              </a:rPr>
              <a:t>Dimensionality Reduction:</a:t>
            </a:r>
            <a:r>
              <a:rPr lang="en-US" sz="2399">
                <a:solidFill>
                  <a:srgbClr val="000000"/>
                </a:solidFill>
                <a:latin typeface="Public Sans"/>
              </a:rPr>
              <a:t> Utilized PCA to reduce the dimensionality of the dataset and identify principal components capturing variance.</a:t>
            </a:r>
          </a:p>
          <a:p>
            <a:pPr marL="518024" indent="-259012" lvl="1">
              <a:lnSpc>
                <a:spcPts val="3359"/>
              </a:lnSpc>
              <a:buFont typeface="Arial"/>
              <a:buChar char="•"/>
            </a:pPr>
            <a:r>
              <a:rPr lang="en-US" sz="2399">
                <a:solidFill>
                  <a:srgbClr val="000000"/>
                </a:solidFill>
                <a:latin typeface="Public Sans Bold"/>
              </a:rPr>
              <a:t>Objective: </a:t>
            </a:r>
            <a:r>
              <a:rPr lang="en-US" sz="2399">
                <a:solidFill>
                  <a:srgbClr val="000000"/>
                </a:solidFill>
                <a:latin typeface="Public Sans"/>
              </a:rPr>
              <a:t>Streamline the modeling process by retaining essential information while reducing computational complexity.</a:t>
            </a:r>
          </a:p>
          <a:p>
            <a:pPr algn="ctr">
              <a:lnSpc>
                <a:spcPts val="3359"/>
              </a:lnSpc>
            </a:pPr>
          </a:p>
        </p:txBody>
      </p:sp>
      <p:sp>
        <p:nvSpPr>
          <p:cNvPr name="TextBox 33" id="33"/>
          <p:cNvSpPr txBox="true"/>
          <p:nvPr/>
        </p:nvSpPr>
        <p:spPr>
          <a:xfrm rot="0">
            <a:off x="5087374" y="7065645"/>
            <a:ext cx="6136228" cy="1766570"/>
          </a:xfrm>
          <a:prstGeom prst="rect">
            <a:avLst/>
          </a:prstGeom>
        </p:spPr>
        <p:txBody>
          <a:bodyPr anchor="t" rtlCol="false" tIns="0" lIns="0" bIns="0" rIns="0">
            <a:spAutoFit/>
          </a:bodyPr>
          <a:lstStyle/>
          <a:p>
            <a:pPr>
              <a:lnSpc>
                <a:spcPts val="2380"/>
              </a:lnSpc>
            </a:pPr>
            <a:r>
              <a:rPr lang="en-US" sz="1700">
                <a:solidFill>
                  <a:srgbClr val="000000"/>
                </a:solidFill>
                <a:latin typeface="Public Sans Bold"/>
              </a:rPr>
              <a:t>Limitations:</a:t>
            </a:r>
          </a:p>
          <a:p>
            <a:pPr marL="367032" indent="-183516" lvl="1">
              <a:lnSpc>
                <a:spcPts val="2380"/>
              </a:lnSpc>
              <a:buFont typeface="Arial"/>
              <a:buChar char="•"/>
            </a:pPr>
            <a:r>
              <a:rPr lang="en-US" sz="1700">
                <a:solidFill>
                  <a:srgbClr val="000000"/>
                </a:solidFill>
                <a:latin typeface="Public Sans"/>
              </a:rPr>
              <a:t>While PC</a:t>
            </a:r>
            <a:r>
              <a:rPr lang="en-US" sz="1700">
                <a:solidFill>
                  <a:srgbClr val="000000"/>
                </a:solidFill>
                <a:latin typeface="Public Sans"/>
              </a:rPr>
              <a:t>A aids in dimensionality reduction, it may not always lead to substantial gains in predictive performance.</a:t>
            </a:r>
          </a:p>
          <a:p>
            <a:pPr marL="367032" indent="-183516" lvl="1">
              <a:lnSpc>
                <a:spcPts val="2380"/>
              </a:lnSpc>
              <a:buFont typeface="Arial"/>
              <a:buChar char="•"/>
            </a:pPr>
            <a:r>
              <a:rPr lang="en-US" sz="1700">
                <a:solidFill>
                  <a:srgbClr val="000000"/>
                </a:solidFill>
                <a:latin typeface="Public Sans"/>
              </a:rPr>
              <a:t>Careful consideration is required to balance dimension reduction with preserving predictive power.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818B7"/>
        </a:solidFill>
      </p:bgPr>
    </p:bg>
    <p:spTree>
      <p:nvGrpSpPr>
        <p:cNvPr id="1" name=""/>
        <p:cNvGrpSpPr/>
        <p:nvPr/>
      </p:nvGrpSpPr>
      <p:grpSpPr>
        <a:xfrm>
          <a:off x="0" y="0"/>
          <a:ext cx="0" cy="0"/>
          <a:chOff x="0" y="0"/>
          <a:chExt cx="0" cy="0"/>
        </a:xfrm>
      </p:grpSpPr>
      <p:grpSp>
        <p:nvGrpSpPr>
          <p:cNvPr name="Group 2" id="2"/>
          <p:cNvGrpSpPr/>
          <p:nvPr/>
        </p:nvGrpSpPr>
        <p:grpSpPr>
          <a:xfrm rot="0">
            <a:off x="452403" y="368394"/>
            <a:ext cx="17383194" cy="9550212"/>
            <a:chOff x="0" y="0"/>
            <a:chExt cx="4578290" cy="2515282"/>
          </a:xfrm>
        </p:grpSpPr>
        <p:sp>
          <p:nvSpPr>
            <p:cNvPr name="Freeform 3" id="3"/>
            <p:cNvSpPr/>
            <p:nvPr/>
          </p:nvSpPr>
          <p:spPr>
            <a:xfrm flipH="false" flipV="false" rot="0">
              <a:off x="0" y="0"/>
              <a:ext cx="4578290" cy="2515282"/>
            </a:xfrm>
            <a:custGeom>
              <a:avLst/>
              <a:gdLst/>
              <a:ahLst/>
              <a:cxnLst/>
              <a:rect r="r" b="b" t="t" l="l"/>
              <a:pathLst>
                <a:path h="2515282" w="4578290">
                  <a:moveTo>
                    <a:pt x="0" y="0"/>
                  </a:moveTo>
                  <a:lnTo>
                    <a:pt x="4578290" y="0"/>
                  </a:lnTo>
                  <a:lnTo>
                    <a:pt x="4578290" y="2515282"/>
                  </a:lnTo>
                  <a:lnTo>
                    <a:pt x="0" y="2515282"/>
                  </a:lnTo>
                  <a:close/>
                </a:path>
              </a:pathLst>
            </a:custGeom>
            <a:solidFill>
              <a:srgbClr val="CCCCCC"/>
            </a:solidFill>
            <a:ln w="95250" cap="sq">
              <a:solidFill>
                <a:srgbClr val="1818B7"/>
              </a:solidFill>
              <a:prstDash val="sysDot"/>
              <a:miter/>
            </a:ln>
          </p:spPr>
        </p:sp>
        <p:sp>
          <p:nvSpPr>
            <p:cNvPr name="TextBox 4" id="4"/>
            <p:cNvSpPr txBox="true"/>
            <p:nvPr/>
          </p:nvSpPr>
          <p:spPr>
            <a:xfrm>
              <a:off x="0" y="-38100"/>
              <a:ext cx="4578290" cy="2553382"/>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1028700" y="8546265"/>
            <a:ext cx="2801811" cy="712035"/>
            <a:chOff x="0" y="0"/>
            <a:chExt cx="737925" cy="187532"/>
          </a:xfrm>
        </p:grpSpPr>
        <p:sp>
          <p:nvSpPr>
            <p:cNvPr name="Freeform 6" id="6"/>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FFFFFF"/>
            </a:solidFill>
            <a:ln w="28575" cap="sq">
              <a:solidFill>
                <a:srgbClr val="000000"/>
              </a:solidFill>
              <a:prstDash val="solid"/>
              <a:miter/>
            </a:ln>
          </p:spPr>
        </p:sp>
        <p:sp>
          <p:nvSpPr>
            <p:cNvPr name="TextBox 7" id="7"/>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2" action="ppaction://hlinksldjump"/>
                </a:rPr>
                <a:t>Back to Agenda Page</a:t>
              </a:r>
            </a:p>
          </p:txBody>
        </p:sp>
      </p:grpSp>
      <p:sp>
        <p:nvSpPr>
          <p:cNvPr name="Freeform 8" id="8"/>
          <p:cNvSpPr/>
          <p:nvPr/>
        </p:nvSpPr>
        <p:spPr>
          <a:xfrm flipH="false" flipV="false" rot="0">
            <a:off x="1028700" y="666537"/>
            <a:ext cx="724326" cy="724326"/>
          </a:xfrm>
          <a:custGeom>
            <a:avLst/>
            <a:gdLst/>
            <a:ahLst/>
            <a:cxnLst/>
            <a:rect r="r" b="b" t="t" l="l"/>
            <a:pathLst>
              <a:path h="724326" w="724326">
                <a:moveTo>
                  <a:pt x="0" y="0"/>
                </a:moveTo>
                <a:lnTo>
                  <a:pt x="724326" y="0"/>
                </a:lnTo>
                <a:lnTo>
                  <a:pt x="724326" y="724326"/>
                </a:lnTo>
                <a:lnTo>
                  <a:pt x="0" y="7243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513271" y="666537"/>
            <a:ext cx="746029" cy="724326"/>
          </a:xfrm>
          <a:custGeom>
            <a:avLst/>
            <a:gdLst/>
            <a:ahLst/>
            <a:cxnLst/>
            <a:rect r="r" b="b" t="t" l="l"/>
            <a:pathLst>
              <a:path h="724326" w="746029">
                <a:moveTo>
                  <a:pt x="0" y="0"/>
                </a:moveTo>
                <a:lnTo>
                  <a:pt x="746029" y="0"/>
                </a:lnTo>
                <a:lnTo>
                  <a:pt x="746029" y="724326"/>
                </a:lnTo>
                <a:lnTo>
                  <a:pt x="0" y="7243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5665121" y="666537"/>
            <a:ext cx="724326" cy="724326"/>
          </a:xfrm>
          <a:custGeom>
            <a:avLst/>
            <a:gdLst/>
            <a:ahLst/>
            <a:cxnLst/>
            <a:rect r="r" b="b" t="t" l="l"/>
            <a:pathLst>
              <a:path h="724326" w="724326">
                <a:moveTo>
                  <a:pt x="0" y="0"/>
                </a:moveTo>
                <a:lnTo>
                  <a:pt x="724325" y="0"/>
                </a:lnTo>
                <a:lnTo>
                  <a:pt x="724325" y="724326"/>
                </a:lnTo>
                <a:lnTo>
                  <a:pt x="0" y="7243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1041959">
            <a:off x="3201730" y="4087787"/>
            <a:ext cx="535569" cy="706385"/>
          </a:xfrm>
          <a:custGeom>
            <a:avLst/>
            <a:gdLst/>
            <a:ahLst/>
            <a:cxnLst/>
            <a:rect r="r" b="b" t="t" l="l"/>
            <a:pathLst>
              <a:path h="706385" w="535569">
                <a:moveTo>
                  <a:pt x="0" y="0"/>
                </a:moveTo>
                <a:lnTo>
                  <a:pt x="535568" y="0"/>
                </a:lnTo>
                <a:lnTo>
                  <a:pt x="535568" y="706385"/>
                </a:lnTo>
                <a:lnTo>
                  <a:pt x="0" y="706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1028700" y="1840019"/>
            <a:ext cx="4322573" cy="2600960"/>
          </a:xfrm>
          <a:prstGeom prst="rect">
            <a:avLst/>
          </a:prstGeom>
        </p:spPr>
        <p:txBody>
          <a:bodyPr anchor="t" rtlCol="false" tIns="0" lIns="0" bIns="0" rIns="0">
            <a:spAutoFit/>
          </a:bodyPr>
          <a:lstStyle/>
          <a:p>
            <a:pPr>
              <a:lnSpc>
                <a:spcPts val="6400"/>
              </a:lnSpc>
            </a:pPr>
            <a:r>
              <a:rPr lang="en-US" sz="6400">
                <a:solidFill>
                  <a:srgbClr val="000000"/>
                </a:solidFill>
                <a:latin typeface="Retropix"/>
              </a:rPr>
              <a:t>Logistic Regression Model</a:t>
            </a:r>
          </a:p>
        </p:txBody>
      </p:sp>
      <p:grpSp>
        <p:nvGrpSpPr>
          <p:cNvPr name="Group 13" id="13"/>
          <p:cNvGrpSpPr/>
          <p:nvPr/>
        </p:nvGrpSpPr>
        <p:grpSpPr>
          <a:xfrm rot="0">
            <a:off x="5685461" y="666537"/>
            <a:ext cx="8972860" cy="8972860"/>
            <a:chOff x="0" y="0"/>
            <a:chExt cx="11963814" cy="11963814"/>
          </a:xfrm>
        </p:grpSpPr>
        <p:sp>
          <p:nvSpPr>
            <p:cNvPr name="Freeform 14" id="14"/>
            <p:cNvSpPr/>
            <p:nvPr/>
          </p:nvSpPr>
          <p:spPr>
            <a:xfrm flipH="false" flipV="false" rot="0">
              <a:off x="0" y="0"/>
              <a:ext cx="11963814" cy="11963814"/>
            </a:xfrm>
            <a:custGeom>
              <a:avLst/>
              <a:gdLst/>
              <a:ahLst/>
              <a:cxnLst/>
              <a:rect r="r" b="b" t="t" l="l"/>
              <a:pathLst>
                <a:path h="11963814" w="11963814">
                  <a:moveTo>
                    <a:pt x="0" y="0"/>
                  </a:moveTo>
                  <a:lnTo>
                    <a:pt x="11963814" y="0"/>
                  </a:lnTo>
                  <a:lnTo>
                    <a:pt x="11963814" y="11963814"/>
                  </a:lnTo>
                  <a:lnTo>
                    <a:pt x="0" y="119638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0906816" y="375612"/>
              <a:ext cx="581412" cy="562384"/>
            </a:xfrm>
            <a:custGeom>
              <a:avLst/>
              <a:gdLst/>
              <a:ahLst/>
              <a:cxnLst/>
              <a:rect r="r" b="b" t="t" l="l"/>
              <a:pathLst>
                <a:path h="562384" w="581412">
                  <a:moveTo>
                    <a:pt x="0" y="0"/>
                  </a:moveTo>
                  <a:lnTo>
                    <a:pt x="581411" y="0"/>
                  </a:lnTo>
                  <a:lnTo>
                    <a:pt x="581411" y="562384"/>
                  </a:lnTo>
                  <a:lnTo>
                    <a:pt x="0" y="5623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sp>
        <p:nvSpPr>
          <p:cNvPr name="TextBox 16" id="16"/>
          <p:cNvSpPr txBox="true"/>
          <p:nvPr/>
        </p:nvSpPr>
        <p:spPr>
          <a:xfrm rot="0">
            <a:off x="5933939" y="2196265"/>
            <a:ext cx="8227426" cy="7061835"/>
          </a:xfrm>
          <a:prstGeom prst="rect">
            <a:avLst/>
          </a:prstGeom>
        </p:spPr>
        <p:txBody>
          <a:bodyPr anchor="t" rtlCol="false" tIns="0" lIns="0" bIns="0" rIns="0">
            <a:spAutoFit/>
          </a:bodyPr>
          <a:lstStyle/>
          <a:p>
            <a:pPr>
              <a:lnSpc>
                <a:spcPts val="2940"/>
              </a:lnSpc>
            </a:pPr>
            <a:r>
              <a:rPr lang="en-US" sz="2100">
                <a:solidFill>
                  <a:srgbClr val="000000"/>
                </a:solidFill>
                <a:latin typeface="Public Sans Bold"/>
              </a:rPr>
              <a:t>Logistic Regression Overview:</a:t>
            </a:r>
          </a:p>
          <a:p>
            <a:pPr marL="453390" indent="-226695" lvl="1">
              <a:lnSpc>
                <a:spcPts val="2940"/>
              </a:lnSpc>
              <a:buFont typeface="Arial"/>
              <a:buChar char="•"/>
            </a:pPr>
            <a:r>
              <a:rPr lang="en-US" sz="2100">
                <a:solidFill>
                  <a:srgbClr val="000000"/>
                </a:solidFill>
                <a:latin typeface="Public Sans"/>
              </a:rPr>
              <a:t>Mo</a:t>
            </a:r>
            <a:r>
              <a:rPr lang="en-US" sz="2100">
                <a:solidFill>
                  <a:srgbClr val="000000"/>
                </a:solidFill>
                <a:latin typeface="Public Sans"/>
              </a:rPr>
              <a:t>del Type: Implemented Logistic Regression, a classic statistical technique for binary classification tasks.</a:t>
            </a:r>
          </a:p>
          <a:p>
            <a:pPr marL="453390" indent="-226695" lvl="1">
              <a:lnSpc>
                <a:spcPts val="2940"/>
              </a:lnSpc>
              <a:buFont typeface="Arial"/>
              <a:buChar char="•"/>
            </a:pPr>
            <a:r>
              <a:rPr lang="en-US" sz="2100">
                <a:solidFill>
                  <a:srgbClr val="000000"/>
                </a:solidFill>
                <a:latin typeface="Public Sans"/>
              </a:rPr>
              <a:t>Predictor Variables: Utilized principal components obtained from PCA as predictor variables.</a:t>
            </a:r>
          </a:p>
          <a:p>
            <a:pPr>
              <a:lnSpc>
                <a:spcPts val="2940"/>
              </a:lnSpc>
            </a:pPr>
            <a:r>
              <a:rPr lang="en-US" sz="2100">
                <a:solidFill>
                  <a:srgbClr val="000000"/>
                </a:solidFill>
                <a:latin typeface="Public Sans Bold"/>
              </a:rPr>
              <a:t>Model Development and Evaluation:</a:t>
            </a:r>
          </a:p>
          <a:p>
            <a:pPr marL="453390" indent="-226695" lvl="1">
              <a:lnSpc>
                <a:spcPts val="2940"/>
              </a:lnSpc>
              <a:buFont typeface="Arial"/>
              <a:buChar char="•"/>
            </a:pPr>
            <a:r>
              <a:rPr lang="en-US" sz="2100">
                <a:solidFill>
                  <a:srgbClr val="000000"/>
                </a:solidFill>
                <a:latin typeface="Public Sans"/>
              </a:rPr>
              <a:t>Training Phase: Trained the logistic regression model using the training dataset.</a:t>
            </a:r>
          </a:p>
          <a:p>
            <a:pPr marL="453390" indent="-226695" lvl="1">
              <a:lnSpc>
                <a:spcPts val="2940"/>
              </a:lnSpc>
              <a:buFont typeface="Arial"/>
              <a:buChar char="•"/>
            </a:pPr>
            <a:r>
              <a:rPr lang="en-US" sz="2100">
                <a:solidFill>
                  <a:srgbClr val="000000"/>
                </a:solidFill>
                <a:latin typeface="Public Sans"/>
              </a:rPr>
              <a:t>Testing Phase: Evaluated model performance on the testing dataset.</a:t>
            </a:r>
          </a:p>
          <a:p>
            <a:pPr marL="453390" indent="-226695" lvl="1">
              <a:lnSpc>
                <a:spcPts val="2940"/>
              </a:lnSpc>
              <a:buFont typeface="Arial"/>
              <a:buChar char="•"/>
            </a:pPr>
            <a:r>
              <a:rPr lang="en-US" sz="2100">
                <a:solidFill>
                  <a:srgbClr val="000000"/>
                </a:solidFill>
                <a:latin typeface="Public Sans"/>
              </a:rPr>
              <a:t>Performance Metrics: Analyzed model summary statistics and calculated classification accuracy.</a:t>
            </a:r>
          </a:p>
          <a:p>
            <a:pPr>
              <a:lnSpc>
                <a:spcPts val="2940"/>
              </a:lnSpc>
            </a:pPr>
            <a:r>
              <a:rPr lang="en-US" sz="2100">
                <a:solidFill>
                  <a:srgbClr val="000000"/>
                </a:solidFill>
                <a:latin typeface="Public Sans Bold"/>
              </a:rPr>
              <a:t>Model Interpretation:</a:t>
            </a:r>
          </a:p>
          <a:p>
            <a:pPr marL="453390" indent="-226695" lvl="1">
              <a:lnSpc>
                <a:spcPts val="2940"/>
              </a:lnSpc>
              <a:buFont typeface="Arial"/>
              <a:buChar char="•"/>
            </a:pPr>
            <a:r>
              <a:rPr lang="en-US" sz="2100">
                <a:solidFill>
                  <a:srgbClr val="000000"/>
                </a:solidFill>
                <a:latin typeface="Public Sans"/>
              </a:rPr>
              <a:t>Interpretability: Logistic regression allows for easy interpretation of coefficients and their impact on the outcome variable.</a:t>
            </a:r>
          </a:p>
          <a:p>
            <a:pPr marL="453390" indent="-226695" lvl="1">
              <a:lnSpc>
                <a:spcPts val="2940"/>
              </a:lnSpc>
              <a:buFont typeface="Arial"/>
              <a:buChar char="•"/>
            </a:pPr>
            <a:r>
              <a:rPr lang="en-US" sz="2100">
                <a:solidFill>
                  <a:srgbClr val="000000"/>
                </a:solidFill>
                <a:latin typeface="Public Sans"/>
              </a:rPr>
              <a:t>Insights: Examined coefficients to understand the influence of predictor variables on the likelihood of loan repayment.</a:t>
            </a:r>
          </a:p>
          <a:p>
            <a:pPr algn="ctr">
              <a:lnSpc>
                <a:spcPts val="294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818B7"/>
        </a:solidFill>
      </p:bgPr>
    </p:bg>
    <p:spTree>
      <p:nvGrpSpPr>
        <p:cNvPr id="1" name=""/>
        <p:cNvGrpSpPr/>
        <p:nvPr/>
      </p:nvGrpSpPr>
      <p:grpSpPr>
        <a:xfrm>
          <a:off x="0" y="0"/>
          <a:ext cx="0" cy="0"/>
          <a:chOff x="0" y="0"/>
          <a:chExt cx="0" cy="0"/>
        </a:xfrm>
      </p:grpSpPr>
      <p:grpSp>
        <p:nvGrpSpPr>
          <p:cNvPr name="Group 2" id="2"/>
          <p:cNvGrpSpPr/>
          <p:nvPr/>
        </p:nvGrpSpPr>
        <p:grpSpPr>
          <a:xfrm rot="0">
            <a:off x="452403" y="368394"/>
            <a:ext cx="17383194" cy="9550212"/>
            <a:chOff x="0" y="0"/>
            <a:chExt cx="4578290" cy="2515282"/>
          </a:xfrm>
        </p:grpSpPr>
        <p:sp>
          <p:nvSpPr>
            <p:cNvPr name="Freeform 3" id="3"/>
            <p:cNvSpPr/>
            <p:nvPr/>
          </p:nvSpPr>
          <p:spPr>
            <a:xfrm flipH="false" flipV="false" rot="0">
              <a:off x="0" y="0"/>
              <a:ext cx="4578290" cy="2515282"/>
            </a:xfrm>
            <a:custGeom>
              <a:avLst/>
              <a:gdLst/>
              <a:ahLst/>
              <a:cxnLst/>
              <a:rect r="r" b="b" t="t" l="l"/>
              <a:pathLst>
                <a:path h="2515282" w="4578290">
                  <a:moveTo>
                    <a:pt x="0" y="0"/>
                  </a:moveTo>
                  <a:lnTo>
                    <a:pt x="4578290" y="0"/>
                  </a:lnTo>
                  <a:lnTo>
                    <a:pt x="4578290" y="2515282"/>
                  </a:lnTo>
                  <a:lnTo>
                    <a:pt x="0" y="2515282"/>
                  </a:lnTo>
                  <a:close/>
                </a:path>
              </a:pathLst>
            </a:custGeom>
            <a:solidFill>
              <a:srgbClr val="CCCCCC"/>
            </a:solidFill>
            <a:ln w="95250" cap="sq">
              <a:solidFill>
                <a:srgbClr val="1818B7"/>
              </a:solidFill>
              <a:prstDash val="sysDot"/>
              <a:miter/>
            </a:ln>
          </p:spPr>
        </p:sp>
        <p:sp>
          <p:nvSpPr>
            <p:cNvPr name="TextBox 4" id="4"/>
            <p:cNvSpPr txBox="true"/>
            <p:nvPr/>
          </p:nvSpPr>
          <p:spPr>
            <a:xfrm>
              <a:off x="0" y="-38100"/>
              <a:ext cx="4578290" cy="2553382"/>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1028700" y="666537"/>
            <a:ext cx="724326" cy="724326"/>
          </a:xfrm>
          <a:custGeom>
            <a:avLst/>
            <a:gdLst/>
            <a:ahLst/>
            <a:cxnLst/>
            <a:rect r="r" b="b" t="t" l="l"/>
            <a:pathLst>
              <a:path h="724326" w="724326">
                <a:moveTo>
                  <a:pt x="0" y="0"/>
                </a:moveTo>
                <a:lnTo>
                  <a:pt x="724326" y="0"/>
                </a:lnTo>
                <a:lnTo>
                  <a:pt x="724326" y="724326"/>
                </a:lnTo>
                <a:lnTo>
                  <a:pt x="0" y="7243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665121" y="666537"/>
            <a:ext cx="724326" cy="724326"/>
          </a:xfrm>
          <a:custGeom>
            <a:avLst/>
            <a:gdLst/>
            <a:ahLst/>
            <a:cxnLst/>
            <a:rect r="r" b="b" t="t" l="l"/>
            <a:pathLst>
              <a:path h="724326" w="724326">
                <a:moveTo>
                  <a:pt x="0" y="0"/>
                </a:moveTo>
                <a:lnTo>
                  <a:pt x="724325" y="0"/>
                </a:lnTo>
                <a:lnTo>
                  <a:pt x="724325" y="724326"/>
                </a:lnTo>
                <a:lnTo>
                  <a:pt x="0" y="7243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513271" y="666537"/>
            <a:ext cx="746029" cy="724326"/>
          </a:xfrm>
          <a:custGeom>
            <a:avLst/>
            <a:gdLst/>
            <a:ahLst/>
            <a:cxnLst/>
            <a:rect r="r" b="b" t="t" l="l"/>
            <a:pathLst>
              <a:path h="724326" w="746029">
                <a:moveTo>
                  <a:pt x="0" y="0"/>
                </a:moveTo>
                <a:lnTo>
                  <a:pt x="746029" y="0"/>
                </a:lnTo>
                <a:lnTo>
                  <a:pt x="746029" y="724326"/>
                </a:lnTo>
                <a:lnTo>
                  <a:pt x="0" y="72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10125543" y="2139484"/>
            <a:ext cx="5694736" cy="5694736"/>
            <a:chOff x="0" y="0"/>
            <a:chExt cx="7592982" cy="7592982"/>
          </a:xfrm>
        </p:grpSpPr>
        <p:sp>
          <p:nvSpPr>
            <p:cNvPr name="Freeform 9" id="9"/>
            <p:cNvSpPr/>
            <p:nvPr/>
          </p:nvSpPr>
          <p:spPr>
            <a:xfrm flipH="false" flipV="false" rot="0">
              <a:off x="0" y="0"/>
              <a:ext cx="7592982" cy="7592982"/>
            </a:xfrm>
            <a:custGeom>
              <a:avLst/>
              <a:gdLst/>
              <a:ahLst/>
              <a:cxnLst/>
              <a:rect r="r" b="b" t="t" l="l"/>
              <a:pathLst>
                <a:path h="7592982" w="7592982">
                  <a:moveTo>
                    <a:pt x="0" y="0"/>
                  </a:moveTo>
                  <a:lnTo>
                    <a:pt x="7592982" y="0"/>
                  </a:lnTo>
                  <a:lnTo>
                    <a:pt x="7592982" y="7592982"/>
                  </a:lnTo>
                  <a:lnTo>
                    <a:pt x="0" y="75929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922145" y="238387"/>
              <a:ext cx="369000" cy="356924"/>
            </a:xfrm>
            <a:custGeom>
              <a:avLst/>
              <a:gdLst/>
              <a:ahLst/>
              <a:cxnLst/>
              <a:rect r="r" b="b" t="t" l="l"/>
              <a:pathLst>
                <a:path h="356924" w="369000">
                  <a:moveTo>
                    <a:pt x="0" y="0"/>
                  </a:moveTo>
                  <a:lnTo>
                    <a:pt x="369000" y="0"/>
                  </a:lnTo>
                  <a:lnTo>
                    <a:pt x="369000" y="356924"/>
                  </a:lnTo>
                  <a:lnTo>
                    <a:pt x="0" y="3569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11" id="11"/>
          <p:cNvGrpSpPr/>
          <p:nvPr/>
        </p:nvGrpSpPr>
        <p:grpSpPr>
          <a:xfrm rot="0">
            <a:off x="1028700" y="8546265"/>
            <a:ext cx="2801811" cy="712035"/>
            <a:chOff x="0" y="0"/>
            <a:chExt cx="737925" cy="187532"/>
          </a:xfrm>
        </p:grpSpPr>
        <p:sp>
          <p:nvSpPr>
            <p:cNvPr name="Freeform 12" id="12"/>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FFFFFF"/>
            </a:solidFill>
            <a:ln w="28575" cap="sq">
              <a:solidFill>
                <a:srgbClr val="000000"/>
              </a:solidFill>
              <a:prstDash val="solid"/>
              <a:miter/>
            </a:ln>
          </p:spPr>
        </p:sp>
        <p:sp>
          <p:nvSpPr>
            <p:cNvPr name="TextBox 13" id="13"/>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12" action="ppaction://hlinksldjump"/>
                </a:rPr>
                <a:t>Back to Agenda Page</a:t>
              </a:r>
            </a:p>
          </p:txBody>
        </p:sp>
      </p:grpSp>
      <p:sp>
        <p:nvSpPr>
          <p:cNvPr name="Freeform 14" id="14"/>
          <p:cNvSpPr/>
          <p:nvPr/>
        </p:nvSpPr>
        <p:spPr>
          <a:xfrm flipH="false" flipV="false" rot="0">
            <a:off x="1028700" y="2139484"/>
            <a:ext cx="8803640" cy="5694736"/>
          </a:xfrm>
          <a:custGeom>
            <a:avLst/>
            <a:gdLst/>
            <a:ahLst/>
            <a:cxnLst/>
            <a:rect r="r" b="b" t="t" l="l"/>
            <a:pathLst>
              <a:path h="5694736" w="8803640">
                <a:moveTo>
                  <a:pt x="0" y="0"/>
                </a:moveTo>
                <a:lnTo>
                  <a:pt x="8803640" y="0"/>
                </a:lnTo>
                <a:lnTo>
                  <a:pt x="8803640" y="5694736"/>
                </a:lnTo>
                <a:lnTo>
                  <a:pt x="0" y="5694736"/>
                </a:lnTo>
                <a:lnTo>
                  <a:pt x="0" y="0"/>
                </a:lnTo>
                <a:close/>
              </a:path>
            </a:pathLst>
          </a:custGeom>
          <a:blipFill>
            <a:blip r:embed="rId13"/>
            <a:stretch>
              <a:fillRect l="0" t="-8950" r="0" b="-3860"/>
            </a:stretch>
          </a:blipFill>
        </p:spPr>
      </p:sp>
      <p:sp>
        <p:nvSpPr>
          <p:cNvPr name="Freeform 15" id="15"/>
          <p:cNvSpPr/>
          <p:nvPr/>
        </p:nvSpPr>
        <p:spPr>
          <a:xfrm flipH="false" flipV="false" rot="0">
            <a:off x="15273709" y="7834220"/>
            <a:ext cx="2231474" cy="1821694"/>
          </a:xfrm>
          <a:custGeom>
            <a:avLst/>
            <a:gdLst/>
            <a:ahLst/>
            <a:cxnLst/>
            <a:rect r="r" b="b" t="t" l="l"/>
            <a:pathLst>
              <a:path h="1821694" w="2231474">
                <a:moveTo>
                  <a:pt x="0" y="0"/>
                </a:moveTo>
                <a:lnTo>
                  <a:pt x="2231475" y="0"/>
                </a:lnTo>
                <a:lnTo>
                  <a:pt x="2231475" y="1821695"/>
                </a:lnTo>
                <a:lnTo>
                  <a:pt x="0" y="182169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1126743" y="4027389"/>
            <a:ext cx="3692335" cy="2232222"/>
          </a:xfrm>
          <a:custGeom>
            <a:avLst/>
            <a:gdLst/>
            <a:ahLst/>
            <a:cxnLst/>
            <a:rect r="r" b="b" t="t" l="l"/>
            <a:pathLst>
              <a:path h="2232222" w="3692335">
                <a:moveTo>
                  <a:pt x="0" y="0"/>
                </a:moveTo>
                <a:lnTo>
                  <a:pt x="3692335" y="0"/>
                </a:lnTo>
                <a:lnTo>
                  <a:pt x="3692335" y="2232222"/>
                </a:lnTo>
                <a:lnTo>
                  <a:pt x="0" y="2232222"/>
                </a:lnTo>
                <a:lnTo>
                  <a:pt x="0" y="0"/>
                </a:lnTo>
                <a:close/>
              </a:path>
            </a:pathLst>
          </a:custGeom>
          <a:blipFill>
            <a:blip r:embed="rId16">
              <a:alphaModFix amt="43999"/>
            </a:blip>
            <a:stretch>
              <a:fillRect l="0" t="-3448" r="0" b="-3448"/>
            </a:stretch>
          </a:blipFill>
        </p:spPr>
      </p:sp>
      <p:sp>
        <p:nvSpPr>
          <p:cNvPr name="TextBox 17" id="17"/>
          <p:cNvSpPr txBox="true"/>
          <p:nvPr/>
        </p:nvSpPr>
        <p:spPr>
          <a:xfrm rot="0">
            <a:off x="6982714" y="490433"/>
            <a:ext cx="4322573" cy="1791335"/>
          </a:xfrm>
          <a:prstGeom prst="rect">
            <a:avLst/>
          </a:prstGeom>
        </p:spPr>
        <p:txBody>
          <a:bodyPr anchor="t" rtlCol="false" tIns="0" lIns="0" bIns="0" rIns="0">
            <a:spAutoFit/>
          </a:bodyPr>
          <a:lstStyle/>
          <a:p>
            <a:pPr algn="ctr">
              <a:lnSpc>
                <a:spcPts val="6400"/>
              </a:lnSpc>
            </a:pPr>
            <a:r>
              <a:rPr lang="en-US" sz="6400">
                <a:solidFill>
                  <a:srgbClr val="000000"/>
                </a:solidFill>
                <a:latin typeface="Retropix"/>
              </a:rPr>
              <a:t>Decision Tree</a:t>
            </a:r>
          </a:p>
        </p:txBody>
      </p:sp>
      <p:sp>
        <p:nvSpPr>
          <p:cNvPr name="TextBox 18" id="18"/>
          <p:cNvSpPr txBox="true"/>
          <p:nvPr/>
        </p:nvSpPr>
        <p:spPr>
          <a:xfrm rot="0">
            <a:off x="10347193" y="3010172"/>
            <a:ext cx="5251436" cy="4199981"/>
          </a:xfrm>
          <a:prstGeom prst="rect">
            <a:avLst/>
          </a:prstGeom>
        </p:spPr>
        <p:txBody>
          <a:bodyPr anchor="t" rtlCol="false" tIns="0" lIns="0" bIns="0" rIns="0">
            <a:spAutoFit/>
          </a:bodyPr>
          <a:lstStyle/>
          <a:p>
            <a:pPr>
              <a:lnSpc>
                <a:spcPts val="3704"/>
              </a:lnSpc>
            </a:pPr>
            <a:r>
              <a:rPr lang="en-US" sz="2646">
                <a:solidFill>
                  <a:srgbClr val="000000"/>
                </a:solidFill>
                <a:latin typeface="Public Sans"/>
              </a:rPr>
              <a:t>A </a:t>
            </a:r>
            <a:r>
              <a:rPr lang="en-US" sz="2646">
                <a:solidFill>
                  <a:srgbClr val="000000"/>
                </a:solidFill>
                <a:latin typeface="Public Sans Bold"/>
              </a:rPr>
              <a:t>decision tree</a:t>
            </a:r>
            <a:r>
              <a:rPr lang="en-US" sz="2646">
                <a:solidFill>
                  <a:srgbClr val="000000"/>
                </a:solidFill>
                <a:latin typeface="Public Sans"/>
              </a:rPr>
              <a:t> model is constructed using the transformed dataset to capture complex decision boundaries and interactions among features. </a:t>
            </a:r>
          </a:p>
          <a:p>
            <a:pPr>
              <a:lnSpc>
                <a:spcPts val="3704"/>
              </a:lnSpc>
            </a:pPr>
            <a:r>
              <a:rPr lang="en-US" sz="2646">
                <a:solidFill>
                  <a:srgbClr val="000000"/>
                </a:solidFill>
                <a:latin typeface="Public Sans"/>
              </a:rPr>
              <a:t>The model's performance is visualized and evaluated through a confusion matrix and accuracy calculation.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67A7B"/>
        </a:solidFill>
      </p:bgPr>
    </p:bg>
    <p:spTree>
      <p:nvGrpSpPr>
        <p:cNvPr id="1" name=""/>
        <p:cNvGrpSpPr/>
        <p:nvPr/>
      </p:nvGrpSpPr>
      <p:grpSpPr>
        <a:xfrm>
          <a:off x="0" y="0"/>
          <a:ext cx="0" cy="0"/>
          <a:chOff x="0" y="0"/>
          <a:chExt cx="0" cy="0"/>
        </a:xfrm>
      </p:grpSpPr>
      <p:sp>
        <p:nvSpPr>
          <p:cNvPr name="Freeform 2" id="2"/>
          <p:cNvSpPr/>
          <p:nvPr/>
        </p:nvSpPr>
        <p:spPr>
          <a:xfrm flipH="false" flipV="false" rot="0">
            <a:off x="139045" y="18012"/>
            <a:ext cx="3085000" cy="3085000"/>
          </a:xfrm>
          <a:custGeom>
            <a:avLst/>
            <a:gdLst/>
            <a:ahLst/>
            <a:cxnLst/>
            <a:rect r="r" b="b" t="t" l="l"/>
            <a:pathLst>
              <a:path h="3085000" w="3085000">
                <a:moveTo>
                  <a:pt x="0" y="0"/>
                </a:moveTo>
                <a:lnTo>
                  <a:pt x="3085001" y="0"/>
                </a:lnTo>
                <a:lnTo>
                  <a:pt x="3085001" y="3085001"/>
                </a:lnTo>
                <a:lnTo>
                  <a:pt x="0" y="30850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510773" y="8009884"/>
            <a:ext cx="974085" cy="745618"/>
          </a:xfrm>
          <a:custGeom>
            <a:avLst/>
            <a:gdLst/>
            <a:ahLst/>
            <a:cxnLst/>
            <a:rect r="r" b="b" t="t" l="l"/>
            <a:pathLst>
              <a:path h="745618" w="974085">
                <a:moveTo>
                  <a:pt x="0" y="0"/>
                </a:moveTo>
                <a:lnTo>
                  <a:pt x="974085" y="0"/>
                </a:lnTo>
                <a:lnTo>
                  <a:pt x="974085" y="745617"/>
                </a:lnTo>
                <a:lnTo>
                  <a:pt x="0" y="7456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052698"/>
            <a:ext cx="18288000" cy="1234302"/>
            <a:chOff x="0" y="0"/>
            <a:chExt cx="4816593" cy="325084"/>
          </a:xfrm>
        </p:grpSpPr>
        <p:sp>
          <p:nvSpPr>
            <p:cNvPr name="Freeform 5" id="5"/>
            <p:cNvSpPr/>
            <p:nvPr/>
          </p:nvSpPr>
          <p:spPr>
            <a:xfrm flipH="false" flipV="false" rot="0">
              <a:off x="0" y="0"/>
              <a:ext cx="4816592" cy="325084"/>
            </a:xfrm>
            <a:custGeom>
              <a:avLst/>
              <a:gdLst/>
              <a:ahLst/>
              <a:cxnLst/>
              <a:rect r="r" b="b" t="t" l="l"/>
              <a:pathLst>
                <a:path h="325084" w="4816592">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name="TextBox 6" id="6"/>
            <p:cNvSpPr txBox="true"/>
            <p:nvPr/>
          </p:nvSpPr>
          <p:spPr>
            <a:xfrm>
              <a:off x="0" y="-38100"/>
              <a:ext cx="4816593" cy="363184"/>
            </a:xfrm>
            <a:prstGeom prst="rect">
              <a:avLst/>
            </a:prstGeom>
          </p:spPr>
          <p:txBody>
            <a:bodyPr anchor="ctr" rtlCol="false" tIns="254000" lIns="254000" bIns="254000" rIns="254000"/>
            <a:lstStyle/>
            <a:p>
              <a:pPr>
                <a:lnSpc>
                  <a:spcPts val="2100"/>
                </a:lnSpc>
              </a:pPr>
            </a:p>
          </p:txBody>
        </p:sp>
      </p:grpSp>
      <p:grpSp>
        <p:nvGrpSpPr>
          <p:cNvPr name="Group 7" id="7"/>
          <p:cNvGrpSpPr/>
          <p:nvPr/>
        </p:nvGrpSpPr>
        <p:grpSpPr>
          <a:xfrm rot="0">
            <a:off x="237414" y="9267586"/>
            <a:ext cx="804526" cy="804526"/>
            <a:chOff x="0" y="0"/>
            <a:chExt cx="1072702" cy="1072702"/>
          </a:xfrm>
        </p:grpSpPr>
        <p:sp>
          <p:nvSpPr>
            <p:cNvPr name="Freeform 8" id="8"/>
            <p:cNvSpPr/>
            <p:nvPr/>
          </p:nvSpPr>
          <p:spPr>
            <a:xfrm flipH="false" flipV="false" rot="0">
              <a:off x="0" y="0"/>
              <a:ext cx="1072702" cy="1072702"/>
            </a:xfrm>
            <a:custGeom>
              <a:avLst/>
              <a:gdLst/>
              <a:ahLst/>
              <a:cxnLst/>
              <a:rect r="r" b="b" t="t" l="l"/>
              <a:pathLst>
                <a:path h="1072702" w="1072702">
                  <a:moveTo>
                    <a:pt x="0" y="0"/>
                  </a:moveTo>
                  <a:lnTo>
                    <a:pt x="1072702" y="0"/>
                  </a:lnTo>
                  <a:lnTo>
                    <a:pt x="1072702" y="1072702"/>
                  </a:lnTo>
                  <a:lnTo>
                    <a:pt x="0" y="10727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58445" y="150016"/>
              <a:ext cx="755811" cy="772669"/>
            </a:xfrm>
            <a:custGeom>
              <a:avLst/>
              <a:gdLst/>
              <a:ahLst/>
              <a:cxnLst/>
              <a:rect r="r" b="b" t="t" l="l"/>
              <a:pathLst>
                <a:path h="772669" w="755811">
                  <a:moveTo>
                    <a:pt x="0" y="0"/>
                  </a:moveTo>
                  <a:lnTo>
                    <a:pt x="755811" y="0"/>
                  </a:lnTo>
                  <a:lnTo>
                    <a:pt x="755811" y="772670"/>
                  </a:lnTo>
                  <a:lnTo>
                    <a:pt x="0" y="7726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0" id="10"/>
          <p:cNvSpPr/>
          <p:nvPr/>
        </p:nvSpPr>
        <p:spPr>
          <a:xfrm flipH="false" flipV="false" rot="0">
            <a:off x="1423082" y="9291263"/>
            <a:ext cx="807064" cy="757173"/>
          </a:xfrm>
          <a:custGeom>
            <a:avLst/>
            <a:gdLst/>
            <a:ahLst/>
            <a:cxnLst/>
            <a:rect r="r" b="b" t="t" l="l"/>
            <a:pathLst>
              <a:path h="757173" w="807064">
                <a:moveTo>
                  <a:pt x="0" y="0"/>
                </a:moveTo>
                <a:lnTo>
                  <a:pt x="807064" y="0"/>
                </a:lnTo>
                <a:lnTo>
                  <a:pt x="807064" y="757173"/>
                </a:lnTo>
                <a:lnTo>
                  <a:pt x="0" y="7571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2395752" y="9327294"/>
            <a:ext cx="662689" cy="685111"/>
          </a:xfrm>
          <a:custGeom>
            <a:avLst/>
            <a:gdLst/>
            <a:ahLst/>
            <a:cxnLst/>
            <a:rect r="r" b="b" t="t" l="l"/>
            <a:pathLst>
              <a:path h="685111" w="662689">
                <a:moveTo>
                  <a:pt x="0" y="0"/>
                </a:moveTo>
                <a:lnTo>
                  <a:pt x="662688" y="0"/>
                </a:lnTo>
                <a:lnTo>
                  <a:pt x="662688" y="685110"/>
                </a:lnTo>
                <a:lnTo>
                  <a:pt x="0" y="6851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4062279" y="9335724"/>
            <a:ext cx="668249" cy="668249"/>
          </a:xfrm>
          <a:custGeom>
            <a:avLst/>
            <a:gdLst/>
            <a:ahLst/>
            <a:cxnLst/>
            <a:rect r="r" b="b" t="t" l="l"/>
            <a:pathLst>
              <a:path h="668249" w="668249">
                <a:moveTo>
                  <a:pt x="0" y="0"/>
                </a:moveTo>
                <a:lnTo>
                  <a:pt x="668250" y="0"/>
                </a:lnTo>
                <a:lnTo>
                  <a:pt x="668250" y="668250"/>
                </a:lnTo>
                <a:lnTo>
                  <a:pt x="0" y="66825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3224046" y="9309278"/>
            <a:ext cx="672629" cy="721142"/>
          </a:xfrm>
          <a:custGeom>
            <a:avLst/>
            <a:gdLst/>
            <a:ahLst/>
            <a:cxnLst/>
            <a:rect r="r" b="b" t="t" l="l"/>
            <a:pathLst>
              <a:path h="721142" w="672629">
                <a:moveTo>
                  <a:pt x="0" y="0"/>
                </a:moveTo>
                <a:lnTo>
                  <a:pt x="672628" y="0"/>
                </a:lnTo>
                <a:lnTo>
                  <a:pt x="672628" y="721142"/>
                </a:lnTo>
                <a:lnTo>
                  <a:pt x="0" y="72114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4877084" y="9291263"/>
            <a:ext cx="905315" cy="757173"/>
          </a:xfrm>
          <a:custGeom>
            <a:avLst/>
            <a:gdLst/>
            <a:ahLst/>
            <a:cxnLst/>
            <a:rect r="r" b="b" t="t" l="l"/>
            <a:pathLst>
              <a:path h="757173" w="905315">
                <a:moveTo>
                  <a:pt x="0" y="0"/>
                </a:moveTo>
                <a:lnTo>
                  <a:pt x="905315" y="0"/>
                </a:lnTo>
                <a:lnTo>
                  <a:pt x="905315" y="757173"/>
                </a:lnTo>
                <a:lnTo>
                  <a:pt x="0" y="75717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5109868" y="9297158"/>
            <a:ext cx="2801811" cy="712035"/>
            <a:chOff x="0" y="0"/>
            <a:chExt cx="737925" cy="187532"/>
          </a:xfrm>
        </p:grpSpPr>
        <p:sp>
          <p:nvSpPr>
            <p:cNvPr name="Freeform 16" id="16"/>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17" id="17"/>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20" action="ppaction://hlinksldjump"/>
                </a:rPr>
                <a:t>Back to Agenda Page</a:t>
              </a:r>
            </a:p>
          </p:txBody>
        </p:sp>
      </p:grpSp>
      <p:grpSp>
        <p:nvGrpSpPr>
          <p:cNvPr name="Group 18" id="18"/>
          <p:cNvGrpSpPr/>
          <p:nvPr/>
        </p:nvGrpSpPr>
        <p:grpSpPr>
          <a:xfrm rot="0">
            <a:off x="10266075" y="606049"/>
            <a:ext cx="7108560" cy="7108560"/>
            <a:chOff x="0" y="0"/>
            <a:chExt cx="9478080" cy="9478080"/>
          </a:xfrm>
        </p:grpSpPr>
        <p:sp>
          <p:nvSpPr>
            <p:cNvPr name="Freeform 19" id="19"/>
            <p:cNvSpPr/>
            <p:nvPr/>
          </p:nvSpPr>
          <p:spPr>
            <a:xfrm flipH="false" flipV="false" rot="0">
              <a:off x="0" y="0"/>
              <a:ext cx="9478080" cy="9478080"/>
            </a:xfrm>
            <a:custGeom>
              <a:avLst/>
              <a:gdLst/>
              <a:ahLst/>
              <a:cxnLst/>
              <a:rect r="r" b="b" t="t" l="l"/>
              <a:pathLst>
                <a:path h="9478080" w="9478080">
                  <a:moveTo>
                    <a:pt x="0" y="0"/>
                  </a:moveTo>
                  <a:lnTo>
                    <a:pt x="9478080" y="0"/>
                  </a:lnTo>
                  <a:lnTo>
                    <a:pt x="9478080" y="9478080"/>
                  </a:lnTo>
                  <a:lnTo>
                    <a:pt x="0" y="947808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0" id="20"/>
            <p:cNvSpPr/>
            <p:nvPr/>
          </p:nvSpPr>
          <p:spPr>
            <a:xfrm flipH="false" flipV="false" rot="0">
              <a:off x="8640696" y="297571"/>
              <a:ext cx="460611" cy="445537"/>
            </a:xfrm>
            <a:custGeom>
              <a:avLst/>
              <a:gdLst/>
              <a:ahLst/>
              <a:cxnLst/>
              <a:rect r="r" b="b" t="t" l="l"/>
              <a:pathLst>
                <a:path h="445537" w="460611">
                  <a:moveTo>
                    <a:pt x="0" y="0"/>
                  </a:moveTo>
                  <a:lnTo>
                    <a:pt x="460611" y="0"/>
                  </a:lnTo>
                  <a:lnTo>
                    <a:pt x="460611" y="445537"/>
                  </a:lnTo>
                  <a:lnTo>
                    <a:pt x="0" y="44553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sp>
        <p:nvSpPr>
          <p:cNvPr name="Freeform 21" id="21"/>
          <p:cNvSpPr/>
          <p:nvPr/>
        </p:nvSpPr>
        <p:spPr>
          <a:xfrm flipH="false" flipV="false" rot="0">
            <a:off x="237414" y="3901840"/>
            <a:ext cx="9425372" cy="4590596"/>
          </a:xfrm>
          <a:custGeom>
            <a:avLst/>
            <a:gdLst/>
            <a:ahLst/>
            <a:cxnLst/>
            <a:rect r="r" b="b" t="t" l="l"/>
            <a:pathLst>
              <a:path h="4590596" w="9425372">
                <a:moveTo>
                  <a:pt x="0" y="0"/>
                </a:moveTo>
                <a:lnTo>
                  <a:pt x="9425372" y="0"/>
                </a:lnTo>
                <a:lnTo>
                  <a:pt x="9425372" y="4590595"/>
                </a:lnTo>
                <a:lnTo>
                  <a:pt x="0" y="4590595"/>
                </a:lnTo>
                <a:lnTo>
                  <a:pt x="0" y="0"/>
                </a:lnTo>
                <a:close/>
              </a:path>
            </a:pathLst>
          </a:custGeom>
          <a:blipFill>
            <a:blip r:embed="rId25"/>
            <a:stretch>
              <a:fillRect l="0" t="0" r="0" b="0"/>
            </a:stretch>
          </a:blipFill>
        </p:spPr>
      </p:sp>
      <p:sp>
        <p:nvSpPr>
          <p:cNvPr name="TextBox 22" id="22"/>
          <p:cNvSpPr txBox="true"/>
          <p:nvPr/>
        </p:nvSpPr>
        <p:spPr>
          <a:xfrm rot="0">
            <a:off x="139045" y="739041"/>
            <a:ext cx="3026208" cy="1528643"/>
          </a:xfrm>
          <a:prstGeom prst="rect">
            <a:avLst/>
          </a:prstGeom>
        </p:spPr>
        <p:txBody>
          <a:bodyPr anchor="t" rtlCol="false" tIns="0" lIns="0" bIns="0" rIns="0">
            <a:spAutoFit/>
          </a:bodyPr>
          <a:lstStyle/>
          <a:p>
            <a:pPr>
              <a:lnSpc>
                <a:spcPts val="3944"/>
              </a:lnSpc>
            </a:pPr>
            <a:r>
              <a:rPr lang="en-US" sz="2817">
                <a:solidFill>
                  <a:srgbClr val="353535"/>
                </a:solidFill>
                <a:latin typeface="Retropix"/>
              </a:rPr>
              <a:t>Bagging (Bootstrap Aggregation)</a:t>
            </a:r>
          </a:p>
        </p:txBody>
      </p:sp>
      <p:sp>
        <p:nvSpPr>
          <p:cNvPr name="TextBox 23" id="23"/>
          <p:cNvSpPr txBox="true"/>
          <p:nvPr/>
        </p:nvSpPr>
        <p:spPr>
          <a:xfrm rot="0">
            <a:off x="10390792" y="1827600"/>
            <a:ext cx="6607024" cy="5457931"/>
          </a:xfrm>
          <a:prstGeom prst="rect">
            <a:avLst/>
          </a:prstGeom>
        </p:spPr>
        <p:txBody>
          <a:bodyPr anchor="t" rtlCol="false" tIns="0" lIns="0" bIns="0" rIns="0">
            <a:spAutoFit/>
          </a:bodyPr>
          <a:lstStyle/>
          <a:p>
            <a:pPr>
              <a:lnSpc>
                <a:spcPts val="3144"/>
              </a:lnSpc>
            </a:pPr>
            <a:r>
              <a:rPr lang="en-US" sz="2245">
                <a:solidFill>
                  <a:srgbClr val="000000"/>
                </a:solidFill>
                <a:latin typeface="Public Sans Bold"/>
              </a:rPr>
              <a:t>Bagging</a:t>
            </a:r>
            <a:r>
              <a:rPr lang="en-US" sz="2245">
                <a:solidFill>
                  <a:srgbClr val="000000"/>
                </a:solidFill>
                <a:latin typeface="Public Sans"/>
              </a:rPr>
              <a:t>, using the Random Forest algorithm, reduces variance and improves stability in predictive models. It creates multiple subsets of the dataset, trains a model on each, and averages predictions or uses majority voting. Random Forest adds randomness to this process, enhancing robustness and predictive power.</a:t>
            </a:r>
          </a:p>
          <a:p>
            <a:pPr>
              <a:lnSpc>
                <a:spcPts val="3144"/>
              </a:lnSpc>
            </a:pPr>
            <a:r>
              <a:rPr lang="en-US" sz="2245">
                <a:solidFill>
                  <a:srgbClr val="000000"/>
                </a:solidFill>
                <a:latin typeface="Public Sans"/>
              </a:rPr>
              <a:t>Performance is evaluated using a confusion matrix, deriving metrics like accuracy, precision, recall, and F1 score. Feature importance is also assessed to understand main influencers on loan repayment behavior. Hence, Bagging with Random Forest is a powerful predictive tool providing robust predictions and critical insights.</a:t>
            </a:r>
          </a:p>
        </p:txBody>
      </p:sp>
      <p:sp>
        <p:nvSpPr>
          <p:cNvPr name="Freeform 24" id="24"/>
          <p:cNvSpPr/>
          <p:nvPr/>
        </p:nvSpPr>
        <p:spPr>
          <a:xfrm flipH="false" flipV="false" rot="0">
            <a:off x="3440771" y="1141843"/>
            <a:ext cx="1243016" cy="1243016"/>
          </a:xfrm>
          <a:custGeom>
            <a:avLst/>
            <a:gdLst/>
            <a:ahLst/>
            <a:cxnLst/>
            <a:rect r="r" b="b" t="t" l="l"/>
            <a:pathLst>
              <a:path h="1243016" w="1243016">
                <a:moveTo>
                  <a:pt x="0" y="0"/>
                </a:moveTo>
                <a:lnTo>
                  <a:pt x="1243016" y="0"/>
                </a:lnTo>
                <a:lnTo>
                  <a:pt x="1243016" y="1243016"/>
                </a:lnTo>
                <a:lnTo>
                  <a:pt x="0" y="1243016"/>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5" id="25"/>
          <p:cNvSpPr/>
          <p:nvPr/>
        </p:nvSpPr>
        <p:spPr>
          <a:xfrm flipH="false" flipV="false" rot="0">
            <a:off x="4730529" y="1100435"/>
            <a:ext cx="619525" cy="1325832"/>
          </a:xfrm>
          <a:custGeom>
            <a:avLst/>
            <a:gdLst/>
            <a:ahLst/>
            <a:cxnLst/>
            <a:rect r="r" b="b" t="t" l="l"/>
            <a:pathLst>
              <a:path h="1325832" w="619525">
                <a:moveTo>
                  <a:pt x="0" y="0"/>
                </a:moveTo>
                <a:lnTo>
                  <a:pt x="619525" y="0"/>
                </a:lnTo>
                <a:lnTo>
                  <a:pt x="619525" y="1325832"/>
                </a:lnTo>
                <a:lnTo>
                  <a:pt x="0" y="1325832"/>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26" id="26"/>
          <p:cNvSpPr/>
          <p:nvPr/>
        </p:nvSpPr>
        <p:spPr>
          <a:xfrm flipH="false" flipV="false" rot="0">
            <a:off x="7477734" y="917109"/>
            <a:ext cx="1692484" cy="1692484"/>
          </a:xfrm>
          <a:custGeom>
            <a:avLst/>
            <a:gdLst/>
            <a:ahLst/>
            <a:cxnLst/>
            <a:rect r="r" b="b" t="t" l="l"/>
            <a:pathLst>
              <a:path h="1692484" w="1692484">
                <a:moveTo>
                  <a:pt x="0" y="0"/>
                </a:moveTo>
                <a:lnTo>
                  <a:pt x="1692484" y="0"/>
                </a:lnTo>
                <a:lnTo>
                  <a:pt x="1692484" y="1692484"/>
                </a:lnTo>
                <a:lnTo>
                  <a:pt x="0" y="1692484"/>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27" id="27"/>
          <p:cNvSpPr/>
          <p:nvPr/>
        </p:nvSpPr>
        <p:spPr>
          <a:xfrm flipH="false" flipV="false" rot="0">
            <a:off x="5595463" y="917109"/>
            <a:ext cx="1636861" cy="1737980"/>
          </a:xfrm>
          <a:custGeom>
            <a:avLst/>
            <a:gdLst/>
            <a:ahLst/>
            <a:cxnLst/>
            <a:rect r="r" b="b" t="t" l="l"/>
            <a:pathLst>
              <a:path h="1737980" w="1636861">
                <a:moveTo>
                  <a:pt x="0" y="0"/>
                </a:moveTo>
                <a:lnTo>
                  <a:pt x="1636862" y="0"/>
                </a:lnTo>
                <a:lnTo>
                  <a:pt x="1636862" y="1737980"/>
                </a:lnTo>
                <a:lnTo>
                  <a:pt x="0" y="1737980"/>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67A7B"/>
        </a:solidFill>
      </p:bgPr>
    </p:bg>
    <p:spTree>
      <p:nvGrpSpPr>
        <p:cNvPr id="1" name=""/>
        <p:cNvGrpSpPr/>
        <p:nvPr/>
      </p:nvGrpSpPr>
      <p:grpSpPr>
        <a:xfrm>
          <a:off x="0" y="0"/>
          <a:ext cx="0" cy="0"/>
          <a:chOff x="0" y="0"/>
          <a:chExt cx="0" cy="0"/>
        </a:xfrm>
      </p:grpSpPr>
      <p:sp>
        <p:nvSpPr>
          <p:cNvPr name="Freeform 2" id="2"/>
          <p:cNvSpPr/>
          <p:nvPr/>
        </p:nvSpPr>
        <p:spPr>
          <a:xfrm flipH="false" flipV="false" rot="0">
            <a:off x="16908410" y="3294667"/>
            <a:ext cx="704718" cy="952322"/>
          </a:xfrm>
          <a:custGeom>
            <a:avLst/>
            <a:gdLst/>
            <a:ahLst/>
            <a:cxnLst/>
            <a:rect r="r" b="b" t="t" l="l"/>
            <a:pathLst>
              <a:path h="952322" w="704718">
                <a:moveTo>
                  <a:pt x="0" y="0"/>
                </a:moveTo>
                <a:lnTo>
                  <a:pt x="704718" y="0"/>
                </a:lnTo>
                <a:lnTo>
                  <a:pt x="704718" y="952321"/>
                </a:lnTo>
                <a:lnTo>
                  <a:pt x="0" y="9523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98415" y="2100520"/>
            <a:ext cx="924708" cy="707822"/>
          </a:xfrm>
          <a:custGeom>
            <a:avLst/>
            <a:gdLst/>
            <a:ahLst/>
            <a:cxnLst/>
            <a:rect r="r" b="b" t="t" l="l"/>
            <a:pathLst>
              <a:path h="707822" w="924708">
                <a:moveTo>
                  <a:pt x="0" y="0"/>
                </a:moveTo>
                <a:lnTo>
                  <a:pt x="924708" y="0"/>
                </a:lnTo>
                <a:lnTo>
                  <a:pt x="924708" y="707821"/>
                </a:lnTo>
                <a:lnTo>
                  <a:pt x="0" y="7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95477" y="513702"/>
            <a:ext cx="866388" cy="1100492"/>
          </a:xfrm>
          <a:custGeom>
            <a:avLst/>
            <a:gdLst/>
            <a:ahLst/>
            <a:cxnLst/>
            <a:rect r="r" b="b" t="t" l="l"/>
            <a:pathLst>
              <a:path h="1100492" w="866388">
                <a:moveTo>
                  <a:pt x="0" y="0"/>
                </a:moveTo>
                <a:lnTo>
                  <a:pt x="866388" y="0"/>
                </a:lnTo>
                <a:lnTo>
                  <a:pt x="866388" y="1100492"/>
                </a:lnTo>
                <a:lnTo>
                  <a:pt x="0" y="11004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0" y="9052698"/>
            <a:ext cx="18288000" cy="1234302"/>
            <a:chOff x="0" y="0"/>
            <a:chExt cx="4816593" cy="325084"/>
          </a:xfrm>
        </p:grpSpPr>
        <p:sp>
          <p:nvSpPr>
            <p:cNvPr name="Freeform 6" id="6"/>
            <p:cNvSpPr/>
            <p:nvPr/>
          </p:nvSpPr>
          <p:spPr>
            <a:xfrm flipH="false" flipV="false" rot="0">
              <a:off x="0" y="0"/>
              <a:ext cx="4816592" cy="325084"/>
            </a:xfrm>
            <a:custGeom>
              <a:avLst/>
              <a:gdLst/>
              <a:ahLst/>
              <a:cxnLst/>
              <a:rect r="r" b="b" t="t" l="l"/>
              <a:pathLst>
                <a:path h="325084" w="4816592">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sp>
        <p:sp>
          <p:nvSpPr>
            <p:cNvPr name="TextBox 7" id="7"/>
            <p:cNvSpPr txBox="true"/>
            <p:nvPr/>
          </p:nvSpPr>
          <p:spPr>
            <a:xfrm>
              <a:off x="0" y="-38100"/>
              <a:ext cx="4816593" cy="363184"/>
            </a:xfrm>
            <a:prstGeom prst="rect">
              <a:avLst/>
            </a:prstGeom>
          </p:spPr>
          <p:txBody>
            <a:bodyPr anchor="ctr" rtlCol="false" tIns="254000" lIns="254000" bIns="254000" rIns="254000"/>
            <a:lstStyle/>
            <a:p>
              <a:pPr>
                <a:lnSpc>
                  <a:spcPts val="2100"/>
                </a:lnSpc>
              </a:pPr>
            </a:p>
          </p:txBody>
        </p:sp>
      </p:grpSp>
      <p:grpSp>
        <p:nvGrpSpPr>
          <p:cNvPr name="Group 8" id="8"/>
          <p:cNvGrpSpPr/>
          <p:nvPr/>
        </p:nvGrpSpPr>
        <p:grpSpPr>
          <a:xfrm rot="0">
            <a:off x="237414" y="9267586"/>
            <a:ext cx="804526" cy="804526"/>
            <a:chOff x="0" y="0"/>
            <a:chExt cx="1072702" cy="1072702"/>
          </a:xfrm>
        </p:grpSpPr>
        <p:sp>
          <p:nvSpPr>
            <p:cNvPr name="Freeform 9" id="9"/>
            <p:cNvSpPr/>
            <p:nvPr/>
          </p:nvSpPr>
          <p:spPr>
            <a:xfrm flipH="false" flipV="false" rot="0">
              <a:off x="0" y="0"/>
              <a:ext cx="1072702" cy="1072702"/>
            </a:xfrm>
            <a:custGeom>
              <a:avLst/>
              <a:gdLst/>
              <a:ahLst/>
              <a:cxnLst/>
              <a:rect r="r" b="b" t="t" l="l"/>
              <a:pathLst>
                <a:path h="1072702" w="1072702">
                  <a:moveTo>
                    <a:pt x="0" y="0"/>
                  </a:moveTo>
                  <a:lnTo>
                    <a:pt x="1072702" y="0"/>
                  </a:lnTo>
                  <a:lnTo>
                    <a:pt x="1072702" y="1072702"/>
                  </a:lnTo>
                  <a:lnTo>
                    <a:pt x="0" y="10727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8445" y="150016"/>
              <a:ext cx="755811" cy="772669"/>
            </a:xfrm>
            <a:custGeom>
              <a:avLst/>
              <a:gdLst/>
              <a:ahLst/>
              <a:cxnLst/>
              <a:rect r="r" b="b" t="t" l="l"/>
              <a:pathLst>
                <a:path h="772669" w="755811">
                  <a:moveTo>
                    <a:pt x="0" y="0"/>
                  </a:moveTo>
                  <a:lnTo>
                    <a:pt x="755811" y="0"/>
                  </a:lnTo>
                  <a:lnTo>
                    <a:pt x="755811" y="772670"/>
                  </a:lnTo>
                  <a:lnTo>
                    <a:pt x="0" y="7726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Freeform 11" id="11"/>
          <p:cNvSpPr/>
          <p:nvPr/>
        </p:nvSpPr>
        <p:spPr>
          <a:xfrm flipH="false" flipV="false" rot="0">
            <a:off x="1423082" y="9291263"/>
            <a:ext cx="807064" cy="757173"/>
          </a:xfrm>
          <a:custGeom>
            <a:avLst/>
            <a:gdLst/>
            <a:ahLst/>
            <a:cxnLst/>
            <a:rect r="r" b="b" t="t" l="l"/>
            <a:pathLst>
              <a:path h="757173" w="807064">
                <a:moveTo>
                  <a:pt x="0" y="0"/>
                </a:moveTo>
                <a:lnTo>
                  <a:pt x="807064" y="0"/>
                </a:lnTo>
                <a:lnTo>
                  <a:pt x="807064" y="757173"/>
                </a:lnTo>
                <a:lnTo>
                  <a:pt x="0" y="75717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395752" y="9327294"/>
            <a:ext cx="662689" cy="685111"/>
          </a:xfrm>
          <a:custGeom>
            <a:avLst/>
            <a:gdLst/>
            <a:ahLst/>
            <a:cxnLst/>
            <a:rect r="r" b="b" t="t" l="l"/>
            <a:pathLst>
              <a:path h="685111" w="662689">
                <a:moveTo>
                  <a:pt x="0" y="0"/>
                </a:moveTo>
                <a:lnTo>
                  <a:pt x="662688" y="0"/>
                </a:lnTo>
                <a:lnTo>
                  <a:pt x="662688" y="685110"/>
                </a:lnTo>
                <a:lnTo>
                  <a:pt x="0" y="68511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4062279" y="9335724"/>
            <a:ext cx="668249" cy="668249"/>
          </a:xfrm>
          <a:custGeom>
            <a:avLst/>
            <a:gdLst/>
            <a:ahLst/>
            <a:cxnLst/>
            <a:rect r="r" b="b" t="t" l="l"/>
            <a:pathLst>
              <a:path h="668249" w="668249">
                <a:moveTo>
                  <a:pt x="0" y="0"/>
                </a:moveTo>
                <a:lnTo>
                  <a:pt x="668250" y="0"/>
                </a:lnTo>
                <a:lnTo>
                  <a:pt x="668250" y="668250"/>
                </a:lnTo>
                <a:lnTo>
                  <a:pt x="0" y="6682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3224046" y="9309278"/>
            <a:ext cx="672629" cy="721142"/>
          </a:xfrm>
          <a:custGeom>
            <a:avLst/>
            <a:gdLst/>
            <a:ahLst/>
            <a:cxnLst/>
            <a:rect r="r" b="b" t="t" l="l"/>
            <a:pathLst>
              <a:path h="721142" w="672629">
                <a:moveTo>
                  <a:pt x="0" y="0"/>
                </a:moveTo>
                <a:lnTo>
                  <a:pt x="672628" y="0"/>
                </a:lnTo>
                <a:lnTo>
                  <a:pt x="672628" y="721142"/>
                </a:lnTo>
                <a:lnTo>
                  <a:pt x="0" y="72114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4877084" y="9291263"/>
            <a:ext cx="905315" cy="757173"/>
          </a:xfrm>
          <a:custGeom>
            <a:avLst/>
            <a:gdLst/>
            <a:ahLst/>
            <a:cxnLst/>
            <a:rect r="r" b="b" t="t" l="l"/>
            <a:pathLst>
              <a:path h="757173" w="905315">
                <a:moveTo>
                  <a:pt x="0" y="0"/>
                </a:moveTo>
                <a:lnTo>
                  <a:pt x="905315" y="0"/>
                </a:lnTo>
                <a:lnTo>
                  <a:pt x="905315" y="757173"/>
                </a:lnTo>
                <a:lnTo>
                  <a:pt x="0" y="75717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6" id="16"/>
          <p:cNvGrpSpPr/>
          <p:nvPr/>
        </p:nvGrpSpPr>
        <p:grpSpPr>
          <a:xfrm rot="0">
            <a:off x="15109868" y="9297158"/>
            <a:ext cx="2801811" cy="712035"/>
            <a:chOff x="0" y="0"/>
            <a:chExt cx="737925" cy="187532"/>
          </a:xfrm>
        </p:grpSpPr>
        <p:sp>
          <p:nvSpPr>
            <p:cNvPr name="Freeform 17" id="17"/>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18" id="18"/>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22" action="ppaction://hlinksldjump"/>
                </a:rPr>
                <a:t>Back to Agenda Page</a:t>
              </a:r>
            </a:p>
          </p:txBody>
        </p:sp>
      </p:grpSp>
      <p:graphicFrame>
        <p:nvGraphicFramePr>
          <p:cNvPr name="Table 19" id="19"/>
          <p:cNvGraphicFramePr>
            <a:graphicFrameLocks noGrp="true"/>
          </p:cNvGraphicFramePr>
          <p:nvPr/>
        </p:nvGraphicFramePr>
        <p:xfrm>
          <a:off x="1611687" y="3557037"/>
          <a:ext cx="14741764" cy="4661154"/>
        </p:xfrm>
        <a:graphic>
          <a:graphicData uri="http://schemas.openxmlformats.org/drawingml/2006/table">
            <a:tbl>
              <a:tblPr/>
              <a:tblGrid>
                <a:gridCol w="3073506"/>
                <a:gridCol w="3073506"/>
                <a:gridCol w="3073506"/>
                <a:gridCol w="3073506"/>
                <a:gridCol w="2447741"/>
              </a:tblGrid>
              <a:tr h="988414">
                <a:tc>
                  <a:txBody>
                    <a:bodyPr anchor="t" rtlCol="false"/>
                    <a:lstStyle/>
                    <a:p>
                      <a:pPr algn="ctr">
                        <a:lnSpc>
                          <a:spcPts val="3079"/>
                        </a:lnSpc>
                        <a:defRPr/>
                      </a:pPr>
                      <a:r>
                        <a:rPr lang="en-US" sz="2199">
                          <a:solidFill>
                            <a:srgbClr val="342AFF"/>
                          </a:solidFill>
                          <a:latin typeface="Public Sans"/>
                        </a:rPr>
                        <a:t> </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Bold"/>
                        </a:rPr>
                        <a:t>ZeroR</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Bold"/>
                        </a:rPr>
                        <a:t>Logistic Regression</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Bold"/>
                        </a:rPr>
                        <a:t>Decision Tree</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Bold"/>
                        </a:rPr>
                        <a:t>Bagging</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r>
              <a:tr h="894775">
                <a:tc>
                  <a:txBody>
                    <a:bodyPr anchor="t" rtlCol="false"/>
                    <a:lstStyle/>
                    <a:p>
                      <a:pPr algn="ctr">
                        <a:lnSpc>
                          <a:spcPts val="3079"/>
                        </a:lnSpc>
                        <a:defRPr/>
                      </a:pPr>
                      <a:r>
                        <a:rPr lang="en-US" sz="2199">
                          <a:solidFill>
                            <a:srgbClr val="342AFF"/>
                          </a:solidFill>
                          <a:latin typeface="Public Sans Bold"/>
                        </a:rPr>
                        <a:t>Accuracy</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0.8292</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0.9991</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0.9736</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0.9991</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r>
              <a:tr h="894775">
                <a:tc>
                  <a:txBody>
                    <a:bodyPr anchor="t" rtlCol="false"/>
                    <a:lstStyle/>
                    <a:p>
                      <a:pPr algn="ctr">
                        <a:lnSpc>
                          <a:spcPts val="3079"/>
                        </a:lnSpc>
                        <a:defRPr/>
                      </a:pPr>
                      <a:r>
                        <a:rPr lang="en-US" sz="2199">
                          <a:solidFill>
                            <a:srgbClr val="342AFF"/>
                          </a:solidFill>
                          <a:latin typeface="Public Sans Bold"/>
                        </a:rPr>
                        <a:t>Specificity</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1</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0.9998</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0.9876</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1</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r>
              <a:tr h="894775">
                <a:tc>
                  <a:txBody>
                    <a:bodyPr anchor="t" rtlCol="false"/>
                    <a:lstStyle/>
                    <a:p>
                      <a:pPr algn="ctr">
                        <a:lnSpc>
                          <a:spcPts val="3079"/>
                        </a:lnSpc>
                        <a:defRPr/>
                      </a:pPr>
                      <a:r>
                        <a:rPr lang="en-US" sz="2199">
                          <a:solidFill>
                            <a:srgbClr val="342AFF"/>
                          </a:solidFill>
                          <a:latin typeface="Public Sans Bold"/>
                        </a:rPr>
                        <a:t>Sensitivity</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0.9958</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0.9055</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0.9948</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r>
              <a:tr h="988414">
                <a:tc>
                  <a:txBody>
                    <a:bodyPr anchor="t" rtlCol="false"/>
                    <a:lstStyle/>
                    <a:p>
                      <a:pPr algn="ctr">
                        <a:lnSpc>
                          <a:spcPts val="3079"/>
                        </a:lnSpc>
                        <a:defRPr/>
                      </a:pPr>
                      <a:r>
                        <a:rPr lang="en-US" sz="2199">
                          <a:solidFill>
                            <a:srgbClr val="342AFF"/>
                          </a:solidFill>
                          <a:latin typeface="Public Sans Bold"/>
                        </a:rPr>
                        <a:t>Precision</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 (Undefined)</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0.999</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0.9376</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c>
                  <a:txBody>
                    <a:bodyPr anchor="t" rtlCol="false"/>
                    <a:lstStyle/>
                    <a:p>
                      <a:pPr algn="ctr">
                        <a:lnSpc>
                          <a:spcPts val="3079"/>
                        </a:lnSpc>
                        <a:defRPr/>
                      </a:pPr>
                      <a:r>
                        <a:rPr lang="en-US" sz="2199">
                          <a:solidFill>
                            <a:srgbClr val="342AFF"/>
                          </a:solidFill>
                          <a:latin typeface="Public Sans Italics"/>
                        </a:rPr>
                        <a:t>1</a:t>
                      </a:r>
                      <a:endParaRPr lang="en-US" sz="1100"/>
                    </a:p>
                  </a:txBody>
                  <a:tcPr marL="152400" marR="152400" marT="152400" marB="152400" anchor="ctr">
                    <a:lnL cmpd="sng" algn="ctr" cap="flat" w="19050">
                      <a:solidFill>
                        <a:srgbClr val="067A7B"/>
                      </a:solidFill>
                      <a:prstDash val="solid"/>
                      <a:round/>
                      <a:headEnd type="none" w="med" len="med"/>
                      <a:tailEnd type="none" w="med" len="med"/>
                    </a:lnL>
                    <a:lnR cmpd="sng" algn="ctr" cap="flat" w="19050">
                      <a:solidFill>
                        <a:srgbClr val="067A7B"/>
                      </a:solidFill>
                      <a:prstDash val="solid"/>
                      <a:round/>
                      <a:headEnd type="none" w="med" len="med"/>
                      <a:tailEnd type="none" w="med" len="med"/>
                    </a:lnR>
                    <a:lnT cmpd="sng" algn="ctr" cap="flat" w="19050">
                      <a:solidFill>
                        <a:srgbClr val="067A7B"/>
                      </a:solidFill>
                      <a:prstDash val="solid"/>
                      <a:round/>
                      <a:headEnd type="none" w="med" len="med"/>
                      <a:tailEnd type="none" w="med" len="med"/>
                    </a:lnT>
                    <a:lnB cmpd="sng" algn="ctr" cap="flat" w="19050">
                      <a:solidFill>
                        <a:srgbClr val="067A7B"/>
                      </a:solidFill>
                      <a:prstDash val="solid"/>
                      <a:round/>
                      <a:headEnd type="none" w="med" len="med"/>
                      <a:tailEnd type="none" w="med" len="med"/>
                    </a:lnB>
                    <a:solidFill>
                      <a:srgbClr val="FEFF99"/>
                    </a:solidFill>
                  </a:tcPr>
                </a:tc>
              </a:tr>
            </a:tbl>
          </a:graphicData>
        </a:graphic>
      </p:graphicFrame>
      <p:sp>
        <p:nvSpPr>
          <p:cNvPr name="Freeform 20" id="20"/>
          <p:cNvSpPr/>
          <p:nvPr/>
        </p:nvSpPr>
        <p:spPr>
          <a:xfrm flipH="false" flipV="false" rot="0">
            <a:off x="856732" y="690372"/>
            <a:ext cx="3740727" cy="4114800"/>
          </a:xfrm>
          <a:custGeom>
            <a:avLst/>
            <a:gdLst/>
            <a:ahLst/>
            <a:cxnLst/>
            <a:rect r="r" b="b" t="t" l="l"/>
            <a:pathLst>
              <a:path h="4114800" w="3740727">
                <a:moveTo>
                  <a:pt x="0" y="0"/>
                </a:moveTo>
                <a:lnTo>
                  <a:pt x="3740728" y="0"/>
                </a:lnTo>
                <a:lnTo>
                  <a:pt x="3740728" y="4114800"/>
                </a:lnTo>
                <a:lnTo>
                  <a:pt x="0" y="411480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1" id="21"/>
          <p:cNvSpPr/>
          <p:nvPr/>
        </p:nvSpPr>
        <p:spPr>
          <a:xfrm flipH="false" flipV="false" rot="0">
            <a:off x="15710852" y="7024230"/>
            <a:ext cx="980609" cy="1527860"/>
          </a:xfrm>
          <a:custGeom>
            <a:avLst/>
            <a:gdLst/>
            <a:ahLst/>
            <a:cxnLst/>
            <a:rect r="r" b="b" t="t" l="l"/>
            <a:pathLst>
              <a:path h="1527860" w="980609">
                <a:moveTo>
                  <a:pt x="0" y="0"/>
                </a:moveTo>
                <a:lnTo>
                  <a:pt x="980609" y="0"/>
                </a:lnTo>
                <a:lnTo>
                  <a:pt x="980609" y="1527861"/>
                </a:lnTo>
                <a:lnTo>
                  <a:pt x="0" y="152786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22" id="22"/>
          <p:cNvGrpSpPr/>
          <p:nvPr/>
        </p:nvGrpSpPr>
        <p:grpSpPr>
          <a:xfrm rot="0">
            <a:off x="5513029" y="846405"/>
            <a:ext cx="6939082" cy="3216051"/>
            <a:chOff x="0" y="0"/>
            <a:chExt cx="9252109" cy="4288068"/>
          </a:xfrm>
        </p:grpSpPr>
        <p:sp>
          <p:nvSpPr>
            <p:cNvPr name="TextBox 23" id="23"/>
            <p:cNvSpPr txBox="true"/>
            <p:nvPr/>
          </p:nvSpPr>
          <p:spPr>
            <a:xfrm rot="0">
              <a:off x="0" y="-9525"/>
              <a:ext cx="9252109" cy="3362325"/>
            </a:xfrm>
            <a:prstGeom prst="rect">
              <a:avLst/>
            </a:prstGeom>
          </p:spPr>
          <p:txBody>
            <a:bodyPr anchor="t" rtlCol="false" tIns="0" lIns="0" bIns="0" rIns="0">
              <a:spAutoFit/>
            </a:bodyPr>
            <a:lstStyle/>
            <a:p>
              <a:pPr algn="ctr">
                <a:lnSpc>
                  <a:spcPts val="8999"/>
                </a:lnSpc>
              </a:pPr>
              <a:r>
                <a:rPr lang="en-US" sz="8999">
                  <a:solidFill>
                    <a:srgbClr val="FFFFFF"/>
                  </a:solidFill>
                  <a:latin typeface="Retropix"/>
                </a:rPr>
                <a:t>MODEL RESULTS</a:t>
              </a:r>
            </a:p>
          </p:txBody>
        </p:sp>
        <p:sp>
          <p:nvSpPr>
            <p:cNvPr name="TextBox 24" id="24"/>
            <p:cNvSpPr txBox="true"/>
            <p:nvPr/>
          </p:nvSpPr>
          <p:spPr>
            <a:xfrm rot="0">
              <a:off x="0" y="3602268"/>
              <a:ext cx="9252109" cy="685800"/>
            </a:xfrm>
            <a:prstGeom prst="rect">
              <a:avLst/>
            </a:prstGeom>
          </p:spPr>
          <p:txBody>
            <a:bodyPr anchor="t" rtlCol="false" tIns="0" lIns="0" bIns="0" rIns="0">
              <a:spAutoFit/>
            </a:bodyPr>
            <a:lstStyle/>
            <a:p>
              <a:pPr algn="ctr">
                <a:lnSpc>
                  <a:spcPts val="4200"/>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16736" y="-5817236"/>
            <a:ext cx="21921472" cy="21921472"/>
          </a:xfrm>
          <a:custGeom>
            <a:avLst/>
            <a:gdLst/>
            <a:ahLst/>
            <a:cxnLst/>
            <a:rect r="r" b="b" t="t" l="l"/>
            <a:pathLst>
              <a:path h="21921472" w="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36596" y="1839339"/>
            <a:ext cx="14235927" cy="6629441"/>
            <a:chOff x="0" y="0"/>
            <a:chExt cx="3749380" cy="1746026"/>
          </a:xfrm>
        </p:grpSpPr>
        <p:sp>
          <p:nvSpPr>
            <p:cNvPr name="Freeform 4" id="4"/>
            <p:cNvSpPr/>
            <p:nvPr/>
          </p:nvSpPr>
          <p:spPr>
            <a:xfrm flipH="false" flipV="false" rot="0">
              <a:off x="0" y="0"/>
              <a:ext cx="3749380" cy="1746026"/>
            </a:xfrm>
            <a:custGeom>
              <a:avLst/>
              <a:gdLst/>
              <a:ahLst/>
              <a:cxnLst/>
              <a:rect r="r" b="b" t="t" l="l"/>
              <a:pathLst>
                <a:path h="1746026" w="3749380">
                  <a:moveTo>
                    <a:pt x="0" y="0"/>
                  </a:moveTo>
                  <a:lnTo>
                    <a:pt x="3749380" y="0"/>
                  </a:lnTo>
                  <a:lnTo>
                    <a:pt x="3749380" y="1746026"/>
                  </a:lnTo>
                  <a:lnTo>
                    <a:pt x="0" y="1746026"/>
                  </a:lnTo>
                  <a:close/>
                </a:path>
              </a:pathLst>
            </a:custGeom>
            <a:solidFill>
              <a:srgbClr val="FEFF99"/>
            </a:solidFill>
            <a:ln w="95250" cap="sq">
              <a:solidFill>
                <a:srgbClr val="CCCCCC"/>
              </a:solidFill>
              <a:prstDash val="sysDot"/>
              <a:miter/>
            </a:ln>
          </p:spPr>
        </p:sp>
        <p:sp>
          <p:nvSpPr>
            <p:cNvPr name="TextBox 5" id="5"/>
            <p:cNvSpPr txBox="true"/>
            <p:nvPr/>
          </p:nvSpPr>
          <p:spPr>
            <a:xfrm>
              <a:off x="0" y="-38100"/>
              <a:ext cx="3749380" cy="1784126"/>
            </a:xfrm>
            <a:prstGeom prst="rect">
              <a:avLst/>
            </a:prstGeom>
          </p:spPr>
          <p:txBody>
            <a:bodyPr anchor="ctr" rtlCol="false" tIns="50800" lIns="50800" bIns="50800" rIns="50800"/>
            <a:lstStyle/>
            <a:p>
              <a:pPr algn="ctr">
                <a:lnSpc>
                  <a:spcPts val="2100"/>
                </a:lnSpc>
              </a:pPr>
            </a:p>
          </p:txBody>
        </p:sp>
      </p:grpSp>
      <p:grpSp>
        <p:nvGrpSpPr>
          <p:cNvPr name="Group 6" id="6"/>
          <p:cNvGrpSpPr/>
          <p:nvPr/>
        </p:nvGrpSpPr>
        <p:grpSpPr>
          <a:xfrm rot="0">
            <a:off x="-1301375" y="0"/>
            <a:ext cx="20890750" cy="795781"/>
            <a:chOff x="0" y="0"/>
            <a:chExt cx="27854334" cy="1061041"/>
          </a:xfrm>
        </p:grpSpPr>
        <p:grpSp>
          <p:nvGrpSpPr>
            <p:cNvPr name="Group 7" id="7"/>
            <p:cNvGrpSpPr/>
            <p:nvPr/>
          </p:nvGrpSpPr>
          <p:grpSpPr>
            <a:xfrm rot="0">
              <a:off x="0" y="0"/>
              <a:ext cx="27854334" cy="1061041"/>
              <a:chOff x="0" y="0"/>
              <a:chExt cx="5502091" cy="209588"/>
            </a:xfrm>
          </p:grpSpPr>
          <p:sp>
            <p:nvSpPr>
              <p:cNvPr name="Freeform 8" id="8"/>
              <p:cNvSpPr/>
              <p:nvPr/>
            </p:nvSpPr>
            <p:spPr>
              <a:xfrm flipH="false" flipV="false" rot="0">
                <a:off x="0" y="0"/>
                <a:ext cx="5502091" cy="209588"/>
              </a:xfrm>
              <a:custGeom>
                <a:avLst/>
                <a:gdLst/>
                <a:ahLst/>
                <a:cxnLst/>
                <a:rect r="r" b="b" t="t" l="l"/>
                <a:pathLst>
                  <a:path h="209588" w="5502091">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name="TextBox 9" id="9"/>
              <p:cNvSpPr txBox="true"/>
              <p:nvPr/>
            </p:nvSpPr>
            <p:spPr>
              <a:xfrm>
                <a:off x="0" y="-47625"/>
                <a:ext cx="5502091" cy="257213"/>
              </a:xfrm>
              <a:prstGeom prst="rect">
                <a:avLst/>
              </a:prstGeom>
            </p:spPr>
            <p:txBody>
              <a:bodyPr anchor="ctr" rtlCol="false" tIns="254000" lIns="254000" bIns="254000" rIns="254000"/>
              <a:lstStyle/>
              <a:p>
                <a:pPr>
                  <a:lnSpc>
                    <a:spcPts val="3499"/>
                  </a:lnSpc>
                </a:pPr>
              </a:p>
            </p:txBody>
          </p:sp>
        </p:grpSp>
        <p:sp>
          <p:nvSpPr>
            <p:cNvPr name="TextBox 10" id="10"/>
            <p:cNvSpPr txBox="true"/>
            <p:nvPr/>
          </p:nvSpPr>
          <p:spPr>
            <a:xfrm rot="0">
              <a:off x="439275" y="269112"/>
              <a:ext cx="26975784"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Data Preprocessing • Data Preprocessing • Data Preprocessing • Data Preprocessing • Data Preprocessing • Data Preprocessing • Data </a:t>
              </a:r>
            </a:p>
          </p:txBody>
        </p:sp>
      </p:grpSp>
      <p:grpSp>
        <p:nvGrpSpPr>
          <p:cNvPr name="Group 11" id="11"/>
          <p:cNvGrpSpPr/>
          <p:nvPr/>
        </p:nvGrpSpPr>
        <p:grpSpPr>
          <a:xfrm rot="0">
            <a:off x="-1301375" y="9491219"/>
            <a:ext cx="20890750" cy="795781"/>
            <a:chOff x="0" y="0"/>
            <a:chExt cx="27854334" cy="1061041"/>
          </a:xfrm>
        </p:grpSpPr>
        <p:grpSp>
          <p:nvGrpSpPr>
            <p:cNvPr name="Group 12" id="12"/>
            <p:cNvGrpSpPr/>
            <p:nvPr/>
          </p:nvGrpSpPr>
          <p:grpSpPr>
            <a:xfrm rot="0">
              <a:off x="0" y="0"/>
              <a:ext cx="27854334" cy="1061041"/>
              <a:chOff x="0" y="0"/>
              <a:chExt cx="5502091" cy="209588"/>
            </a:xfrm>
          </p:grpSpPr>
          <p:sp>
            <p:nvSpPr>
              <p:cNvPr name="Freeform 13" id="13"/>
              <p:cNvSpPr/>
              <p:nvPr/>
            </p:nvSpPr>
            <p:spPr>
              <a:xfrm flipH="false" flipV="false" rot="0">
                <a:off x="0" y="0"/>
                <a:ext cx="5502091" cy="209588"/>
              </a:xfrm>
              <a:custGeom>
                <a:avLst/>
                <a:gdLst/>
                <a:ahLst/>
                <a:cxnLst/>
                <a:rect r="r" b="b" t="t" l="l"/>
                <a:pathLst>
                  <a:path h="209588" w="5502091">
                    <a:moveTo>
                      <a:pt x="0" y="0"/>
                    </a:moveTo>
                    <a:lnTo>
                      <a:pt x="5502091" y="0"/>
                    </a:lnTo>
                    <a:lnTo>
                      <a:pt x="5502091" y="209588"/>
                    </a:lnTo>
                    <a:lnTo>
                      <a:pt x="0" y="209588"/>
                    </a:lnTo>
                    <a:close/>
                  </a:path>
                </a:pathLst>
              </a:custGeom>
              <a:solidFill>
                <a:srgbClr val="1818B7"/>
              </a:solidFill>
              <a:ln w="95250" cap="sq">
                <a:solidFill>
                  <a:srgbClr val="1818B7"/>
                </a:solidFill>
                <a:prstDash val="solid"/>
                <a:miter/>
              </a:ln>
            </p:spPr>
          </p:sp>
          <p:sp>
            <p:nvSpPr>
              <p:cNvPr name="TextBox 14" id="14"/>
              <p:cNvSpPr txBox="true"/>
              <p:nvPr/>
            </p:nvSpPr>
            <p:spPr>
              <a:xfrm>
                <a:off x="0" y="-47625"/>
                <a:ext cx="5502091" cy="257213"/>
              </a:xfrm>
              <a:prstGeom prst="rect">
                <a:avLst/>
              </a:prstGeom>
            </p:spPr>
            <p:txBody>
              <a:bodyPr anchor="ctr" rtlCol="false" tIns="254000" lIns="254000" bIns="254000" rIns="254000"/>
              <a:lstStyle/>
              <a:p>
                <a:pPr>
                  <a:lnSpc>
                    <a:spcPts val="3499"/>
                  </a:lnSpc>
                </a:pPr>
              </a:p>
            </p:txBody>
          </p:sp>
        </p:grpSp>
        <p:sp>
          <p:nvSpPr>
            <p:cNvPr name="TextBox 15" id="15"/>
            <p:cNvSpPr txBox="true"/>
            <p:nvPr/>
          </p:nvSpPr>
          <p:spPr>
            <a:xfrm rot="0">
              <a:off x="439275" y="269112"/>
              <a:ext cx="26975784" cy="513292"/>
            </a:xfrm>
            <a:prstGeom prst="rect">
              <a:avLst/>
            </a:prstGeom>
          </p:spPr>
          <p:txBody>
            <a:bodyPr anchor="t" rtlCol="false" tIns="0" lIns="0" bIns="0" rIns="0">
              <a:spAutoFit/>
            </a:bodyPr>
            <a:lstStyle/>
            <a:p>
              <a:pPr algn="ctr">
                <a:lnSpc>
                  <a:spcPts val="2499"/>
                </a:lnSpc>
              </a:pPr>
              <a:r>
                <a:rPr lang="en-US" sz="2499">
                  <a:solidFill>
                    <a:srgbClr val="FFFFFF"/>
                  </a:solidFill>
                  <a:latin typeface="Retropix"/>
                </a:rPr>
                <a:t>Data Preprocessing • Data Preprocessing • Data Preprocessing • Data Preprocessing • Data Preprocessing • Data Preprocessing • Data</a:t>
              </a:r>
              <a:r>
                <a:rPr lang="en-US" sz="2499">
                  <a:solidFill>
                    <a:srgbClr val="FFFFFF"/>
                  </a:solidFill>
                  <a:latin typeface="Retropix"/>
                </a:rPr>
                <a:t> </a:t>
              </a:r>
            </a:p>
          </p:txBody>
        </p:sp>
      </p:grpSp>
      <p:grpSp>
        <p:nvGrpSpPr>
          <p:cNvPr name="Group 16" id="16"/>
          <p:cNvGrpSpPr/>
          <p:nvPr/>
        </p:nvGrpSpPr>
        <p:grpSpPr>
          <a:xfrm rot="0">
            <a:off x="807747" y="7165798"/>
            <a:ext cx="2801811" cy="712035"/>
            <a:chOff x="0" y="0"/>
            <a:chExt cx="737925" cy="187532"/>
          </a:xfrm>
        </p:grpSpPr>
        <p:sp>
          <p:nvSpPr>
            <p:cNvPr name="Freeform 17" id="17"/>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sp>
        <p:sp>
          <p:nvSpPr>
            <p:cNvPr name="TextBox 18" id="18"/>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4" action="ppaction://hlinksldjump"/>
                </a:rPr>
                <a:t>Back to Agenda Page</a:t>
              </a:r>
            </a:p>
          </p:txBody>
        </p:sp>
      </p:grpSp>
      <p:grpSp>
        <p:nvGrpSpPr>
          <p:cNvPr name="Group 19" id="19"/>
          <p:cNvGrpSpPr/>
          <p:nvPr/>
        </p:nvGrpSpPr>
        <p:grpSpPr>
          <a:xfrm rot="0">
            <a:off x="15600318" y="4759728"/>
            <a:ext cx="1658982" cy="4147456"/>
            <a:chOff x="0" y="0"/>
            <a:chExt cx="2211976" cy="5529941"/>
          </a:xfrm>
        </p:grpSpPr>
        <p:sp>
          <p:nvSpPr>
            <p:cNvPr name="Freeform 20" id="20"/>
            <p:cNvSpPr/>
            <p:nvPr/>
          </p:nvSpPr>
          <p:spPr>
            <a:xfrm flipH="false" flipV="false" rot="0">
              <a:off x="0" y="0"/>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105988" y="0"/>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0" y="2211976"/>
              <a:ext cx="1105988" cy="1105988"/>
            </a:xfrm>
            <a:custGeom>
              <a:avLst/>
              <a:gdLst/>
              <a:ahLst/>
              <a:cxnLst/>
              <a:rect r="r" b="b" t="t" l="l"/>
              <a:pathLst>
                <a:path h="1105988" w="1105988">
                  <a:moveTo>
                    <a:pt x="0" y="0"/>
                  </a:moveTo>
                  <a:lnTo>
                    <a:pt x="1105988" y="0"/>
                  </a:lnTo>
                  <a:lnTo>
                    <a:pt x="1105988" y="1105989"/>
                  </a:lnTo>
                  <a:lnTo>
                    <a:pt x="0" y="11059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0">
              <a:off x="1105988" y="2211976"/>
              <a:ext cx="1105988" cy="1105988"/>
            </a:xfrm>
            <a:custGeom>
              <a:avLst/>
              <a:gdLst/>
              <a:ahLst/>
              <a:cxnLst/>
              <a:rect r="r" b="b" t="t" l="l"/>
              <a:pathLst>
                <a:path h="1105988" w="1105988">
                  <a:moveTo>
                    <a:pt x="0" y="0"/>
                  </a:moveTo>
                  <a:lnTo>
                    <a:pt x="1105988" y="0"/>
                  </a:lnTo>
                  <a:lnTo>
                    <a:pt x="1105988" y="1105989"/>
                  </a:lnTo>
                  <a:lnTo>
                    <a:pt x="0" y="11059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0" y="1105988"/>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p:cNvSpPr/>
            <p:nvPr/>
          </p:nvSpPr>
          <p:spPr>
            <a:xfrm flipH="false" flipV="false" rot="0">
              <a:off x="1105988" y="1105988"/>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6" id="26"/>
            <p:cNvSpPr/>
            <p:nvPr/>
          </p:nvSpPr>
          <p:spPr>
            <a:xfrm flipH="false" flipV="false" rot="0">
              <a:off x="0" y="3317965"/>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1105988" y="3317965"/>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0" y="4423953"/>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9" id="29"/>
            <p:cNvSpPr/>
            <p:nvPr/>
          </p:nvSpPr>
          <p:spPr>
            <a:xfrm flipH="false" flipV="false" rot="0">
              <a:off x="1105988" y="4423953"/>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0" id="30"/>
            <p:cNvSpPr/>
            <p:nvPr/>
          </p:nvSpPr>
          <p:spPr>
            <a:xfrm flipH="false" flipV="false" rot="0">
              <a:off x="1284474" y="4613333"/>
              <a:ext cx="749016" cy="727227"/>
            </a:xfrm>
            <a:custGeom>
              <a:avLst/>
              <a:gdLst/>
              <a:ahLst/>
              <a:cxnLst/>
              <a:rect r="r" b="b" t="t" l="l"/>
              <a:pathLst>
                <a:path h="727227" w="749016">
                  <a:moveTo>
                    <a:pt x="0" y="0"/>
                  </a:moveTo>
                  <a:lnTo>
                    <a:pt x="749016" y="0"/>
                  </a:lnTo>
                  <a:lnTo>
                    <a:pt x="749016" y="727227"/>
                  </a:lnTo>
                  <a:lnTo>
                    <a:pt x="0" y="727227"/>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sp>
        <p:nvSpPr>
          <p:cNvPr name="Freeform 31" id="31"/>
          <p:cNvSpPr/>
          <p:nvPr/>
        </p:nvSpPr>
        <p:spPr>
          <a:xfrm flipH="false" flipV="false" rot="3207690">
            <a:off x="6778520" y="8056080"/>
            <a:ext cx="484735" cy="825401"/>
          </a:xfrm>
          <a:custGeom>
            <a:avLst/>
            <a:gdLst/>
            <a:ahLst/>
            <a:cxnLst/>
            <a:rect r="r" b="b" t="t" l="l"/>
            <a:pathLst>
              <a:path h="825401" w="484735">
                <a:moveTo>
                  <a:pt x="0" y="0"/>
                </a:moveTo>
                <a:lnTo>
                  <a:pt x="484735" y="0"/>
                </a:lnTo>
                <a:lnTo>
                  <a:pt x="484735" y="825401"/>
                </a:lnTo>
                <a:lnTo>
                  <a:pt x="0" y="82540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32" id="32"/>
          <p:cNvSpPr/>
          <p:nvPr/>
        </p:nvSpPr>
        <p:spPr>
          <a:xfrm flipH="false" flipV="false" rot="0">
            <a:off x="8758723" y="5341101"/>
            <a:ext cx="791673" cy="815394"/>
          </a:xfrm>
          <a:custGeom>
            <a:avLst/>
            <a:gdLst/>
            <a:ahLst/>
            <a:cxnLst/>
            <a:rect r="r" b="b" t="t" l="l"/>
            <a:pathLst>
              <a:path h="815394" w="791673">
                <a:moveTo>
                  <a:pt x="0" y="0"/>
                </a:moveTo>
                <a:lnTo>
                  <a:pt x="791674" y="0"/>
                </a:lnTo>
                <a:lnTo>
                  <a:pt x="791674" y="815394"/>
                </a:lnTo>
                <a:lnTo>
                  <a:pt x="0" y="815394"/>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33" id="33"/>
          <p:cNvSpPr/>
          <p:nvPr/>
        </p:nvSpPr>
        <p:spPr>
          <a:xfrm flipH="false" flipV="false" rot="0">
            <a:off x="2474728" y="2252104"/>
            <a:ext cx="798979" cy="798979"/>
          </a:xfrm>
          <a:custGeom>
            <a:avLst/>
            <a:gdLst/>
            <a:ahLst/>
            <a:cxnLst/>
            <a:rect r="r" b="b" t="t" l="l"/>
            <a:pathLst>
              <a:path h="798979" w="798979">
                <a:moveTo>
                  <a:pt x="0" y="0"/>
                </a:moveTo>
                <a:lnTo>
                  <a:pt x="798979" y="0"/>
                </a:lnTo>
                <a:lnTo>
                  <a:pt x="798979" y="798979"/>
                </a:lnTo>
                <a:lnTo>
                  <a:pt x="0" y="798979"/>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34" id="34"/>
          <p:cNvSpPr txBox="true"/>
          <p:nvPr/>
        </p:nvSpPr>
        <p:spPr>
          <a:xfrm rot="0">
            <a:off x="5023547" y="2816976"/>
            <a:ext cx="8240907" cy="2524125"/>
          </a:xfrm>
          <a:prstGeom prst="rect">
            <a:avLst/>
          </a:prstGeom>
        </p:spPr>
        <p:txBody>
          <a:bodyPr anchor="t" rtlCol="false" tIns="0" lIns="0" bIns="0" rIns="0">
            <a:spAutoFit/>
          </a:bodyPr>
          <a:lstStyle/>
          <a:p>
            <a:pPr algn="ctr">
              <a:lnSpc>
                <a:spcPts val="8999"/>
              </a:lnSpc>
            </a:pPr>
            <a:r>
              <a:rPr lang="en-US" sz="8999">
                <a:solidFill>
                  <a:srgbClr val="000000"/>
                </a:solidFill>
                <a:latin typeface="Retropix"/>
              </a:rPr>
              <a:t>Interpretation and conclusion</a:t>
            </a:r>
          </a:p>
        </p:txBody>
      </p:sp>
      <p:sp>
        <p:nvSpPr>
          <p:cNvPr name="Freeform 35" id="35"/>
          <p:cNvSpPr/>
          <p:nvPr/>
        </p:nvSpPr>
        <p:spPr>
          <a:xfrm flipH="false" flipV="false" rot="0">
            <a:off x="13344126" y="2353235"/>
            <a:ext cx="2527153" cy="473267"/>
          </a:xfrm>
          <a:custGeom>
            <a:avLst/>
            <a:gdLst/>
            <a:ahLst/>
            <a:cxnLst/>
            <a:rect r="r" b="b" t="t" l="l"/>
            <a:pathLst>
              <a:path h="473267" w="2527153">
                <a:moveTo>
                  <a:pt x="0" y="0"/>
                </a:moveTo>
                <a:lnTo>
                  <a:pt x="2527153" y="0"/>
                </a:lnTo>
                <a:lnTo>
                  <a:pt x="2527153" y="473266"/>
                </a:lnTo>
                <a:lnTo>
                  <a:pt x="0" y="473266"/>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TextBox 36" id="36"/>
          <p:cNvSpPr txBox="true"/>
          <p:nvPr/>
        </p:nvSpPr>
        <p:spPr>
          <a:xfrm rot="0">
            <a:off x="6830818" y="6271297"/>
            <a:ext cx="4925159" cy="1414145"/>
          </a:xfrm>
          <a:prstGeom prst="rect">
            <a:avLst/>
          </a:prstGeom>
        </p:spPr>
        <p:txBody>
          <a:bodyPr anchor="t" rtlCol="false" tIns="0" lIns="0" bIns="0" rIns="0">
            <a:spAutoFit/>
          </a:bodyPr>
          <a:lstStyle/>
          <a:p>
            <a:pPr marL="431801" indent="-215900" lvl="1">
              <a:lnSpc>
                <a:spcPts val="2740"/>
              </a:lnSpc>
              <a:buFont typeface="Arial"/>
              <a:buChar char="•"/>
            </a:pPr>
            <a:r>
              <a:rPr lang="en-US" sz="2000" spc="32">
                <a:solidFill>
                  <a:srgbClr val="000000"/>
                </a:solidFill>
                <a:latin typeface="Retropix"/>
              </a:rPr>
              <a:t>Leveraging Predictive Analytics for Loan Assessment</a:t>
            </a:r>
          </a:p>
          <a:p>
            <a:pPr marL="431801" indent="-215900" lvl="1">
              <a:lnSpc>
                <a:spcPts val="2740"/>
              </a:lnSpc>
              <a:buFont typeface="Arial"/>
              <a:buChar char="•"/>
            </a:pPr>
            <a:r>
              <a:rPr lang="en-US" sz="2000" spc="32">
                <a:solidFill>
                  <a:srgbClr val="000000"/>
                </a:solidFill>
                <a:latin typeface="Retropix"/>
              </a:rPr>
              <a:t>Transforming Lending Practices with Predictive Modeling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818B7"/>
        </a:solidFill>
      </p:bgPr>
    </p:bg>
    <p:spTree>
      <p:nvGrpSpPr>
        <p:cNvPr id="1" name=""/>
        <p:cNvGrpSpPr/>
        <p:nvPr/>
      </p:nvGrpSpPr>
      <p:grpSpPr>
        <a:xfrm>
          <a:off x="0" y="0"/>
          <a:ext cx="0" cy="0"/>
          <a:chOff x="0" y="0"/>
          <a:chExt cx="0" cy="0"/>
        </a:xfrm>
      </p:grpSpPr>
      <p:grpSp>
        <p:nvGrpSpPr>
          <p:cNvPr name="Group 2" id="2"/>
          <p:cNvGrpSpPr/>
          <p:nvPr/>
        </p:nvGrpSpPr>
        <p:grpSpPr>
          <a:xfrm rot="0">
            <a:off x="452403" y="368394"/>
            <a:ext cx="17383194" cy="9550212"/>
            <a:chOff x="0" y="0"/>
            <a:chExt cx="4578290" cy="2515282"/>
          </a:xfrm>
        </p:grpSpPr>
        <p:sp>
          <p:nvSpPr>
            <p:cNvPr name="Freeform 3" id="3"/>
            <p:cNvSpPr/>
            <p:nvPr/>
          </p:nvSpPr>
          <p:spPr>
            <a:xfrm flipH="false" flipV="false" rot="0">
              <a:off x="0" y="0"/>
              <a:ext cx="4578290" cy="2515282"/>
            </a:xfrm>
            <a:custGeom>
              <a:avLst/>
              <a:gdLst/>
              <a:ahLst/>
              <a:cxnLst/>
              <a:rect r="r" b="b" t="t" l="l"/>
              <a:pathLst>
                <a:path h="2515282" w="4578290">
                  <a:moveTo>
                    <a:pt x="0" y="0"/>
                  </a:moveTo>
                  <a:lnTo>
                    <a:pt x="4578290" y="0"/>
                  </a:lnTo>
                  <a:lnTo>
                    <a:pt x="4578290" y="2515282"/>
                  </a:lnTo>
                  <a:lnTo>
                    <a:pt x="0" y="2515282"/>
                  </a:lnTo>
                  <a:close/>
                </a:path>
              </a:pathLst>
            </a:custGeom>
            <a:solidFill>
              <a:srgbClr val="CCCCCC"/>
            </a:solidFill>
            <a:ln w="95250" cap="sq">
              <a:solidFill>
                <a:srgbClr val="1818B7"/>
              </a:solidFill>
              <a:prstDash val="sysDot"/>
              <a:miter/>
            </a:ln>
          </p:spPr>
        </p:sp>
        <p:sp>
          <p:nvSpPr>
            <p:cNvPr name="TextBox 4" id="4"/>
            <p:cNvSpPr txBox="true"/>
            <p:nvPr/>
          </p:nvSpPr>
          <p:spPr>
            <a:xfrm>
              <a:off x="0" y="-38100"/>
              <a:ext cx="4578290" cy="2553382"/>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1028700" y="8546265"/>
            <a:ext cx="2801811" cy="712035"/>
            <a:chOff x="0" y="0"/>
            <a:chExt cx="737925" cy="187532"/>
          </a:xfrm>
        </p:grpSpPr>
        <p:sp>
          <p:nvSpPr>
            <p:cNvPr name="Freeform 6" id="6"/>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FFFFFF"/>
            </a:solidFill>
            <a:ln w="28575" cap="sq">
              <a:solidFill>
                <a:srgbClr val="000000"/>
              </a:solidFill>
              <a:prstDash val="solid"/>
              <a:miter/>
            </a:ln>
          </p:spPr>
        </p:sp>
        <p:sp>
          <p:nvSpPr>
            <p:cNvPr name="TextBox 7" id="7"/>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2" action="ppaction://hlinksldjump"/>
                </a:rPr>
                <a:t>Back to Agenda Page</a:t>
              </a:r>
            </a:p>
          </p:txBody>
        </p:sp>
      </p:grpSp>
      <p:sp>
        <p:nvSpPr>
          <p:cNvPr name="Freeform 8" id="8"/>
          <p:cNvSpPr/>
          <p:nvPr/>
        </p:nvSpPr>
        <p:spPr>
          <a:xfrm flipH="false" flipV="false" rot="0">
            <a:off x="1028700" y="666537"/>
            <a:ext cx="724326" cy="724326"/>
          </a:xfrm>
          <a:custGeom>
            <a:avLst/>
            <a:gdLst/>
            <a:ahLst/>
            <a:cxnLst/>
            <a:rect r="r" b="b" t="t" l="l"/>
            <a:pathLst>
              <a:path h="724326" w="724326">
                <a:moveTo>
                  <a:pt x="0" y="0"/>
                </a:moveTo>
                <a:lnTo>
                  <a:pt x="724326" y="0"/>
                </a:lnTo>
                <a:lnTo>
                  <a:pt x="724326" y="724326"/>
                </a:lnTo>
                <a:lnTo>
                  <a:pt x="0" y="7243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513271" y="666537"/>
            <a:ext cx="746029" cy="724326"/>
          </a:xfrm>
          <a:custGeom>
            <a:avLst/>
            <a:gdLst/>
            <a:ahLst/>
            <a:cxnLst/>
            <a:rect r="r" b="b" t="t" l="l"/>
            <a:pathLst>
              <a:path h="724326" w="746029">
                <a:moveTo>
                  <a:pt x="0" y="0"/>
                </a:moveTo>
                <a:lnTo>
                  <a:pt x="746029" y="0"/>
                </a:lnTo>
                <a:lnTo>
                  <a:pt x="746029" y="724326"/>
                </a:lnTo>
                <a:lnTo>
                  <a:pt x="0" y="7243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5665121" y="666537"/>
            <a:ext cx="724326" cy="724326"/>
          </a:xfrm>
          <a:custGeom>
            <a:avLst/>
            <a:gdLst/>
            <a:ahLst/>
            <a:cxnLst/>
            <a:rect r="r" b="b" t="t" l="l"/>
            <a:pathLst>
              <a:path h="724326" w="724326">
                <a:moveTo>
                  <a:pt x="0" y="0"/>
                </a:moveTo>
                <a:lnTo>
                  <a:pt x="724325" y="0"/>
                </a:lnTo>
                <a:lnTo>
                  <a:pt x="724325" y="724326"/>
                </a:lnTo>
                <a:lnTo>
                  <a:pt x="0" y="7243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1041959">
            <a:off x="3201730" y="4087787"/>
            <a:ext cx="535569" cy="706385"/>
          </a:xfrm>
          <a:custGeom>
            <a:avLst/>
            <a:gdLst/>
            <a:ahLst/>
            <a:cxnLst/>
            <a:rect r="r" b="b" t="t" l="l"/>
            <a:pathLst>
              <a:path h="706385" w="535569">
                <a:moveTo>
                  <a:pt x="0" y="0"/>
                </a:moveTo>
                <a:lnTo>
                  <a:pt x="535568" y="0"/>
                </a:lnTo>
                <a:lnTo>
                  <a:pt x="535568" y="706385"/>
                </a:lnTo>
                <a:lnTo>
                  <a:pt x="0" y="706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1028700" y="1840019"/>
            <a:ext cx="4322573" cy="3575686"/>
          </a:xfrm>
          <a:prstGeom prst="rect">
            <a:avLst/>
          </a:prstGeom>
        </p:spPr>
        <p:txBody>
          <a:bodyPr anchor="t" rtlCol="false" tIns="0" lIns="0" bIns="0" rIns="0">
            <a:spAutoFit/>
          </a:bodyPr>
          <a:lstStyle/>
          <a:p>
            <a:pPr>
              <a:lnSpc>
                <a:spcPts val="5400"/>
              </a:lnSpc>
            </a:pPr>
            <a:r>
              <a:rPr lang="en-US" sz="5400">
                <a:solidFill>
                  <a:srgbClr val="000000"/>
                </a:solidFill>
                <a:latin typeface="Retropix"/>
              </a:rPr>
              <a:t>Leveraging Predictive Analytics for Loan Assessment</a:t>
            </a:r>
          </a:p>
        </p:txBody>
      </p:sp>
      <p:grpSp>
        <p:nvGrpSpPr>
          <p:cNvPr name="Group 13" id="13"/>
          <p:cNvGrpSpPr/>
          <p:nvPr/>
        </p:nvGrpSpPr>
        <p:grpSpPr>
          <a:xfrm rot="0">
            <a:off x="5685461" y="666537"/>
            <a:ext cx="8972860" cy="8972860"/>
            <a:chOff x="0" y="0"/>
            <a:chExt cx="11963814" cy="11963814"/>
          </a:xfrm>
        </p:grpSpPr>
        <p:sp>
          <p:nvSpPr>
            <p:cNvPr name="Freeform 14" id="14"/>
            <p:cNvSpPr/>
            <p:nvPr/>
          </p:nvSpPr>
          <p:spPr>
            <a:xfrm flipH="false" flipV="false" rot="0">
              <a:off x="0" y="0"/>
              <a:ext cx="11963814" cy="11963814"/>
            </a:xfrm>
            <a:custGeom>
              <a:avLst/>
              <a:gdLst/>
              <a:ahLst/>
              <a:cxnLst/>
              <a:rect r="r" b="b" t="t" l="l"/>
              <a:pathLst>
                <a:path h="11963814" w="11963814">
                  <a:moveTo>
                    <a:pt x="0" y="0"/>
                  </a:moveTo>
                  <a:lnTo>
                    <a:pt x="11963814" y="0"/>
                  </a:lnTo>
                  <a:lnTo>
                    <a:pt x="11963814" y="11963814"/>
                  </a:lnTo>
                  <a:lnTo>
                    <a:pt x="0" y="119638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0906816" y="375612"/>
              <a:ext cx="581412" cy="562384"/>
            </a:xfrm>
            <a:custGeom>
              <a:avLst/>
              <a:gdLst/>
              <a:ahLst/>
              <a:cxnLst/>
              <a:rect r="r" b="b" t="t" l="l"/>
              <a:pathLst>
                <a:path h="562384" w="581412">
                  <a:moveTo>
                    <a:pt x="0" y="0"/>
                  </a:moveTo>
                  <a:lnTo>
                    <a:pt x="581411" y="0"/>
                  </a:lnTo>
                  <a:lnTo>
                    <a:pt x="581411" y="562384"/>
                  </a:lnTo>
                  <a:lnTo>
                    <a:pt x="0" y="5623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sp>
        <p:nvSpPr>
          <p:cNvPr name="TextBox 16" id="16"/>
          <p:cNvSpPr txBox="true"/>
          <p:nvPr/>
        </p:nvSpPr>
        <p:spPr>
          <a:xfrm rot="0">
            <a:off x="5851797" y="2196265"/>
            <a:ext cx="8309568" cy="7199630"/>
          </a:xfrm>
          <a:prstGeom prst="rect">
            <a:avLst/>
          </a:prstGeom>
        </p:spPr>
        <p:txBody>
          <a:bodyPr anchor="t" rtlCol="false" tIns="0" lIns="0" bIns="0" rIns="0">
            <a:spAutoFit/>
          </a:bodyPr>
          <a:lstStyle/>
          <a:p>
            <a:pPr>
              <a:lnSpc>
                <a:spcPts val="3219"/>
              </a:lnSpc>
            </a:pPr>
            <a:r>
              <a:rPr lang="en-US" sz="2299">
                <a:solidFill>
                  <a:srgbClr val="000000"/>
                </a:solidFill>
                <a:latin typeface="Public Sans Bold"/>
              </a:rPr>
              <a:t>Introduction</a:t>
            </a:r>
          </a:p>
          <a:p>
            <a:pPr marL="496569" indent="-248284" lvl="1">
              <a:lnSpc>
                <a:spcPts val="3219"/>
              </a:lnSpc>
              <a:buFont typeface="Arial"/>
              <a:buChar char="•"/>
            </a:pPr>
            <a:r>
              <a:rPr lang="en-US" sz="2299">
                <a:solidFill>
                  <a:srgbClr val="000000"/>
                </a:solidFill>
                <a:latin typeface="Public Sans"/>
              </a:rPr>
              <a:t>Our</a:t>
            </a:r>
            <a:r>
              <a:rPr lang="en-US" sz="2299">
                <a:solidFill>
                  <a:srgbClr val="000000"/>
                </a:solidFill>
                <a:latin typeface="Public Sans"/>
              </a:rPr>
              <a:t> experiment aimed to optimize loan assessment processes using predictive analytics.</a:t>
            </a:r>
          </a:p>
          <a:p>
            <a:pPr>
              <a:lnSpc>
                <a:spcPts val="3219"/>
              </a:lnSpc>
            </a:pPr>
            <a:r>
              <a:rPr lang="en-US" sz="2299">
                <a:solidFill>
                  <a:srgbClr val="000000"/>
                </a:solidFill>
                <a:latin typeface="Public Sans Bold"/>
              </a:rPr>
              <a:t>Key Findings</a:t>
            </a:r>
          </a:p>
          <a:p>
            <a:pPr marL="496569" indent="-248284" lvl="1">
              <a:lnSpc>
                <a:spcPts val="3219"/>
              </a:lnSpc>
              <a:buFont typeface="Arial"/>
              <a:buChar char="•"/>
            </a:pPr>
            <a:r>
              <a:rPr lang="en-US" sz="2299">
                <a:solidFill>
                  <a:srgbClr val="000000"/>
                </a:solidFill>
                <a:latin typeface="Public Sans"/>
              </a:rPr>
              <a:t>Accurate loan assessment is crucial, with a focus on minimizing false negatives.</a:t>
            </a:r>
          </a:p>
          <a:p>
            <a:pPr marL="496569" indent="-248284" lvl="1">
              <a:lnSpc>
                <a:spcPts val="3219"/>
              </a:lnSpc>
              <a:buFont typeface="Arial"/>
              <a:buChar char="•"/>
            </a:pPr>
            <a:r>
              <a:rPr lang="en-US" sz="2299">
                <a:solidFill>
                  <a:srgbClr val="000000"/>
                </a:solidFill>
                <a:latin typeface="Public Sans"/>
              </a:rPr>
              <a:t>Sensitivity analysis revealed Logistic Regression as the top-performing model.</a:t>
            </a:r>
          </a:p>
          <a:p>
            <a:pPr>
              <a:lnSpc>
                <a:spcPts val="3219"/>
              </a:lnSpc>
            </a:pPr>
            <a:r>
              <a:rPr lang="en-US" sz="2299">
                <a:solidFill>
                  <a:srgbClr val="000000"/>
                </a:solidFill>
                <a:latin typeface="Public Sans Bold"/>
              </a:rPr>
              <a:t>R</a:t>
            </a:r>
            <a:r>
              <a:rPr lang="en-US" sz="2299">
                <a:solidFill>
                  <a:srgbClr val="000000"/>
                </a:solidFill>
                <a:latin typeface="Public Sans Bold"/>
              </a:rPr>
              <a:t>ecommendation</a:t>
            </a:r>
          </a:p>
          <a:p>
            <a:pPr marL="496569" indent="-248284" lvl="1">
              <a:lnSpc>
                <a:spcPts val="3219"/>
              </a:lnSpc>
              <a:buFont typeface="Arial"/>
              <a:buChar char="•"/>
            </a:pPr>
            <a:r>
              <a:rPr lang="en-US" sz="2299">
                <a:solidFill>
                  <a:srgbClr val="000000"/>
                </a:solidFill>
                <a:latin typeface="Public Sans"/>
              </a:rPr>
              <a:t>We recommend using Logistic Regression for loan evaluation due to its superior sensitivity.</a:t>
            </a:r>
          </a:p>
          <a:p>
            <a:pPr>
              <a:lnSpc>
                <a:spcPts val="3219"/>
              </a:lnSpc>
            </a:pPr>
            <a:r>
              <a:rPr lang="en-US" sz="2299">
                <a:solidFill>
                  <a:srgbClr val="000000"/>
                </a:solidFill>
                <a:latin typeface="Public Sans Bold"/>
              </a:rPr>
              <a:t>S</a:t>
            </a:r>
            <a:r>
              <a:rPr lang="en-US" sz="2299">
                <a:solidFill>
                  <a:srgbClr val="000000"/>
                </a:solidFill>
                <a:latin typeface="Public Sans Bold"/>
              </a:rPr>
              <a:t>ensitivity Analysis</a:t>
            </a:r>
          </a:p>
          <a:p>
            <a:pPr marL="496569" indent="-248284" lvl="1">
              <a:lnSpc>
                <a:spcPts val="3219"/>
              </a:lnSpc>
              <a:buFont typeface="Arial"/>
              <a:buChar char="•"/>
            </a:pPr>
            <a:r>
              <a:rPr lang="en-US" sz="2299">
                <a:solidFill>
                  <a:srgbClr val="000000"/>
                </a:solidFill>
                <a:latin typeface="Public Sans"/>
              </a:rPr>
              <a:t>Logistic Regression exhibited the highest sensitivity compared to other models.</a:t>
            </a:r>
          </a:p>
          <a:p>
            <a:pPr>
              <a:lnSpc>
                <a:spcPts val="3219"/>
              </a:lnSpc>
            </a:pPr>
            <a:r>
              <a:rPr lang="en-US" sz="2299">
                <a:solidFill>
                  <a:srgbClr val="000000"/>
                </a:solidFill>
                <a:latin typeface="Public Sans Bold"/>
              </a:rPr>
              <a:t>Key Takeaways</a:t>
            </a:r>
          </a:p>
          <a:p>
            <a:pPr marL="496569" indent="-248284" lvl="1">
              <a:lnSpc>
                <a:spcPts val="3219"/>
              </a:lnSpc>
              <a:buFont typeface="Arial"/>
              <a:buChar char="•"/>
            </a:pPr>
            <a:r>
              <a:rPr lang="en-US" sz="2299">
                <a:solidFill>
                  <a:srgbClr val="000000"/>
                </a:solidFill>
                <a:latin typeface="Public Sans"/>
              </a:rPr>
              <a:t>Adopting Logistic Regression can enhance loan approval processes and risk management strategies for lenders.</a:t>
            </a:r>
          </a:p>
          <a:p>
            <a:pPr algn="ctr">
              <a:lnSpc>
                <a:spcPts val="321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818B7"/>
        </a:solidFill>
      </p:bgPr>
    </p:bg>
    <p:spTree>
      <p:nvGrpSpPr>
        <p:cNvPr id="1" name=""/>
        <p:cNvGrpSpPr/>
        <p:nvPr/>
      </p:nvGrpSpPr>
      <p:grpSpPr>
        <a:xfrm>
          <a:off x="0" y="0"/>
          <a:ext cx="0" cy="0"/>
          <a:chOff x="0" y="0"/>
          <a:chExt cx="0" cy="0"/>
        </a:xfrm>
      </p:grpSpPr>
      <p:grpSp>
        <p:nvGrpSpPr>
          <p:cNvPr name="Group 2" id="2"/>
          <p:cNvGrpSpPr/>
          <p:nvPr/>
        </p:nvGrpSpPr>
        <p:grpSpPr>
          <a:xfrm rot="0">
            <a:off x="452403" y="368394"/>
            <a:ext cx="17383194" cy="9550212"/>
            <a:chOff x="0" y="0"/>
            <a:chExt cx="4578290" cy="2515282"/>
          </a:xfrm>
        </p:grpSpPr>
        <p:sp>
          <p:nvSpPr>
            <p:cNvPr name="Freeform 3" id="3"/>
            <p:cNvSpPr/>
            <p:nvPr/>
          </p:nvSpPr>
          <p:spPr>
            <a:xfrm flipH="false" flipV="false" rot="0">
              <a:off x="0" y="0"/>
              <a:ext cx="4578290" cy="2515282"/>
            </a:xfrm>
            <a:custGeom>
              <a:avLst/>
              <a:gdLst/>
              <a:ahLst/>
              <a:cxnLst/>
              <a:rect r="r" b="b" t="t" l="l"/>
              <a:pathLst>
                <a:path h="2515282" w="4578290">
                  <a:moveTo>
                    <a:pt x="0" y="0"/>
                  </a:moveTo>
                  <a:lnTo>
                    <a:pt x="4578290" y="0"/>
                  </a:lnTo>
                  <a:lnTo>
                    <a:pt x="4578290" y="2515282"/>
                  </a:lnTo>
                  <a:lnTo>
                    <a:pt x="0" y="2515282"/>
                  </a:lnTo>
                  <a:close/>
                </a:path>
              </a:pathLst>
            </a:custGeom>
            <a:solidFill>
              <a:srgbClr val="CCCCCC"/>
            </a:solidFill>
            <a:ln w="95250" cap="sq">
              <a:solidFill>
                <a:srgbClr val="1818B7"/>
              </a:solidFill>
              <a:prstDash val="sysDot"/>
              <a:miter/>
            </a:ln>
          </p:spPr>
        </p:sp>
        <p:sp>
          <p:nvSpPr>
            <p:cNvPr name="TextBox 4" id="4"/>
            <p:cNvSpPr txBox="true"/>
            <p:nvPr/>
          </p:nvSpPr>
          <p:spPr>
            <a:xfrm>
              <a:off x="0" y="-38100"/>
              <a:ext cx="4578290" cy="2553382"/>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14457489" y="8464122"/>
            <a:ext cx="2801811" cy="712035"/>
            <a:chOff x="0" y="0"/>
            <a:chExt cx="737925" cy="187532"/>
          </a:xfrm>
        </p:grpSpPr>
        <p:sp>
          <p:nvSpPr>
            <p:cNvPr name="Freeform 6" id="6"/>
            <p:cNvSpPr/>
            <p:nvPr/>
          </p:nvSpPr>
          <p:spPr>
            <a:xfrm flipH="false" flipV="false" rot="0">
              <a:off x="0" y="0"/>
              <a:ext cx="737925" cy="187532"/>
            </a:xfrm>
            <a:custGeom>
              <a:avLst/>
              <a:gdLst/>
              <a:ahLst/>
              <a:cxnLst/>
              <a:rect r="r" b="b" t="t" l="l"/>
              <a:pathLst>
                <a:path h="187532" w="737925">
                  <a:moveTo>
                    <a:pt x="0" y="0"/>
                  </a:moveTo>
                  <a:lnTo>
                    <a:pt x="737925" y="0"/>
                  </a:lnTo>
                  <a:lnTo>
                    <a:pt x="737925" y="187532"/>
                  </a:lnTo>
                  <a:lnTo>
                    <a:pt x="0" y="187532"/>
                  </a:lnTo>
                  <a:close/>
                </a:path>
              </a:pathLst>
            </a:custGeom>
            <a:solidFill>
              <a:srgbClr val="FFFFFF"/>
            </a:solidFill>
            <a:ln w="28575" cap="sq">
              <a:solidFill>
                <a:srgbClr val="000000"/>
              </a:solidFill>
              <a:prstDash val="solid"/>
              <a:miter/>
            </a:ln>
          </p:spPr>
        </p:sp>
        <p:sp>
          <p:nvSpPr>
            <p:cNvPr name="TextBox 7" id="7"/>
            <p:cNvSpPr txBox="true"/>
            <p:nvPr/>
          </p:nvSpPr>
          <p:spPr>
            <a:xfrm>
              <a:off x="0" y="-66675"/>
              <a:ext cx="737925" cy="254207"/>
            </a:xfrm>
            <a:prstGeom prst="rect">
              <a:avLst/>
            </a:prstGeom>
          </p:spPr>
          <p:txBody>
            <a:bodyPr anchor="ctr" rtlCol="false" tIns="50800" lIns="50800" bIns="50800" rIns="50800"/>
            <a:lstStyle/>
            <a:p>
              <a:pPr algn="ctr" marL="0" indent="0" lvl="0">
                <a:lnSpc>
                  <a:spcPts val="2240"/>
                </a:lnSpc>
                <a:spcBef>
                  <a:spcPct val="0"/>
                </a:spcBef>
              </a:pPr>
              <a:r>
                <a:rPr lang="en-US" sz="1600" u="sng">
                  <a:solidFill>
                    <a:srgbClr val="000000"/>
                  </a:solidFill>
                  <a:latin typeface="Retropix Bold"/>
                  <a:hlinkClick r:id="rId2" action="ppaction://hlinksldjump"/>
                </a:rPr>
                <a:t>Back to Agenda Page</a:t>
              </a:r>
            </a:p>
          </p:txBody>
        </p:sp>
      </p:grpSp>
      <p:sp>
        <p:nvSpPr>
          <p:cNvPr name="Freeform 8" id="8"/>
          <p:cNvSpPr/>
          <p:nvPr/>
        </p:nvSpPr>
        <p:spPr>
          <a:xfrm flipH="false" flipV="false" rot="0">
            <a:off x="1028700" y="666537"/>
            <a:ext cx="724326" cy="724326"/>
          </a:xfrm>
          <a:custGeom>
            <a:avLst/>
            <a:gdLst/>
            <a:ahLst/>
            <a:cxnLst/>
            <a:rect r="r" b="b" t="t" l="l"/>
            <a:pathLst>
              <a:path h="724326" w="724326">
                <a:moveTo>
                  <a:pt x="0" y="0"/>
                </a:moveTo>
                <a:lnTo>
                  <a:pt x="724326" y="0"/>
                </a:lnTo>
                <a:lnTo>
                  <a:pt x="724326" y="724326"/>
                </a:lnTo>
                <a:lnTo>
                  <a:pt x="0" y="7243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513271" y="666537"/>
            <a:ext cx="746029" cy="724326"/>
          </a:xfrm>
          <a:custGeom>
            <a:avLst/>
            <a:gdLst/>
            <a:ahLst/>
            <a:cxnLst/>
            <a:rect r="r" b="b" t="t" l="l"/>
            <a:pathLst>
              <a:path h="724326" w="746029">
                <a:moveTo>
                  <a:pt x="0" y="0"/>
                </a:moveTo>
                <a:lnTo>
                  <a:pt x="746029" y="0"/>
                </a:lnTo>
                <a:lnTo>
                  <a:pt x="746029" y="724326"/>
                </a:lnTo>
                <a:lnTo>
                  <a:pt x="0" y="7243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5665121" y="666537"/>
            <a:ext cx="724326" cy="724326"/>
          </a:xfrm>
          <a:custGeom>
            <a:avLst/>
            <a:gdLst/>
            <a:ahLst/>
            <a:cxnLst/>
            <a:rect r="r" b="b" t="t" l="l"/>
            <a:pathLst>
              <a:path h="724326" w="724326">
                <a:moveTo>
                  <a:pt x="0" y="0"/>
                </a:moveTo>
                <a:lnTo>
                  <a:pt x="724325" y="0"/>
                </a:lnTo>
                <a:lnTo>
                  <a:pt x="724325" y="724326"/>
                </a:lnTo>
                <a:lnTo>
                  <a:pt x="0" y="7243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2936727" y="2086447"/>
            <a:ext cx="4322573" cy="4084956"/>
          </a:xfrm>
          <a:prstGeom prst="rect">
            <a:avLst/>
          </a:prstGeom>
        </p:spPr>
        <p:txBody>
          <a:bodyPr anchor="t" rtlCol="false" tIns="0" lIns="0" bIns="0" rIns="0">
            <a:spAutoFit/>
          </a:bodyPr>
          <a:lstStyle/>
          <a:p>
            <a:pPr>
              <a:lnSpc>
                <a:spcPts val="5200"/>
              </a:lnSpc>
            </a:pPr>
            <a:r>
              <a:rPr lang="en-US" sz="5200">
                <a:solidFill>
                  <a:srgbClr val="000000"/>
                </a:solidFill>
                <a:latin typeface="Retropix"/>
              </a:rPr>
              <a:t>Transforming Lending Practices with Predictive Modeling</a:t>
            </a:r>
          </a:p>
        </p:txBody>
      </p:sp>
      <p:sp>
        <p:nvSpPr>
          <p:cNvPr name="Freeform 12" id="12"/>
          <p:cNvSpPr/>
          <p:nvPr/>
        </p:nvSpPr>
        <p:spPr>
          <a:xfrm flipH="false" flipV="false" rot="-1041959">
            <a:off x="15397336" y="5888483"/>
            <a:ext cx="535569" cy="706385"/>
          </a:xfrm>
          <a:custGeom>
            <a:avLst/>
            <a:gdLst/>
            <a:ahLst/>
            <a:cxnLst/>
            <a:rect r="r" b="b" t="t" l="l"/>
            <a:pathLst>
              <a:path h="706385" w="535569">
                <a:moveTo>
                  <a:pt x="0" y="0"/>
                </a:moveTo>
                <a:lnTo>
                  <a:pt x="535569" y="0"/>
                </a:lnTo>
                <a:lnTo>
                  <a:pt x="535569" y="706385"/>
                </a:lnTo>
                <a:lnTo>
                  <a:pt x="0" y="706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3" id="13"/>
          <p:cNvGrpSpPr/>
          <p:nvPr/>
        </p:nvGrpSpPr>
        <p:grpSpPr>
          <a:xfrm rot="0">
            <a:off x="1927623" y="666537"/>
            <a:ext cx="8972860" cy="8972860"/>
            <a:chOff x="0" y="0"/>
            <a:chExt cx="11963814" cy="11963814"/>
          </a:xfrm>
        </p:grpSpPr>
        <p:sp>
          <p:nvSpPr>
            <p:cNvPr name="Freeform 14" id="14"/>
            <p:cNvSpPr/>
            <p:nvPr/>
          </p:nvSpPr>
          <p:spPr>
            <a:xfrm flipH="false" flipV="false" rot="0">
              <a:off x="0" y="0"/>
              <a:ext cx="11963814" cy="11963814"/>
            </a:xfrm>
            <a:custGeom>
              <a:avLst/>
              <a:gdLst/>
              <a:ahLst/>
              <a:cxnLst/>
              <a:rect r="r" b="b" t="t" l="l"/>
              <a:pathLst>
                <a:path h="11963814" w="11963814">
                  <a:moveTo>
                    <a:pt x="0" y="0"/>
                  </a:moveTo>
                  <a:lnTo>
                    <a:pt x="11963814" y="0"/>
                  </a:lnTo>
                  <a:lnTo>
                    <a:pt x="11963814" y="11963814"/>
                  </a:lnTo>
                  <a:lnTo>
                    <a:pt x="0" y="119638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0906816" y="375612"/>
              <a:ext cx="581412" cy="562384"/>
            </a:xfrm>
            <a:custGeom>
              <a:avLst/>
              <a:gdLst/>
              <a:ahLst/>
              <a:cxnLst/>
              <a:rect r="r" b="b" t="t" l="l"/>
              <a:pathLst>
                <a:path h="562384" w="581412">
                  <a:moveTo>
                    <a:pt x="0" y="0"/>
                  </a:moveTo>
                  <a:lnTo>
                    <a:pt x="581411" y="0"/>
                  </a:lnTo>
                  <a:lnTo>
                    <a:pt x="581411" y="562384"/>
                  </a:lnTo>
                  <a:lnTo>
                    <a:pt x="0" y="5623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sp>
        <p:nvSpPr>
          <p:cNvPr name="TextBox 16" id="16"/>
          <p:cNvSpPr txBox="true"/>
          <p:nvPr/>
        </p:nvSpPr>
        <p:spPr>
          <a:xfrm rot="0">
            <a:off x="2172832" y="2124450"/>
            <a:ext cx="8263220" cy="6339673"/>
          </a:xfrm>
          <a:prstGeom prst="rect">
            <a:avLst/>
          </a:prstGeom>
        </p:spPr>
        <p:txBody>
          <a:bodyPr anchor="t" rtlCol="false" tIns="0" lIns="0" bIns="0" rIns="0">
            <a:spAutoFit/>
          </a:bodyPr>
          <a:lstStyle/>
          <a:p>
            <a:pPr>
              <a:lnSpc>
                <a:spcPts val="2844"/>
              </a:lnSpc>
            </a:pPr>
            <a:r>
              <a:rPr lang="en-US" sz="2031">
                <a:solidFill>
                  <a:srgbClr val="000000"/>
                </a:solidFill>
                <a:latin typeface="Public Sans Bold"/>
              </a:rPr>
              <a:t>Summary of</a:t>
            </a:r>
            <a:r>
              <a:rPr lang="en-US" sz="2031">
                <a:solidFill>
                  <a:srgbClr val="000000"/>
                </a:solidFill>
                <a:latin typeface="Public Sans Bold"/>
              </a:rPr>
              <a:t> Experiment</a:t>
            </a:r>
          </a:p>
          <a:p>
            <a:pPr marL="438621" indent="-219310" lvl="1">
              <a:lnSpc>
                <a:spcPts val="2844"/>
              </a:lnSpc>
              <a:buFont typeface="Arial"/>
              <a:buChar char="•"/>
            </a:pPr>
            <a:r>
              <a:rPr lang="en-US" sz="2031">
                <a:solidFill>
                  <a:srgbClr val="000000"/>
                </a:solidFill>
                <a:latin typeface="Public Sans"/>
              </a:rPr>
              <a:t>Explored predictive modeling techniques including ZeroR, Logistic Regression, Decision Trees, and Bagging.</a:t>
            </a:r>
          </a:p>
          <a:p>
            <a:pPr>
              <a:lnSpc>
                <a:spcPts val="2844"/>
              </a:lnSpc>
            </a:pPr>
            <a:r>
              <a:rPr lang="en-US" sz="2031">
                <a:solidFill>
                  <a:srgbClr val="000000"/>
                </a:solidFill>
                <a:latin typeface="Public Sans Bold"/>
              </a:rPr>
              <a:t>P</a:t>
            </a:r>
            <a:r>
              <a:rPr lang="en-US" sz="2031">
                <a:solidFill>
                  <a:srgbClr val="000000"/>
                </a:solidFill>
                <a:latin typeface="Public Sans Bold"/>
              </a:rPr>
              <a:t>erformance Evaluation</a:t>
            </a:r>
          </a:p>
          <a:p>
            <a:pPr marL="438621" indent="-219310" lvl="1">
              <a:lnSpc>
                <a:spcPts val="2844"/>
              </a:lnSpc>
              <a:buFont typeface="Arial"/>
              <a:buChar char="•"/>
            </a:pPr>
            <a:r>
              <a:rPr lang="en-US" sz="2031">
                <a:solidFill>
                  <a:srgbClr val="000000"/>
                </a:solidFill>
                <a:latin typeface="Public Sans"/>
              </a:rPr>
              <a:t>Logistic Regression demonstrated exceptional performance, particularly in sensitivity.</a:t>
            </a:r>
          </a:p>
          <a:p>
            <a:pPr>
              <a:lnSpc>
                <a:spcPts val="2844"/>
              </a:lnSpc>
            </a:pPr>
            <a:r>
              <a:rPr lang="en-US" sz="2031">
                <a:solidFill>
                  <a:srgbClr val="000000"/>
                </a:solidFill>
                <a:latin typeface="Public Sans Bold"/>
              </a:rPr>
              <a:t>Data Pr</a:t>
            </a:r>
            <a:r>
              <a:rPr lang="en-US" sz="2031">
                <a:solidFill>
                  <a:srgbClr val="000000"/>
                </a:solidFill>
                <a:latin typeface="Public Sans Bold"/>
              </a:rPr>
              <a:t>eparation</a:t>
            </a:r>
          </a:p>
          <a:p>
            <a:pPr marL="438621" indent="-219310" lvl="1">
              <a:lnSpc>
                <a:spcPts val="2844"/>
              </a:lnSpc>
              <a:buFont typeface="Arial"/>
              <a:buChar char="•"/>
            </a:pPr>
            <a:r>
              <a:rPr lang="en-US" sz="2031">
                <a:solidFill>
                  <a:srgbClr val="000000"/>
                </a:solidFill>
                <a:latin typeface="Public Sans"/>
              </a:rPr>
              <a:t>Extensive data cleaning and preparation improved dataset quality, aided by techniques like PCA.</a:t>
            </a:r>
          </a:p>
          <a:p>
            <a:pPr>
              <a:lnSpc>
                <a:spcPts val="2844"/>
              </a:lnSpc>
            </a:pPr>
            <a:r>
              <a:rPr lang="en-US" sz="2031">
                <a:solidFill>
                  <a:srgbClr val="000000"/>
                </a:solidFill>
                <a:latin typeface="Public Sans Bold"/>
              </a:rPr>
              <a:t>Implications for Lenders</a:t>
            </a:r>
          </a:p>
          <a:p>
            <a:pPr marL="438621" indent="-219310" lvl="1">
              <a:lnSpc>
                <a:spcPts val="2844"/>
              </a:lnSpc>
              <a:buFont typeface="Arial"/>
              <a:buChar char="•"/>
            </a:pPr>
            <a:r>
              <a:rPr lang="en-US" sz="2031">
                <a:solidFill>
                  <a:srgbClr val="000000"/>
                </a:solidFill>
                <a:latin typeface="Public Sans"/>
              </a:rPr>
              <a:t>Integrating predictive models can improve risk management and decision-making in lending practices.</a:t>
            </a:r>
          </a:p>
          <a:p>
            <a:pPr marL="438621" indent="-219310" lvl="1">
              <a:lnSpc>
                <a:spcPts val="2844"/>
              </a:lnSpc>
              <a:buFont typeface="Arial"/>
              <a:buChar char="•"/>
            </a:pPr>
            <a:r>
              <a:rPr lang="en-US" sz="2031">
                <a:solidFill>
                  <a:srgbClr val="000000"/>
                </a:solidFill>
                <a:latin typeface="Public Sans"/>
              </a:rPr>
              <a:t>Benefits include a more stable financial ecosystem for both lenders and borrowers.</a:t>
            </a:r>
          </a:p>
          <a:p>
            <a:pPr>
              <a:lnSpc>
                <a:spcPts val="2844"/>
              </a:lnSpc>
            </a:pPr>
            <a:r>
              <a:rPr lang="en-US" sz="2031">
                <a:solidFill>
                  <a:srgbClr val="000000"/>
                </a:solidFill>
                <a:latin typeface="Public Sans Bold"/>
              </a:rPr>
              <a:t>Call</a:t>
            </a:r>
            <a:r>
              <a:rPr lang="en-US" sz="2031">
                <a:solidFill>
                  <a:srgbClr val="000000"/>
                </a:solidFill>
                <a:latin typeface="Public Sans Bold"/>
              </a:rPr>
              <a:t> to Action</a:t>
            </a:r>
          </a:p>
          <a:p>
            <a:pPr marL="438621" indent="-219310" lvl="1">
              <a:lnSpc>
                <a:spcPts val="2844"/>
              </a:lnSpc>
              <a:buFont typeface="Arial"/>
              <a:buChar char="•"/>
            </a:pPr>
            <a:r>
              <a:rPr lang="en-US" sz="2031">
                <a:solidFill>
                  <a:srgbClr val="000000"/>
                </a:solidFill>
                <a:latin typeface="Public Sans"/>
              </a:rPr>
              <a:t>Encourage lenders to adopt Logistic Regression and other predictive analytics tools for enhanced loan assessment.</a:t>
            </a:r>
          </a:p>
          <a:p>
            <a:pPr algn="l" marL="438621" indent="-219310" lvl="1">
              <a:lnSpc>
                <a:spcPts val="2844"/>
              </a:lnSpc>
              <a:buFont typeface="Arial"/>
              <a:buChar char="•"/>
            </a:pPr>
            <a:r>
              <a:rPr lang="en-US" sz="2031">
                <a:solidFill>
                  <a:srgbClr val="000000"/>
                </a:solidFill>
                <a:latin typeface="Public Sans"/>
              </a:rPr>
              <a:t>Implement recommendations effectively to maximize benefits.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16736" y="-5817236"/>
            <a:ext cx="21921472" cy="21921472"/>
          </a:xfrm>
          <a:custGeom>
            <a:avLst/>
            <a:gdLst/>
            <a:ahLst/>
            <a:cxnLst/>
            <a:rect r="r" b="b" t="t" l="l"/>
            <a:pathLst>
              <a:path h="21921472" w="21921472">
                <a:moveTo>
                  <a:pt x="0" y="0"/>
                </a:moveTo>
                <a:lnTo>
                  <a:pt x="21921472" y="0"/>
                </a:lnTo>
                <a:lnTo>
                  <a:pt x="21921472" y="21921472"/>
                </a:lnTo>
                <a:lnTo>
                  <a:pt x="0" y="2192147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51798" y="6727729"/>
            <a:ext cx="7151220" cy="2327397"/>
          </a:xfrm>
          <a:custGeom>
            <a:avLst/>
            <a:gdLst/>
            <a:ahLst/>
            <a:cxnLst/>
            <a:rect r="r" b="b" t="t" l="l"/>
            <a:pathLst>
              <a:path h="2327397" w="7151220">
                <a:moveTo>
                  <a:pt x="0" y="0"/>
                </a:moveTo>
                <a:lnTo>
                  <a:pt x="7151219" y="0"/>
                </a:lnTo>
                <a:lnTo>
                  <a:pt x="7151219" y="2327397"/>
                </a:lnTo>
                <a:lnTo>
                  <a:pt x="0" y="232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077168" y="1724416"/>
            <a:ext cx="4364264" cy="8728529"/>
          </a:xfrm>
          <a:custGeom>
            <a:avLst/>
            <a:gdLst/>
            <a:ahLst/>
            <a:cxnLst/>
            <a:rect r="r" b="b" t="t" l="l"/>
            <a:pathLst>
              <a:path h="8728529" w="4364264">
                <a:moveTo>
                  <a:pt x="0" y="0"/>
                </a:moveTo>
                <a:lnTo>
                  <a:pt x="4364264" y="0"/>
                </a:lnTo>
                <a:lnTo>
                  <a:pt x="4364264" y="8728529"/>
                </a:lnTo>
                <a:lnTo>
                  <a:pt x="0" y="87285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333126" y="0"/>
            <a:ext cx="3684917" cy="3684917"/>
          </a:xfrm>
          <a:custGeom>
            <a:avLst/>
            <a:gdLst/>
            <a:ahLst/>
            <a:cxnLst/>
            <a:rect r="r" b="b" t="t" l="l"/>
            <a:pathLst>
              <a:path h="3684917" w="3684917">
                <a:moveTo>
                  <a:pt x="0" y="0"/>
                </a:moveTo>
                <a:lnTo>
                  <a:pt x="3684918" y="0"/>
                </a:lnTo>
                <a:lnTo>
                  <a:pt x="3684918" y="3684917"/>
                </a:lnTo>
                <a:lnTo>
                  <a:pt x="0" y="3684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23812" y="-5528151"/>
            <a:ext cx="4364264" cy="8728529"/>
          </a:xfrm>
          <a:custGeom>
            <a:avLst/>
            <a:gdLst/>
            <a:ahLst/>
            <a:cxnLst/>
            <a:rect r="r" b="b" t="t" l="l"/>
            <a:pathLst>
              <a:path h="8728529" w="4364264">
                <a:moveTo>
                  <a:pt x="0" y="0"/>
                </a:moveTo>
                <a:lnTo>
                  <a:pt x="4364264" y="0"/>
                </a:lnTo>
                <a:lnTo>
                  <a:pt x="4364264" y="8728529"/>
                </a:lnTo>
                <a:lnTo>
                  <a:pt x="0" y="87285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443210" y="2152891"/>
            <a:ext cx="10495805" cy="5247903"/>
          </a:xfrm>
          <a:custGeom>
            <a:avLst/>
            <a:gdLst/>
            <a:ahLst/>
            <a:cxnLst/>
            <a:rect r="r" b="b" t="t" l="l"/>
            <a:pathLst>
              <a:path h="5247903" w="10495805">
                <a:moveTo>
                  <a:pt x="0" y="0"/>
                </a:moveTo>
                <a:lnTo>
                  <a:pt x="10495805" y="0"/>
                </a:lnTo>
                <a:lnTo>
                  <a:pt x="10495805" y="5247902"/>
                </a:lnTo>
                <a:lnTo>
                  <a:pt x="0" y="52479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3705944" y="2391347"/>
            <a:ext cx="10495805" cy="5247903"/>
          </a:xfrm>
          <a:custGeom>
            <a:avLst/>
            <a:gdLst/>
            <a:ahLst/>
            <a:cxnLst/>
            <a:rect r="r" b="b" t="t" l="l"/>
            <a:pathLst>
              <a:path h="5247903" w="10495805">
                <a:moveTo>
                  <a:pt x="0" y="0"/>
                </a:moveTo>
                <a:lnTo>
                  <a:pt x="10495805" y="0"/>
                </a:lnTo>
                <a:lnTo>
                  <a:pt x="10495805" y="5247902"/>
                </a:lnTo>
                <a:lnTo>
                  <a:pt x="0" y="52479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3958123" y="2643525"/>
            <a:ext cx="10495805" cy="5247903"/>
          </a:xfrm>
          <a:custGeom>
            <a:avLst/>
            <a:gdLst/>
            <a:ahLst/>
            <a:cxnLst/>
            <a:rect r="r" b="b" t="t" l="l"/>
            <a:pathLst>
              <a:path h="5247903" w="10495805">
                <a:moveTo>
                  <a:pt x="0" y="0"/>
                </a:moveTo>
                <a:lnTo>
                  <a:pt x="10495805" y="0"/>
                </a:lnTo>
                <a:lnTo>
                  <a:pt x="10495805" y="5247903"/>
                </a:lnTo>
                <a:lnTo>
                  <a:pt x="0" y="52479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4227848" y="2909472"/>
            <a:ext cx="581810" cy="581810"/>
          </a:xfrm>
          <a:custGeom>
            <a:avLst/>
            <a:gdLst/>
            <a:ahLst/>
            <a:cxnLst/>
            <a:rect r="r" b="b" t="t" l="l"/>
            <a:pathLst>
              <a:path h="581810" w="581810">
                <a:moveTo>
                  <a:pt x="0" y="0"/>
                </a:moveTo>
                <a:lnTo>
                  <a:pt x="581810" y="0"/>
                </a:lnTo>
                <a:lnTo>
                  <a:pt x="581810" y="581811"/>
                </a:lnTo>
                <a:lnTo>
                  <a:pt x="0" y="58181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12848391" y="7478728"/>
            <a:ext cx="484735" cy="825401"/>
          </a:xfrm>
          <a:custGeom>
            <a:avLst/>
            <a:gdLst/>
            <a:ahLst/>
            <a:cxnLst/>
            <a:rect r="r" b="b" t="t" l="l"/>
            <a:pathLst>
              <a:path h="825401" w="484735">
                <a:moveTo>
                  <a:pt x="0" y="0"/>
                </a:moveTo>
                <a:lnTo>
                  <a:pt x="484735" y="0"/>
                </a:lnTo>
                <a:lnTo>
                  <a:pt x="484735" y="825400"/>
                </a:lnTo>
                <a:lnTo>
                  <a:pt x="0" y="8254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3569053" y="2909472"/>
            <a:ext cx="613646" cy="613646"/>
          </a:xfrm>
          <a:custGeom>
            <a:avLst/>
            <a:gdLst/>
            <a:ahLst/>
            <a:cxnLst/>
            <a:rect r="r" b="b" t="t" l="l"/>
            <a:pathLst>
              <a:path h="613646" w="613646">
                <a:moveTo>
                  <a:pt x="0" y="0"/>
                </a:moveTo>
                <a:lnTo>
                  <a:pt x="613646" y="0"/>
                </a:lnTo>
                <a:lnTo>
                  <a:pt x="613646" y="613646"/>
                </a:lnTo>
                <a:lnTo>
                  <a:pt x="0" y="61364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3" id="13"/>
          <p:cNvGrpSpPr/>
          <p:nvPr/>
        </p:nvGrpSpPr>
        <p:grpSpPr>
          <a:xfrm rot="0">
            <a:off x="572626" y="1323946"/>
            <a:ext cx="1658982" cy="4147456"/>
            <a:chOff x="0" y="0"/>
            <a:chExt cx="2211976" cy="5529941"/>
          </a:xfrm>
        </p:grpSpPr>
        <p:sp>
          <p:nvSpPr>
            <p:cNvPr name="Freeform 14" id="14"/>
            <p:cNvSpPr/>
            <p:nvPr/>
          </p:nvSpPr>
          <p:spPr>
            <a:xfrm flipH="false" flipV="false" rot="0">
              <a:off x="0" y="0"/>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5" id="15"/>
            <p:cNvSpPr/>
            <p:nvPr/>
          </p:nvSpPr>
          <p:spPr>
            <a:xfrm flipH="false" flipV="false" rot="0">
              <a:off x="1105988" y="0"/>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6" id="16"/>
            <p:cNvSpPr/>
            <p:nvPr/>
          </p:nvSpPr>
          <p:spPr>
            <a:xfrm flipH="false" flipV="false" rot="0">
              <a:off x="0" y="2211976"/>
              <a:ext cx="1105988" cy="1105988"/>
            </a:xfrm>
            <a:custGeom>
              <a:avLst/>
              <a:gdLst/>
              <a:ahLst/>
              <a:cxnLst/>
              <a:rect r="r" b="b" t="t" l="l"/>
              <a:pathLst>
                <a:path h="1105988" w="1105988">
                  <a:moveTo>
                    <a:pt x="0" y="0"/>
                  </a:moveTo>
                  <a:lnTo>
                    <a:pt x="1105988" y="0"/>
                  </a:lnTo>
                  <a:lnTo>
                    <a:pt x="1105988" y="1105989"/>
                  </a:lnTo>
                  <a:lnTo>
                    <a:pt x="0" y="110598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7" id="17"/>
            <p:cNvSpPr/>
            <p:nvPr/>
          </p:nvSpPr>
          <p:spPr>
            <a:xfrm flipH="false" flipV="false" rot="0">
              <a:off x="1105988" y="2211976"/>
              <a:ext cx="1105988" cy="1105988"/>
            </a:xfrm>
            <a:custGeom>
              <a:avLst/>
              <a:gdLst/>
              <a:ahLst/>
              <a:cxnLst/>
              <a:rect r="r" b="b" t="t" l="l"/>
              <a:pathLst>
                <a:path h="1105988" w="1105988">
                  <a:moveTo>
                    <a:pt x="0" y="0"/>
                  </a:moveTo>
                  <a:lnTo>
                    <a:pt x="1105988" y="0"/>
                  </a:lnTo>
                  <a:lnTo>
                    <a:pt x="1105988" y="1105989"/>
                  </a:lnTo>
                  <a:lnTo>
                    <a:pt x="0" y="11059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8" id="18"/>
            <p:cNvSpPr/>
            <p:nvPr/>
          </p:nvSpPr>
          <p:spPr>
            <a:xfrm flipH="false" flipV="false" rot="0">
              <a:off x="0" y="1105988"/>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9" id="19"/>
            <p:cNvSpPr/>
            <p:nvPr/>
          </p:nvSpPr>
          <p:spPr>
            <a:xfrm flipH="false" flipV="false" rot="0">
              <a:off x="1105988" y="1105988"/>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20" id="20"/>
            <p:cNvSpPr/>
            <p:nvPr/>
          </p:nvSpPr>
          <p:spPr>
            <a:xfrm flipH="false" flipV="false" rot="0">
              <a:off x="0" y="3317965"/>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21" id="21"/>
            <p:cNvSpPr/>
            <p:nvPr/>
          </p:nvSpPr>
          <p:spPr>
            <a:xfrm flipH="false" flipV="false" rot="0">
              <a:off x="1105988" y="3317965"/>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22" id="22"/>
            <p:cNvSpPr/>
            <p:nvPr/>
          </p:nvSpPr>
          <p:spPr>
            <a:xfrm flipH="false" flipV="false" rot="0">
              <a:off x="0" y="4423953"/>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3" id="23"/>
            <p:cNvSpPr/>
            <p:nvPr/>
          </p:nvSpPr>
          <p:spPr>
            <a:xfrm flipH="false" flipV="false" rot="0">
              <a:off x="1105988" y="4423953"/>
              <a:ext cx="1105988" cy="1105988"/>
            </a:xfrm>
            <a:custGeom>
              <a:avLst/>
              <a:gdLst/>
              <a:ahLst/>
              <a:cxnLst/>
              <a:rect r="r" b="b" t="t" l="l"/>
              <a:pathLst>
                <a:path h="1105988" w="1105988">
                  <a:moveTo>
                    <a:pt x="0" y="0"/>
                  </a:moveTo>
                  <a:lnTo>
                    <a:pt x="1105988" y="0"/>
                  </a:lnTo>
                  <a:lnTo>
                    <a:pt x="1105988" y="1105988"/>
                  </a:lnTo>
                  <a:lnTo>
                    <a:pt x="0" y="1105988"/>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4" id="24"/>
            <p:cNvSpPr/>
            <p:nvPr/>
          </p:nvSpPr>
          <p:spPr>
            <a:xfrm flipH="false" flipV="false" rot="0">
              <a:off x="1284474" y="4613333"/>
              <a:ext cx="749016" cy="727227"/>
            </a:xfrm>
            <a:custGeom>
              <a:avLst/>
              <a:gdLst/>
              <a:ahLst/>
              <a:cxnLst/>
              <a:rect r="r" b="b" t="t" l="l"/>
              <a:pathLst>
                <a:path h="727227" w="749016">
                  <a:moveTo>
                    <a:pt x="0" y="0"/>
                  </a:moveTo>
                  <a:lnTo>
                    <a:pt x="749016" y="0"/>
                  </a:lnTo>
                  <a:lnTo>
                    <a:pt x="749016" y="727227"/>
                  </a:lnTo>
                  <a:lnTo>
                    <a:pt x="0" y="727227"/>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grpSp>
      <p:sp>
        <p:nvSpPr>
          <p:cNvPr name="Freeform 25" id="25"/>
          <p:cNvSpPr/>
          <p:nvPr/>
        </p:nvSpPr>
        <p:spPr>
          <a:xfrm flipH="false" flipV="false" rot="0">
            <a:off x="4045617" y="8444541"/>
            <a:ext cx="3684917" cy="3684917"/>
          </a:xfrm>
          <a:custGeom>
            <a:avLst/>
            <a:gdLst/>
            <a:ahLst/>
            <a:cxnLst/>
            <a:rect r="r" b="b" t="t" l="l"/>
            <a:pathLst>
              <a:path h="3684917" w="3684917">
                <a:moveTo>
                  <a:pt x="0" y="0"/>
                </a:moveTo>
                <a:lnTo>
                  <a:pt x="3684918" y="0"/>
                </a:lnTo>
                <a:lnTo>
                  <a:pt x="3684918" y="3684918"/>
                </a:lnTo>
                <a:lnTo>
                  <a:pt x="0" y="36849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6" id="26"/>
          <p:cNvSpPr txBox="true"/>
          <p:nvPr/>
        </p:nvSpPr>
        <p:spPr>
          <a:xfrm rot="0">
            <a:off x="4738318" y="5133975"/>
            <a:ext cx="8935414" cy="1073150"/>
          </a:xfrm>
          <a:prstGeom prst="rect">
            <a:avLst/>
          </a:prstGeom>
        </p:spPr>
        <p:txBody>
          <a:bodyPr anchor="t" rtlCol="false" tIns="0" lIns="0" bIns="0" rIns="0">
            <a:spAutoFit/>
          </a:bodyPr>
          <a:lstStyle/>
          <a:p>
            <a:pPr algn="ctr" marL="0" indent="0" lvl="0">
              <a:lnSpc>
                <a:spcPts val="6999"/>
              </a:lnSpc>
            </a:pPr>
            <a:r>
              <a:rPr lang="en-US" sz="6999" u="none">
                <a:solidFill>
                  <a:srgbClr val="000000"/>
                </a:solidFill>
                <a:latin typeface="Retropix"/>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DAGCnR1MpYc</dc:identifier>
  <dcterms:modified xsi:type="dcterms:W3CDTF">2011-08-01T06:04:30Z</dcterms:modified>
  <cp:revision>1</cp:revision>
  <dc:title>Teal Grey Blue Trendy Retro Digitalism Creative Presentation</dc:title>
</cp:coreProperties>
</file>